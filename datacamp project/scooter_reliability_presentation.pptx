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007" autoAdjust="0"/>
  </p:normalViewPr>
  <p:slideViewPr>
    <p:cSldViewPr snapToGrid="0" snapToObjects="1">
      <p:cViewPr varScale="1">
        <p:scale>
          <a:sx n="96" d="100"/>
          <a:sy n="96"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111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thanks for making the time.
You asked two things. Which factors most strongly predict a scooter going out of service in the next twenty-four hours. And whether we could predict that with at least ninety percent accuracy.
I have a clear answer to the first. On the second I am going to push back, and I will show you exactly why — because chasing ninety percent would lead us to a model that does nothing useful.
I will also leave you something you can act on immediately, with no model at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data itself.
Eighteen hundred scooter snapshots. Each row is one scooter, the previous twenty-four hours summarised, and a flag for whether it went out of service in the twenty-four hours after.
I checked every column and found four problems. "Downtown" misspelt on eighteen rows, which would have been read as a sixth, separate zone. Fifty-four rows where the trip count was the text "na" instead of a number, which forced the whole column to be stored as text. Eighteen negative counts of rider-reported issues, which is impossible, so I treated those as sign errors. And seventy-two missing battery readings.
None were fatal, but they will keep recurring until collection is fixed, and I come back to that later.
The chart is the battery health distribution — most of the fleet between eighty and ninety, tailing down to fifty-five.
The most important line is at the bottom. Only twelve point three percent of scooters go out of service. Nearly seven in eight are fine. Hold onto that, because the next slide is about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so let me spend a moment on it.
Look at the left pair of bars. That is a model that does nothing at all — it answers "this scooter is fine" every single time, without ever looking at the data. It scores eighty-seven point eight percent accuracy, because that is simply how often "fine" is the right answer.
Now the red bar beside it. Zero. It catches none of the forty-four scooters that actually broke down.
So we already have a model that is nearly at your target and completely worthless. Pushing it to ninety percent does not improve it — it gets there by guessing "fine" more often, catching even fewer real breakdowns.
That is why accuracy is the wrong target. We did not fail to reach ninety percent. Reaching it would have meant building something that does not help you.
The right pair is our actual model. Accuracy is lower, at fifty-nine percent, and I want to be upfront about that. But it catches twenty-two of the forty-four. That is the trade we made deliberately, and I would make it again.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we actually find?
Battery health, by a wide margin. I am confident because we tested it three separate ways — the regression coefficients, the forest's importance scores, and a shuffle test where we scramble one column at a time and measure the damage. All three put battery health first, and trip count second.
The left chart is the clearest view. Split the fleet into five equal groups by battery health. The weakest fifth goes out of service twenty-four percent of the time. The healthiest fifth, five percent. Almost a five-fold difference, and a smooth gradient the whole way down — not one odd group distorting things.
The box plot says the same differently — scooters that failed had noticeably lower median battery health. There is overlap, which is why this is not a perfect predictor, but the gap is real.
One finding surprised me. Rider-reported issues barely help — removing that column entirely does not hurt the model. Service area and scooter model add little, and no hardware family is meaningfully more fragile than the others, which matters if that was feeding the purchasing decision.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models side by side, with the do-nothing benchmark first for context.
The logistic regression is our baseline — simple and explainable, which matters when you make staffing calls off it. The random forest is the comparison, because it catches patterns a straight line cannot.
Read the middle row, in red. The benchmark catches zero. The regression catches twenty-two of forty-four. The forest, nineteen.
The bottom row measures how well each ranks scooters by risk. Naught point five is a coin flip. Both land near naught point six-five, confirmed by cross-validation across all eighteen hundred rows, because forty-four breakdowns in one test set is a thin basis for any claim.
We recommend the regression. It catches the most, ranks slightly better, and you can interrogate it when someone asks why a scooter was flagged.
I want to be straight about that naught point six-five. It is well above a coin flip, so the signal is real. But it is modest. Good enough to sort the fleet by risk. Not good enough to point at one scooter and promise you it fails tomorrow.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not accuracy, what goes on the dashboard?
Swapping one model statistic for another tells you nothing about your business. So I built the metric around the decision you actually make — how many scooters your technicians can inspect in a day.
The metric is the pre-emptive catch rate. Each morning, rank the fleet by risk, inspect the top ten percent, and measure what share of that day's breakdowns were in that group.
The comparison on the left is the honest one. Today it is zero — maintenance is reactive, so every breakdown is found after the fact, usually by a rider. With the model, at a ten percent budget, it is twenty-three percent.
Ten percent of an eighteen hundred scooter fleet is a hundred and eighty inspections a day. You catch roughly a quarter of breakdowns before they happen, and about one inspection in three and a half finds a real fault. That is two point three times better than inspecting at random.
Report catch rate and hit rate together, always. Catch rate alone pushes you to inspect everything; hit rate alone, almost nothing. The pair keeps the cost trade-off visible.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ordered by how fast you can move.
First, and I would start today: inspect from the bottom of the battery health ranking. You need neither the model nor us for this. Sort by battery health, work upward from the weakest, and you are targeting the group that fails twenty-four percent of the time instead of the fleet average of twelve.
Second, change what you measure. Replace the ninety percent accuracy target with the catch rate and hit rate pair, at whatever budget you can staff. I will be blunt: if the accuracy target stays, it will push whoever picks this up next towards a model that does nothing, because that is what accuracy rewards.
Third, use the model to order the daily queue, but do not size the technician team or the parts order from it yet. A two point three times lift is worth having; it is not precise enough to plan headcount around. I know those decisions are close, and I would rather say that now than have you over-commit.
Fourth, fix the data and capture richer battery telemetry — charge cycles, fault codes, scooter age. Battery health carrying almost all the signal tells us where the next gain is.
Conclusion - </a:t>
            </a:r>
          </a:p>
          <a:p>
            <a:endParaRPr lang="en-US" dirty="0"/>
          </a:p>
          <a:p>
            <a:r>
              <a:rPr lang="en-US" dirty="0"/>
              <a:t>Let me close with the one sentence worth taking away.
We cannot tell you which scooter will fail tomorrow. The data does not support that, and I would rather say so plainly than dress it up.
What we can tell you is which ten percent to look at first. That moves you from catching zero percent of breakdowns in advance to roughly twenty-three — starting from a battery health ranking that is already in the data you collect today.
That is a real improvement, available now, at no extra cost. And it grows as the data gets richer.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454F"/>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Reducing Scooter Downtime</a:t>
            </a:r>
            <a:endParaRPr lang="en-US" sz="4000" dirty="0"/>
          </a:p>
        </p:txBody>
      </p:sp>
      <p:sp>
        <p:nvSpPr>
          <p:cNvPr id="3" name="Text 1"/>
          <p:cNvSpPr txBox="1"/>
          <p:nvPr/>
        </p:nvSpPr>
        <p:spPr>
          <a:xfrm>
            <a:off x="640080" y="2194560"/>
            <a:ext cx="786384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What predicts a scooter going out of service and what to do about it</a:t>
            </a:r>
            <a:endParaRPr lang="en-US" sz="1600" dirty="0"/>
          </a:p>
        </p:txBody>
      </p:sp>
      <p:sp>
        <p:nvSpPr>
          <p:cNvPr id="4" name="Text 2"/>
          <p:cNvSpPr txBox="1"/>
          <p:nvPr/>
        </p:nvSpPr>
        <p:spPr>
          <a:xfrm>
            <a:off x="640080" y="4114800"/>
            <a:ext cx="7863840" cy="320040"/>
          </a:xfrm>
          <a:prstGeom prst="rect">
            <a:avLst/>
          </a:prstGeom>
          <a:noFill/>
          <a:ln/>
        </p:spPr>
        <p:txBody>
          <a:bodyPr wrap="square" lIns="0" tIns="0" rIns="0" bIns="0" rtlCol="0" anchor="ctr"/>
          <a:lstStyle/>
          <a:p>
            <a:pPr marL="0" indent="0">
              <a:buNone/>
            </a:pPr>
            <a:r>
              <a:rPr lang="en-US" sz="1200" dirty="0">
                <a:solidFill>
                  <a:srgbClr val="A8B0B5"/>
                </a:solidFill>
                <a:latin typeface="Calibri" pitchFamily="34" charset="0"/>
                <a:ea typeface="Calibri" pitchFamily="34" charset="-122"/>
                <a:cs typeface="Calibri" pitchFamily="34" charset="-120"/>
              </a:rPr>
              <a:t>Nikhil Bansal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3000" b="1" dirty="0">
                <a:solidFill>
                  <a:srgbClr val="36454F"/>
                </a:solidFill>
                <a:latin typeface="Cambria" pitchFamily="34" charset="0"/>
                <a:ea typeface="Cambria" pitchFamily="34" charset="-122"/>
                <a:cs typeface="Cambria" pitchFamily="34" charset="-120"/>
              </a:rPr>
              <a:t>What we were working with</a:t>
            </a:r>
            <a:endParaRPr lang="en-US" sz="3000" dirty="0"/>
          </a:p>
        </p:txBody>
      </p:sp>
      <p:pic>
        <p:nvPicPr>
          <p:cNvPr id="4" name="Image 0" descr="preencoded.png"/>
          <p:cNvPicPr>
            <a:picLocks noChangeAspect="1"/>
          </p:cNvPicPr>
          <p:nvPr/>
        </p:nvPicPr>
        <p:blipFill>
          <a:blip r:embed="rId3"/>
          <a:stretch>
            <a:fillRect/>
          </a:stretch>
        </p:blipFill>
        <p:spPr>
          <a:xfrm>
            <a:off x="4709160" y="1325880"/>
            <a:ext cx="3977640" cy="2377440"/>
          </a:xfrm>
          <a:prstGeom prst="rect">
            <a:avLst/>
          </a:prstGeom>
        </p:spPr>
      </p:pic>
      <p:sp>
        <p:nvSpPr>
          <p:cNvPr id="5" name="Text 2"/>
          <p:cNvSpPr txBox="1"/>
          <p:nvPr/>
        </p:nvSpPr>
        <p:spPr>
          <a:xfrm>
            <a:off x="457200" y="1122684"/>
            <a:ext cx="4023360" cy="2743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Four data quality problems found and fixed</a:t>
            </a:r>
            <a:endParaRPr lang="en-US" sz="1400" dirty="0"/>
          </a:p>
        </p:txBody>
      </p:sp>
      <p:sp>
        <p:nvSpPr>
          <p:cNvPr id="6" name="Text 3"/>
          <p:cNvSpPr txBox="1"/>
          <p:nvPr/>
        </p:nvSpPr>
        <p:spPr>
          <a:xfrm>
            <a:off x="457200" y="1552452"/>
            <a:ext cx="4023360" cy="237744"/>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300" b="1" dirty="0">
                <a:solidFill>
                  <a:srgbClr val="B85042"/>
                </a:solidFill>
                <a:latin typeface="Calibri" pitchFamily="34" charset="0"/>
                <a:ea typeface="Calibri" pitchFamily="34" charset="-122"/>
                <a:cs typeface="Calibri" pitchFamily="34" charset="-120"/>
              </a:rPr>
              <a:t>Spelling error</a:t>
            </a:r>
            <a:endParaRPr lang="en-US" sz="1300" dirty="0"/>
          </a:p>
        </p:txBody>
      </p:sp>
      <p:sp>
        <p:nvSpPr>
          <p:cNvPr id="7" name="Text 4"/>
          <p:cNvSpPr txBox="1"/>
          <p:nvPr/>
        </p:nvSpPr>
        <p:spPr>
          <a:xfrm>
            <a:off x="924560" y="1753620"/>
            <a:ext cx="4023360" cy="384048"/>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"downtwon" merged into "downtown" (18 rows)</a:t>
            </a:r>
            <a:endParaRPr lang="en-US" sz="1200" dirty="0"/>
          </a:p>
        </p:txBody>
      </p:sp>
      <p:sp>
        <p:nvSpPr>
          <p:cNvPr id="8" name="Text 5"/>
          <p:cNvSpPr txBox="1"/>
          <p:nvPr/>
        </p:nvSpPr>
        <p:spPr>
          <a:xfrm>
            <a:off x="457200" y="2155956"/>
            <a:ext cx="4023360" cy="237744"/>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300" b="1" dirty="0">
                <a:solidFill>
                  <a:srgbClr val="B85042"/>
                </a:solidFill>
                <a:latin typeface="Calibri" pitchFamily="34" charset="0"/>
                <a:ea typeface="Calibri" pitchFamily="34" charset="-122"/>
                <a:cs typeface="Calibri" pitchFamily="34" charset="-120"/>
              </a:rPr>
              <a:t>Text in a number column</a:t>
            </a:r>
            <a:endParaRPr lang="en-US" sz="1300" dirty="0"/>
          </a:p>
        </p:txBody>
      </p:sp>
      <p:sp>
        <p:nvSpPr>
          <p:cNvPr id="9" name="Text 6"/>
          <p:cNvSpPr txBox="1"/>
          <p:nvPr/>
        </p:nvSpPr>
        <p:spPr>
          <a:xfrm>
            <a:off x="924560" y="2370840"/>
            <a:ext cx="4023360" cy="384048"/>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54 rows held "na" - converted to missing</a:t>
            </a:r>
            <a:endParaRPr lang="en-US" sz="1200" dirty="0"/>
          </a:p>
        </p:txBody>
      </p:sp>
      <p:sp>
        <p:nvSpPr>
          <p:cNvPr id="10" name="Text 7"/>
          <p:cNvSpPr txBox="1"/>
          <p:nvPr/>
        </p:nvSpPr>
        <p:spPr>
          <a:xfrm>
            <a:off x="457200" y="2759460"/>
            <a:ext cx="4023360" cy="237744"/>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300" b="1" dirty="0">
                <a:solidFill>
                  <a:srgbClr val="B85042"/>
                </a:solidFill>
                <a:latin typeface="Calibri" pitchFamily="34" charset="0"/>
                <a:ea typeface="Calibri" pitchFamily="34" charset="-122"/>
                <a:cs typeface="Calibri" pitchFamily="34" charset="-120"/>
              </a:rPr>
              <a:t>Impossible values</a:t>
            </a:r>
            <a:endParaRPr lang="en-US" sz="1300" dirty="0"/>
          </a:p>
        </p:txBody>
      </p:sp>
      <p:sp>
        <p:nvSpPr>
          <p:cNvPr id="11" name="Text 8"/>
          <p:cNvSpPr txBox="1"/>
          <p:nvPr/>
        </p:nvSpPr>
        <p:spPr>
          <a:xfrm>
            <a:off x="924560" y="2966214"/>
            <a:ext cx="4023360" cy="384048"/>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18 negative issue counts - sign errors, corrected</a:t>
            </a:r>
            <a:endParaRPr lang="en-US" sz="1200" dirty="0"/>
          </a:p>
        </p:txBody>
      </p:sp>
      <p:sp>
        <p:nvSpPr>
          <p:cNvPr id="12" name="Text 9"/>
          <p:cNvSpPr txBox="1"/>
          <p:nvPr/>
        </p:nvSpPr>
        <p:spPr>
          <a:xfrm>
            <a:off x="457200" y="3362964"/>
            <a:ext cx="4023360" cy="237744"/>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300" b="1" dirty="0">
                <a:solidFill>
                  <a:srgbClr val="B85042"/>
                </a:solidFill>
                <a:latin typeface="Calibri" pitchFamily="34" charset="0"/>
                <a:ea typeface="Calibri" pitchFamily="34" charset="-122"/>
                <a:cs typeface="Calibri" pitchFamily="34" charset="-120"/>
              </a:rPr>
              <a:t>Missing readings</a:t>
            </a:r>
            <a:endParaRPr lang="en-US" sz="1300" dirty="0"/>
          </a:p>
        </p:txBody>
      </p:sp>
      <p:sp>
        <p:nvSpPr>
          <p:cNvPr id="13" name="Text 10"/>
          <p:cNvSpPr txBox="1"/>
          <p:nvPr/>
        </p:nvSpPr>
        <p:spPr>
          <a:xfrm>
            <a:off x="924560" y="3582420"/>
            <a:ext cx="4023360" cy="384048"/>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72 battery scores absent - filled with the column median</a:t>
            </a:r>
            <a:endParaRPr lang="en-US" sz="1200" dirty="0"/>
          </a:p>
        </p:txBody>
      </p:sp>
      <p:sp>
        <p:nvSpPr>
          <p:cNvPr id="14" name="Text 11"/>
          <p:cNvSpPr txBox="1"/>
          <p:nvPr/>
        </p:nvSpPr>
        <p:spPr>
          <a:xfrm>
            <a:off x="457200" y="4297680"/>
            <a:ext cx="7863840" cy="320040"/>
          </a:xfrm>
          <a:prstGeom prst="rect">
            <a:avLst/>
          </a:prstGeom>
          <a:noFill/>
          <a:ln/>
        </p:spPr>
        <p:txBody>
          <a:bodyPr wrap="square" lIns="0" tIns="0" rIns="0" bIns="0" rtlCol="0" anchor="ctr"/>
          <a:lstStyle/>
          <a:p>
            <a:pPr marL="0" indent="0">
              <a:buNone/>
            </a:pPr>
            <a:r>
              <a:rPr lang="en-US" sz="1300" i="1" dirty="0">
                <a:solidFill>
                  <a:srgbClr val="6B7478"/>
                </a:solidFill>
                <a:latin typeface="Calibri" pitchFamily="34" charset="0"/>
                <a:ea typeface="Calibri" pitchFamily="34" charset="-122"/>
                <a:cs typeface="Calibri" pitchFamily="34" charset="-120"/>
              </a:rPr>
              <a:t>Only 12.3% of scooters go out of service. That imbalance shaped every decision that follows.</a:t>
            </a:r>
            <a:endParaRPr lang="en-US" sz="1300" dirty="0"/>
          </a:p>
        </p:txBody>
      </p:sp>
      <p:sp>
        <p:nvSpPr>
          <p:cNvPr id="15" name="Text 12"/>
          <p:cNvSpPr txBox="1"/>
          <p:nvPr/>
        </p:nvSpPr>
        <p:spPr>
          <a:xfrm>
            <a:off x="8503920" y="4709160"/>
            <a:ext cx="365760" cy="256032"/>
          </a:xfrm>
          <a:prstGeom prst="rect">
            <a:avLst/>
          </a:prstGeom>
          <a:noFill/>
          <a:ln/>
        </p:spPr>
        <p:txBody>
          <a:bodyPr wrap="square" lIns="0" tIns="0" rIns="0" bIns="0" rtlCol="0" anchor="ctr"/>
          <a:lstStyle/>
          <a:p>
            <a:pPr marL="0" indent="0" algn="r">
              <a:buNone/>
            </a:pPr>
            <a:r>
              <a:rPr lang="en-US" sz="1000" dirty="0">
                <a:solidFill>
                  <a:srgbClr val="6B74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3000" b="1" dirty="0">
                <a:solidFill>
                  <a:srgbClr val="36454F"/>
                </a:solidFill>
                <a:latin typeface="Cambria" pitchFamily="34" charset="0"/>
                <a:ea typeface="Cambria" pitchFamily="34" charset="-122"/>
                <a:cs typeface="Cambria" pitchFamily="34" charset="-120"/>
              </a:rPr>
              <a:t>Why we are not chasing 90% accuracy</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marL="0" indent="0">
              <a:buNone/>
            </a:pPr>
            <a:r>
              <a:rPr lang="en-US" sz="1400" dirty="0">
                <a:solidFill>
                  <a:srgbClr val="6B7478"/>
                </a:solidFill>
                <a:latin typeface="Calibri" pitchFamily="34" charset="0"/>
                <a:ea typeface="Calibri" pitchFamily="34" charset="-122"/>
                <a:cs typeface="Calibri" pitchFamily="34" charset="-120"/>
              </a:rPr>
              <a:t>A model can beat the target and still be worthless</a:t>
            </a:r>
            <a:endParaRPr lang="en-US" sz="1400" dirty="0"/>
          </a:p>
        </p:txBody>
      </p:sp>
      <p:pic>
        <p:nvPicPr>
          <p:cNvPr id="4" name="Image 0" descr="preencoded.png"/>
          <p:cNvPicPr>
            <a:picLocks noChangeAspect="1"/>
          </p:cNvPicPr>
          <p:nvPr/>
        </p:nvPicPr>
        <p:blipFill>
          <a:blip r:embed="rId3"/>
          <a:stretch>
            <a:fillRect/>
          </a:stretch>
        </p:blipFill>
        <p:spPr>
          <a:xfrm>
            <a:off x="180631" y="1463040"/>
            <a:ext cx="5212080" cy="2907792"/>
          </a:xfrm>
          <a:prstGeom prst="rect">
            <a:avLst/>
          </a:prstGeom>
        </p:spPr>
      </p:pic>
      <p:sp>
        <p:nvSpPr>
          <p:cNvPr id="5" name="Text 2"/>
          <p:cNvSpPr txBox="1"/>
          <p:nvPr/>
        </p:nvSpPr>
        <p:spPr>
          <a:xfrm>
            <a:off x="5961888" y="1325880"/>
            <a:ext cx="2724912" cy="274320"/>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The trap</a:t>
            </a:r>
            <a:endParaRPr lang="en-US" sz="1500" dirty="0"/>
          </a:p>
        </p:txBody>
      </p:sp>
      <p:sp>
        <p:nvSpPr>
          <p:cNvPr id="6" name="Text 3"/>
          <p:cNvSpPr txBox="1"/>
          <p:nvPr/>
        </p:nvSpPr>
        <p:spPr>
          <a:xfrm>
            <a:off x="5961888" y="1691640"/>
            <a:ext cx="2724912"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A model that says "in service" for every single scooter is right 87.8% of the time.</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It catches zero breakdowns. It is useless.</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Push it to 90% and it gets worse, not better - it just guesses "fine" more often.</a:t>
            </a:r>
            <a:endParaRPr lang="en-US" sz="1250" dirty="0"/>
          </a:p>
        </p:txBody>
      </p:sp>
      <p:sp>
        <p:nvSpPr>
          <p:cNvPr id="7" name="Text 4"/>
          <p:cNvSpPr txBox="1"/>
          <p:nvPr/>
        </p:nvSpPr>
        <p:spPr>
          <a:xfrm>
            <a:off x="5961888" y="3520440"/>
            <a:ext cx="2724912" cy="731520"/>
          </a:xfrm>
          <a:prstGeom prst="rect">
            <a:avLst/>
          </a:prstGeom>
          <a:noFill/>
          <a:ln/>
        </p:spPr>
        <p:txBody>
          <a:bodyPr wrap="square" lIns="0" tIns="0" rIns="0" bIns="0"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So, we optimised for breakdowns caught and accepted lower accuracy to get there.</a:t>
            </a:r>
            <a:endParaRPr lang="en-US" sz="1250" dirty="0"/>
          </a:p>
        </p:txBody>
      </p:sp>
      <p:sp>
        <p:nvSpPr>
          <p:cNvPr id="8" name="Text 5"/>
          <p:cNvSpPr txBox="1"/>
          <p:nvPr/>
        </p:nvSpPr>
        <p:spPr>
          <a:xfrm>
            <a:off x="8503920" y="4709160"/>
            <a:ext cx="365760" cy="256032"/>
          </a:xfrm>
          <a:prstGeom prst="rect">
            <a:avLst/>
          </a:prstGeom>
          <a:noFill/>
          <a:ln/>
        </p:spPr>
        <p:txBody>
          <a:bodyPr wrap="square" lIns="0" tIns="0" rIns="0" bIns="0" rtlCol="0" anchor="ctr"/>
          <a:lstStyle/>
          <a:p>
            <a:pPr marL="0" indent="0" algn="r">
              <a:buNone/>
            </a:pPr>
            <a:r>
              <a:rPr lang="en-US" sz="1000" dirty="0">
                <a:solidFill>
                  <a:srgbClr val="6B74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3000" b="1" dirty="0">
                <a:solidFill>
                  <a:srgbClr val="36454F"/>
                </a:solidFill>
                <a:latin typeface="Cambria" pitchFamily="34" charset="0"/>
                <a:ea typeface="Cambria" pitchFamily="34" charset="-122"/>
                <a:cs typeface="Cambria" pitchFamily="34" charset="-120"/>
              </a:rPr>
              <a:t>Battery health is the strongest driver</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marL="0" indent="0">
              <a:buNone/>
            </a:pPr>
            <a:r>
              <a:rPr lang="en-US" sz="1400" dirty="0">
                <a:solidFill>
                  <a:srgbClr val="6B7478"/>
                </a:solidFill>
                <a:latin typeface="Calibri" pitchFamily="34" charset="0"/>
                <a:ea typeface="Calibri" pitchFamily="34" charset="-122"/>
                <a:cs typeface="Calibri" pitchFamily="34" charset="-120"/>
              </a:rPr>
              <a:t>Consistent across all three ways we measured it</a:t>
            </a:r>
            <a:endParaRPr lang="en-US" sz="1400" dirty="0"/>
          </a:p>
        </p:txBody>
      </p:sp>
      <p:pic>
        <p:nvPicPr>
          <p:cNvPr id="4" name="Image 0" descr="preencoded.png"/>
          <p:cNvPicPr>
            <a:picLocks noChangeAspect="1"/>
          </p:cNvPicPr>
          <p:nvPr/>
        </p:nvPicPr>
        <p:blipFill>
          <a:blip r:embed="rId3"/>
          <a:stretch>
            <a:fillRect/>
          </a:stretch>
        </p:blipFill>
        <p:spPr>
          <a:xfrm>
            <a:off x="457200" y="1234440"/>
            <a:ext cx="5029200" cy="2807208"/>
          </a:xfrm>
          <a:prstGeom prst="rect">
            <a:avLst/>
          </a:prstGeom>
        </p:spPr>
      </p:pic>
      <p:pic>
        <p:nvPicPr>
          <p:cNvPr id="5" name="Image 1" descr="preencoded.png"/>
          <p:cNvPicPr>
            <a:picLocks noChangeAspect="1"/>
          </p:cNvPicPr>
          <p:nvPr/>
        </p:nvPicPr>
        <p:blipFill>
          <a:blip r:embed="rId4"/>
          <a:stretch>
            <a:fillRect/>
          </a:stretch>
        </p:blipFill>
        <p:spPr>
          <a:xfrm>
            <a:off x="5669280" y="1234440"/>
            <a:ext cx="3017520" cy="2084832"/>
          </a:xfrm>
          <a:prstGeom prst="rect">
            <a:avLst/>
          </a:prstGeom>
        </p:spPr>
      </p:pic>
      <p:sp>
        <p:nvSpPr>
          <p:cNvPr id="6" name="Text 2"/>
          <p:cNvSpPr txBox="1"/>
          <p:nvPr/>
        </p:nvSpPr>
        <p:spPr>
          <a:xfrm>
            <a:off x="5931607" y="3429000"/>
            <a:ext cx="3017520" cy="777240"/>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Trip count comes second. Rider-reported issues, service area and scooter model add very little.</a:t>
            </a:r>
            <a:endParaRPr lang="en-US" sz="1200" dirty="0"/>
          </a:p>
        </p:txBody>
      </p:sp>
      <p:sp>
        <p:nvSpPr>
          <p:cNvPr id="7" name="Text 3"/>
          <p:cNvSpPr txBox="1"/>
          <p:nvPr/>
        </p:nvSpPr>
        <p:spPr>
          <a:xfrm>
            <a:off x="457200" y="4160520"/>
            <a:ext cx="5029200" cy="411480"/>
          </a:xfrm>
          <a:prstGeom prst="rect">
            <a:avLst/>
          </a:prstGeom>
          <a:noFill/>
          <a:ln/>
        </p:spPr>
        <p:txBody>
          <a:bodyPr wrap="square" lIns="0" tIns="0" rIns="0" bIns="0" rtlCol="0" anchor="ctr"/>
          <a:lstStyle/>
          <a:p>
            <a:pPr marL="0" indent="0">
              <a:buNone/>
            </a:pPr>
            <a:r>
              <a:rPr lang="en-US" sz="1250" b="1" dirty="0">
                <a:solidFill>
                  <a:srgbClr val="B85042"/>
                </a:solidFill>
                <a:latin typeface="Calibri" pitchFamily="34" charset="0"/>
                <a:ea typeface="Calibri" pitchFamily="34" charset="-122"/>
                <a:cs typeface="Calibri" pitchFamily="34" charset="-120"/>
              </a:rPr>
              <a:t>Weakest fifth of the fleet fails 24% of the time. Healthiest fifth, 5%. Nearly a 5x difference.</a:t>
            </a:r>
            <a:endParaRPr lang="en-US" sz="1250" dirty="0"/>
          </a:p>
        </p:txBody>
      </p:sp>
      <p:sp>
        <p:nvSpPr>
          <p:cNvPr id="8" name="Text 4"/>
          <p:cNvSpPr txBox="1"/>
          <p:nvPr/>
        </p:nvSpPr>
        <p:spPr>
          <a:xfrm>
            <a:off x="8503920" y="4709160"/>
            <a:ext cx="365760" cy="256032"/>
          </a:xfrm>
          <a:prstGeom prst="rect">
            <a:avLst/>
          </a:prstGeom>
          <a:noFill/>
          <a:ln/>
        </p:spPr>
        <p:txBody>
          <a:bodyPr wrap="square" lIns="0" tIns="0" rIns="0" bIns="0" rtlCol="0" anchor="ctr"/>
          <a:lstStyle/>
          <a:p>
            <a:pPr marL="0" indent="0" algn="r">
              <a:buNone/>
            </a:pPr>
            <a:r>
              <a:rPr lang="en-US" sz="1000" dirty="0">
                <a:solidFill>
                  <a:srgbClr val="6B74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3000" b="1" dirty="0">
                <a:solidFill>
                  <a:srgbClr val="36454F"/>
                </a:solidFill>
                <a:latin typeface="Cambria" pitchFamily="34" charset="0"/>
                <a:ea typeface="Cambria" pitchFamily="34" charset="-122"/>
                <a:cs typeface="Cambria" pitchFamily="34" charset="-120"/>
              </a:rPr>
              <a:t>How the two models compare</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marL="0" indent="0">
              <a:buNone/>
            </a:pPr>
            <a:r>
              <a:rPr lang="en-US" sz="1400" dirty="0">
                <a:solidFill>
                  <a:srgbClr val="6B7478"/>
                </a:solidFill>
                <a:latin typeface="Calibri" pitchFamily="34" charset="0"/>
                <a:ea typeface="Calibri" pitchFamily="34" charset="-122"/>
                <a:cs typeface="Calibri" pitchFamily="34" charset="-120"/>
              </a:rPr>
              <a:t>Both trained on 1,440 scooters, tested on 360 held back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1914144"/>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75488">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36454F"/>
                          </a:solidFill>
                          <a:latin typeface="Calibri" pitchFamily="34" charset="0"/>
                          <a:ea typeface="Calibri" pitchFamily="34" charset="-122"/>
                          <a:cs typeface="Calibri" pitchFamily="34" charset="-120"/>
                        </a:rPr>
                        <a:t>No-skill</a:t>
                      </a:r>
                      <a:endParaRPr lang="en-US" sz="1300" dirty="0">
                        <a:latin typeface="Calibri" charset="0"/>
                        <a:ea typeface="Calibri" charset="0"/>
                        <a:cs typeface="Calibri" charset="0"/>
                      </a:endParaRPr>
                    </a:p>
                    <a:p>
                      <a:pPr marL="0" indent="0" algn="ctr">
                        <a:buNone/>
                      </a:pPr>
                      <a:r>
                        <a:rPr lang="en-US" sz="1300" b="1" dirty="0">
                          <a:solidFill>
                            <a:srgbClr val="36454F"/>
                          </a:solidFill>
                          <a:latin typeface="Calibri" pitchFamily="34" charset="0"/>
                          <a:ea typeface="Calibri" pitchFamily="34" charset="-122"/>
                          <a:cs typeface="Calibri" pitchFamily="34" charset="-120"/>
                        </a:rPr>
                        <a:t>benchmark</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b="1" dirty="0">
                          <a:solidFill>
                            <a:srgbClr val="36454F"/>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p>
                      <a:pPr marL="0" indent="0" algn="ctr">
                        <a:buNone/>
                      </a:pPr>
                      <a:r>
                        <a:rPr lang="en-US" sz="1300" b="1" dirty="0">
                          <a:solidFill>
                            <a:srgbClr val="36454F"/>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b="1" dirty="0">
                          <a:solidFill>
                            <a:srgbClr val="36454F"/>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p>
                      <a:pPr marL="0" indent="0" algn="ctr">
                        <a:buNone/>
                      </a:pPr>
                      <a:r>
                        <a:rPr lang="en-US" sz="1300" b="1" dirty="0">
                          <a:solidFill>
                            <a:srgbClr val="36454F"/>
                          </a:solidFill>
                          <a:latin typeface="Calibri" pitchFamily="34" charset="0"/>
                          <a:ea typeface="Calibri" pitchFamily="34" charset="-122"/>
                          <a:cs typeface="Calibri" pitchFamily="34" charset="-120"/>
                        </a:rPr>
                        <a:t>(comparison)</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36454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36454F"/>
                          </a:solidFill>
                          <a:latin typeface="Calibri" pitchFamily="34" charset="0"/>
                          <a:ea typeface="Calibri" pitchFamily="34" charset="-122"/>
                          <a:cs typeface="Calibri" pitchFamily="34" charset="-120"/>
                        </a:rPr>
                        <a:t>87.8%</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36454F"/>
                          </a:solidFill>
                          <a:latin typeface="Calibri" pitchFamily="34" charset="0"/>
                          <a:ea typeface="Calibri" pitchFamily="34" charset="-122"/>
                          <a:cs typeface="Calibri" pitchFamily="34" charset="-120"/>
                        </a:rPr>
                        <a:t>58.9%</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36454F"/>
                          </a:solidFill>
                          <a:latin typeface="Calibri" pitchFamily="34" charset="0"/>
                          <a:ea typeface="Calibri" pitchFamily="34" charset="-122"/>
                          <a:cs typeface="Calibri" pitchFamily="34" charset="-120"/>
                        </a:rPr>
                        <a:t>61.7%</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36454F"/>
                          </a:solidFill>
                          <a:latin typeface="Calibri" pitchFamily="34" charset="0"/>
                          <a:ea typeface="Calibri" pitchFamily="34" charset="-122"/>
                          <a:cs typeface="Calibri" pitchFamily="34" charset="-120"/>
                        </a:rPr>
                        <a:t>Breakdowns caught (of 44)</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75488">
                <a:tc>
                  <a:txBody>
                    <a:bodyPr/>
                    <a:lstStyle/>
                    <a:p>
                      <a:pPr marL="0" indent="0">
                        <a:buNone/>
                      </a:pPr>
                      <a:r>
                        <a:rPr lang="en-US" sz="1300" dirty="0">
                          <a:solidFill>
                            <a:srgbClr val="36454F"/>
                          </a:solidFill>
                          <a:latin typeface="Calibri" pitchFamily="34" charset="0"/>
                          <a:ea typeface="Calibri" pitchFamily="34" charset="-122"/>
                          <a:cs typeface="Calibri" pitchFamily="34" charset="-120"/>
                        </a:rPr>
                        <a:t>Ranking quality (ROC-AUC)</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36454F"/>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36454F"/>
                          </a:solidFill>
                          <a:latin typeface="Calibri" pitchFamily="34" charset="0"/>
                          <a:ea typeface="Calibri" pitchFamily="34" charset="-122"/>
                          <a:cs typeface="Calibri" pitchFamily="34" charset="-120"/>
                        </a:rPr>
                        <a:t>0.66</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36454F"/>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457200" y="3520440"/>
            <a:ext cx="8229600" cy="45720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We recommend the logistic regression. It catches the most real breakdowns, ranks risk slightly better, and is simple enough to explain to anyone.</a:t>
            </a:r>
            <a:endParaRPr lang="en-US" sz="1300" dirty="0"/>
          </a:p>
        </p:txBody>
      </p:sp>
      <p:sp>
        <p:nvSpPr>
          <p:cNvPr id="4" name="Text 3"/>
          <p:cNvSpPr txBox="1"/>
          <p:nvPr/>
        </p:nvSpPr>
        <p:spPr>
          <a:xfrm>
            <a:off x="457200" y="4069080"/>
            <a:ext cx="8229600" cy="548640"/>
          </a:xfrm>
          <a:prstGeom prst="rect">
            <a:avLst/>
          </a:prstGeom>
          <a:noFill/>
          <a:ln/>
        </p:spPr>
        <p:txBody>
          <a:bodyPr wrap="square" lIns="0" tIns="0" rIns="0" bIns="0" rtlCol="0" anchor="ctr"/>
          <a:lstStyle/>
          <a:p>
            <a:pPr marL="0" indent="0">
              <a:buNone/>
            </a:pPr>
            <a:r>
              <a:rPr lang="en-US" sz="1200" i="1" dirty="0">
                <a:solidFill>
                  <a:srgbClr val="6B7478"/>
                </a:solidFill>
                <a:latin typeface="Calibri" pitchFamily="34" charset="0"/>
                <a:ea typeface="Calibri" pitchFamily="34" charset="-122"/>
                <a:cs typeface="Calibri" pitchFamily="34" charset="-120"/>
              </a:rPr>
              <a:t>A ranking score of 0.50 is a coin flip. 0.66 is a real signal, but a modest one - good enough to sort scooters by risk, not good enough to call any single scooter a certain breakdown.</a:t>
            </a:r>
            <a:endParaRPr lang="en-US" sz="1200" dirty="0"/>
          </a:p>
        </p:txBody>
      </p:sp>
      <p:sp>
        <p:nvSpPr>
          <p:cNvPr id="7" name="Text 4"/>
          <p:cNvSpPr txBox="1"/>
          <p:nvPr/>
        </p:nvSpPr>
        <p:spPr>
          <a:xfrm>
            <a:off x="8503920" y="4709160"/>
            <a:ext cx="365760" cy="256032"/>
          </a:xfrm>
          <a:prstGeom prst="rect">
            <a:avLst/>
          </a:prstGeom>
          <a:noFill/>
          <a:ln/>
        </p:spPr>
        <p:txBody>
          <a:bodyPr wrap="square" lIns="0" tIns="0" rIns="0" bIns="0" rtlCol="0" anchor="ctr"/>
          <a:lstStyle/>
          <a:p>
            <a:pPr marL="0" indent="0" algn="r">
              <a:buNone/>
            </a:pPr>
            <a:r>
              <a:rPr lang="en-US" sz="1000" dirty="0">
                <a:solidFill>
                  <a:srgbClr val="6B74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3000" b="1" dirty="0">
                <a:solidFill>
                  <a:srgbClr val="36454F"/>
                </a:solidFill>
                <a:latin typeface="Cambria" pitchFamily="34" charset="0"/>
                <a:ea typeface="Cambria" pitchFamily="34" charset="-122"/>
                <a:cs typeface="Cambria" pitchFamily="34" charset="-120"/>
              </a:rPr>
              <a:t>The metric to track from here</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marL="0" indent="0">
              <a:buNone/>
            </a:pPr>
            <a:r>
              <a:rPr lang="en-US" sz="1400" dirty="0">
                <a:solidFill>
                  <a:srgbClr val="6B7478"/>
                </a:solidFill>
                <a:latin typeface="Calibri" pitchFamily="34" charset="0"/>
                <a:ea typeface="Calibri" pitchFamily="34" charset="-122"/>
                <a:cs typeface="Calibri" pitchFamily="34" charset="-120"/>
              </a:rPr>
              <a:t>Built around your real constraint: how many scooters a technician can inspect</a:t>
            </a:r>
            <a:endParaRPr lang="en-US" sz="1400" dirty="0"/>
          </a:p>
        </p:txBody>
      </p:sp>
      <p:pic>
        <p:nvPicPr>
          <p:cNvPr id="4" name="Image 0" descr="preencoded.png"/>
          <p:cNvPicPr>
            <a:picLocks noChangeAspect="1"/>
          </p:cNvPicPr>
          <p:nvPr/>
        </p:nvPicPr>
        <p:blipFill>
          <a:blip r:embed="rId3"/>
          <a:stretch>
            <a:fillRect/>
          </a:stretch>
        </p:blipFill>
        <p:spPr>
          <a:xfrm>
            <a:off x="344774" y="1527048"/>
            <a:ext cx="4572000" cy="2788920"/>
          </a:xfrm>
          <a:prstGeom prst="rect">
            <a:avLst/>
          </a:prstGeom>
        </p:spPr>
      </p:pic>
      <p:sp>
        <p:nvSpPr>
          <p:cNvPr id="5" name="Text 2"/>
          <p:cNvSpPr txBox="1"/>
          <p:nvPr/>
        </p:nvSpPr>
        <p:spPr>
          <a:xfrm>
            <a:off x="5321808" y="1325880"/>
            <a:ext cx="3364992" cy="292608"/>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Pre-emptive catch rate</a:t>
            </a:r>
            <a:endParaRPr lang="en-US" sz="1500" dirty="0"/>
          </a:p>
        </p:txBody>
      </p:sp>
      <p:sp>
        <p:nvSpPr>
          <p:cNvPr id="6" name="Text 3"/>
          <p:cNvSpPr txBox="1"/>
          <p:nvPr/>
        </p:nvSpPr>
        <p:spPr>
          <a:xfrm>
            <a:off x="5321808" y="1673352"/>
            <a:ext cx="3364992" cy="868680"/>
          </a:xfrm>
          <a:prstGeom prst="rect">
            <a:avLst/>
          </a:prstGeom>
          <a:noFill/>
          <a:ln/>
        </p:spPr>
        <p:txBody>
          <a:bodyPr wrap="square" lIns="0" tIns="0" rIns="0" bIns="0" rtlCol="0" anchor="ctr"/>
          <a:lstStyle/>
          <a:p>
            <a:pPr marL="0" indent="0">
              <a:buNone/>
            </a:pPr>
            <a:r>
              <a:rPr lang="en-US" sz="1250" dirty="0">
                <a:solidFill>
                  <a:srgbClr val="36454F"/>
                </a:solidFill>
                <a:latin typeface="Calibri" pitchFamily="34" charset="0"/>
                <a:ea typeface="Calibri" pitchFamily="34" charset="-122"/>
                <a:cs typeface="Calibri" pitchFamily="34" charset="-120"/>
              </a:rPr>
              <a:t>Rank the fleet by risk each morning, inspect the top 10%, and measure what share of that day's breakdowns you caught before they happened.</a:t>
            </a:r>
            <a:endParaRPr lang="en-US" sz="1250" dirty="0"/>
          </a:p>
        </p:txBody>
      </p:sp>
      <p:sp>
        <p:nvSpPr>
          <p:cNvPr id="7" name="Text 4"/>
          <p:cNvSpPr txBox="1"/>
          <p:nvPr/>
        </p:nvSpPr>
        <p:spPr>
          <a:xfrm>
            <a:off x="5321808" y="2670048"/>
            <a:ext cx="777240" cy="384048"/>
          </a:xfrm>
          <a:prstGeom prst="rect">
            <a:avLst/>
          </a:prstGeom>
          <a:noFill/>
          <a:ln/>
        </p:spPr>
        <p:txBody>
          <a:bodyPr wrap="square" lIns="0" tIns="0" rIns="0" bIns="0" rtlCol="0" anchor="ctr"/>
          <a:lstStyle/>
          <a:p>
            <a:pPr marL="0" indent="0">
              <a:buNone/>
            </a:pPr>
            <a:r>
              <a:rPr lang="en-US" sz="1900" b="1" dirty="0">
                <a:solidFill>
                  <a:srgbClr val="36454F"/>
                </a:solidFill>
                <a:latin typeface="Cambria" pitchFamily="34" charset="0"/>
                <a:ea typeface="Cambria" pitchFamily="34" charset="-122"/>
                <a:cs typeface="Cambria" pitchFamily="34" charset="-120"/>
              </a:rPr>
              <a:t>180</a:t>
            </a:r>
            <a:endParaRPr lang="en-US" sz="1900" dirty="0"/>
          </a:p>
        </p:txBody>
      </p:sp>
      <p:sp>
        <p:nvSpPr>
          <p:cNvPr id="8" name="Text 5"/>
          <p:cNvSpPr txBox="1"/>
          <p:nvPr/>
        </p:nvSpPr>
        <p:spPr>
          <a:xfrm>
            <a:off x="6190488" y="2743200"/>
            <a:ext cx="2496312" cy="329184"/>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scooters inspected per day</a:t>
            </a:r>
            <a:endParaRPr lang="en-US" sz="1150" dirty="0"/>
          </a:p>
        </p:txBody>
      </p:sp>
      <p:sp>
        <p:nvSpPr>
          <p:cNvPr id="9" name="Text 6"/>
          <p:cNvSpPr txBox="1"/>
          <p:nvPr/>
        </p:nvSpPr>
        <p:spPr>
          <a:xfrm>
            <a:off x="5321808" y="3154680"/>
            <a:ext cx="777240" cy="384048"/>
          </a:xfrm>
          <a:prstGeom prst="rect">
            <a:avLst/>
          </a:prstGeom>
          <a:noFill/>
          <a:ln/>
        </p:spPr>
        <p:txBody>
          <a:bodyPr wrap="square" lIns="0" tIns="0" rIns="0" bIns="0" rtlCol="0" anchor="ctr"/>
          <a:lstStyle/>
          <a:p>
            <a:pPr marL="0" indent="0">
              <a:buNone/>
            </a:pPr>
            <a:r>
              <a:rPr lang="en-US" sz="1900" b="1" dirty="0">
                <a:solidFill>
                  <a:srgbClr val="36454F"/>
                </a:solidFill>
                <a:latin typeface="Cambria" pitchFamily="34" charset="0"/>
                <a:ea typeface="Cambria" pitchFamily="34" charset="-122"/>
                <a:cs typeface="Cambria" pitchFamily="34" charset="-120"/>
              </a:rPr>
              <a:t>23%</a:t>
            </a:r>
            <a:endParaRPr lang="en-US" sz="1900" dirty="0"/>
          </a:p>
        </p:txBody>
      </p:sp>
      <p:sp>
        <p:nvSpPr>
          <p:cNvPr id="10" name="Text 7"/>
          <p:cNvSpPr txBox="1"/>
          <p:nvPr/>
        </p:nvSpPr>
        <p:spPr>
          <a:xfrm>
            <a:off x="6190488" y="3227832"/>
            <a:ext cx="2496312" cy="329184"/>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of breakdowns caught first</a:t>
            </a:r>
            <a:endParaRPr lang="en-US" sz="1150" dirty="0"/>
          </a:p>
        </p:txBody>
      </p:sp>
      <p:sp>
        <p:nvSpPr>
          <p:cNvPr id="11" name="Text 8"/>
          <p:cNvSpPr txBox="1"/>
          <p:nvPr/>
        </p:nvSpPr>
        <p:spPr>
          <a:xfrm>
            <a:off x="5321808" y="3639312"/>
            <a:ext cx="777240" cy="384048"/>
          </a:xfrm>
          <a:prstGeom prst="rect">
            <a:avLst/>
          </a:prstGeom>
          <a:noFill/>
          <a:ln/>
        </p:spPr>
        <p:txBody>
          <a:bodyPr wrap="square" lIns="0" tIns="0" rIns="0" bIns="0" rtlCol="0" anchor="ctr"/>
          <a:lstStyle/>
          <a:p>
            <a:pPr marL="0" indent="0">
              <a:buNone/>
            </a:pPr>
            <a:r>
              <a:rPr lang="en-US" sz="1900" b="1" dirty="0">
                <a:solidFill>
                  <a:srgbClr val="36454F"/>
                </a:solidFill>
                <a:latin typeface="Cambria" pitchFamily="34" charset="0"/>
                <a:ea typeface="Cambria" pitchFamily="34" charset="-122"/>
                <a:cs typeface="Cambria" pitchFamily="34" charset="-120"/>
              </a:rPr>
              <a:t>29%</a:t>
            </a:r>
            <a:endParaRPr lang="en-US" sz="1900" dirty="0"/>
          </a:p>
        </p:txBody>
      </p:sp>
      <p:sp>
        <p:nvSpPr>
          <p:cNvPr id="12" name="Text 9"/>
          <p:cNvSpPr txBox="1"/>
          <p:nvPr/>
        </p:nvSpPr>
        <p:spPr>
          <a:xfrm>
            <a:off x="6190488" y="3712464"/>
            <a:ext cx="2496312" cy="329184"/>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of inspections find a real fault</a:t>
            </a:r>
            <a:endParaRPr lang="en-US" sz="1150" dirty="0"/>
          </a:p>
        </p:txBody>
      </p:sp>
      <p:sp>
        <p:nvSpPr>
          <p:cNvPr id="13" name="Text 10"/>
          <p:cNvSpPr txBox="1"/>
          <p:nvPr/>
        </p:nvSpPr>
        <p:spPr>
          <a:xfrm>
            <a:off x="5321808" y="4123944"/>
            <a:ext cx="777240" cy="384048"/>
          </a:xfrm>
          <a:prstGeom prst="rect">
            <a:avLst/>
          </a:prstGeom>
          <a:noFill/>
          <a:ln/>
        </p:spPr>
        <p:txBody>
          <a:bodyPr wrap="square" lIns="0" tIns="0" rIns="0" bIns="0" rtlCol="0" anchor="ctr"/>
          <a:lstStyle/>
          <a:p>
            <a:pPr marL="0" indent="0">
              <a:buNone/>
            </a:pPr>
            <a:r>
              <a:rPr lang="en-US" sz="1900" b="1" dirty="0">
                <a:solidFill>
                  <a:srgbClr val="36454F"/>
                </a:solidFill>
                <a:latin typeface="Cambria" pitchFamily="34" charset="0"/>
                <a:ea typeface="Cambria" pitchFamily="34" charset="-122"/>
                <a:cs typeface="Cambria" pitchFamily="34" charset="-120"/>
              </a:rPr>
              <a:t>2.3x</a:t>
            </a:r>
            <a:endParaRPr lang="en-US" sz="1900" dirty="0"/>
          </a:p>
        </p:txBody>
      </p:sp>
      <p:sp>
        <p:nvSpPr>
          <p:cNvPr id="14" name="Text 11"/>
          <p:cNvSpPr txBox="1"/>
          <p:nvPr/>
        </p:nvSpPr>
        <p:spPr>
          <a:xfrm>
            <a:off x="6190488" y="4197096"/>
            <a:ext cx="2496312" cy="329184"/>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better than random checks</a:t>
            </a:r>
            <a:endParaRPr lang="en-US" sz="1150" dirty="0"/>
          </a:p>
        </p:txBody>
      </p:sp>
      <p:sp>
        <p:nvSpPr>
          <p:cNvPr id="15" name="Text 12"/>
          <p:cNvSpPr txBox="1"/>
          <p:nvPr/>
        </p:nvSpPr>
        <p:spPr>
          <a:xfrm>
            <a:off x="8503920" y="4709160"/>
            <a:ext cx="365760" cy="256032"/>
          </a:xfrm>
          <a:prstGeom prst="rect">
            <a:avLst/>
          </a:prstGeom>
          <a:noFill/>
          <a:ln/>
        </p:spPr>
        <p:txBody>
          <a:bodyPr wrap="square" lIns="0" tIns="0" rIns="0" bIns="0" rtlCol="0" anchor="ctr"/>
          <a:lstStyle/>
          <a:p>
            <a:pPr marL="0" indent="0" algn="r">
              <a:buNone/>
            </a:pPr>
            <a:r>
              <a:rPr lang="en-US" sz="1000" dirty="0">
                <a:solidFill>
                  <a:srgbClr val="6B74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3000" b="1" dirty="0">
                <a:solidFill>
                  <a:srgbClr val="36454F"/>
                </a:solidFill>
                <a:latin typeface="Cambria" pitchFamily="34" charset="0"/>
                <a:ea typeface="Cambria" pitchFamily="34" charset="-122"/>
                <a:cs typeface="Cambria" pitchFamily="34" charset="-120"/>
              </a:rPr>
              <a:t>What we recommend</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marL="0" indent="0">
              <a:buNone/>
            </a:pPr>
            <a:r>
              <a:rPr lang="en-US" sz="1400" dirty="0">
                <a:solidFill>
                  <a:srgbClr val="6B7478"/>
                </a:solidFill>
                <a:latin typeface="Calibri" pitchFamily="34" charset="0"/>
                <a:ea typeface="Calibri" pitchFamily="34" charset="-122"/>
                <a:cs typeface="Calibri" pitchFamily="34" charset="-120"/>
              </a:rPr>
              <a:t>Ordered by how quickly you can act</a:t>
            </a:r>
            <a:endParaRPr lang="en-US" sz="1400" dirty="0"/>
          </a:p>
        </p:txBody>
      </p:sp>
      <p:sp>
        <p:nvSpPr>
          <p:cNvPr id="4" name="Shape 2"/>
          <p:cNvSpPr/>
          <p:nvPr/>
        </p:nvSpPr>
        <p:spPr>
          <a:xfrm>
            <a:off x="457200" y="1298448"/>
            <a:ext cx="384048" cy="384048"/>
          </a:xfrm>
          <a:prstGeom prst="ellipse">
            <a:avLst/>
          </a:prstGeom>
          <a:solidFill>
            <a:srgbClr val="B85042"/>
          </a:solidFill>
          <a:ln/>
        </p:spPr>
        <p:txBody>
          <a:bodyPr/>
          <a:lstStyle/>
          <a:p>
            <a:endParaRPr lang="en-US"/>
          </a:p>
        </p:txBody>
      </p:sp>
      <p:sp>
        <p:nvSpPr>
          <p:cNvPr id="5" name="Text 3"/>
          <p:cNvSpPr txBox="1"/>
          <p:nvPr/>
        </p:nvSpPr>
        <p:spPr>
          <a:xfrm>
            <a:off x="457200" y="1298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24128" y="1261872"/>
            <a:ext cx="7644384" cy="2743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Start inspecting from the bottom of the battery ranking</a:t>
            </a:r>
            <a:endParaRPr lang="en-US" sz="1400" dirty="0"/>
          </a:p>
        </p:txBody>
      </p:sp>
      <p:sp>
        <p:nvSpPr>
          <p:cNvPr id="7" name="Text 5"/>
          <p:cNvSpPr txBox="1"/>
          <p:nvPr/>
        </p:nvSpPr>
        <p:spPr>
          <a:xfrm>
            <a:off x="1024128" y="1536192"/>
            <a:ext cx="7644384" cy="438912"/>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This needs no model at all. Sort the fleet by battery health and work upward. You can start Monday.</a:t>
            </a:r>
            <a:endParaRPr lang="en-US" sz="1150" dirty="0"/>
          </a:p>
        </p:txBody>
      </p:sp>
      <p:sp>
        <p:nvSpPr>
          <p:cNvPr id="8" name="Shape 6"/>
          <p:cNvSpPr/>
          <p:nvPr/>
        </p:nvSpPr>
        <p:spPr>
          <a:xfrm>
            <a:off x="457200" y="2139696"/>
            <a:ext cx="384048" cy="384048"/>
          </a:xfrm>
          <a:prstGeom prst="ellipse">
            <a:avLst/>
          </a:prstGeom>
          <a:solidFill>
            <a:srgbClr val="B85042"/>
          </a:solidFill>
          <a:ln/>
        </p:spPr>
        <p:txBody>
          <a:bodyPr/>
          <a:lstStyle/>
          <a:p>
            <a:endParaRPr lang="en-US"/>
          </a:p>
        </p:txBody>
      </p:sp>
      <p:sp>
        <p:nvSpPr>
          <p:cNvPr id="9" name="Text 7"/>
          <p:cNvSpPr txBox="1"/>
          <p:nvPr/>
        </p:nvSpPr>
        <p:spPr>
          <a:xfrm>
            <a:off x="457200" y="21396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24128" y="2103120"/>
            <a:ext cx="7644384" cy="2743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Replace the accuracy target with catch rate and hit rate</a:t>
            </a:r>
            <a:endParaRPr lang="en-US" sz="1400" dirty="0"/>
          </a:p>
        </p:txBody>
      </p:sp>
      <p:sp>
        <p:nvSpPr>
          <p:cNvPr id="11" name="Text 9"/>
          <p:cNvSpPr txBox="1"/>
          <p:nvPr/>
        </p:nvSpPr>
        <p:spPr>
          <a:xfrm>
            <a:off x="1024128" y="2377440"/>
            <a:ext cx="7644384" cy="438912"/>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Review both monthly, at whatever inspection budget you can staff. Chasing accuracy pushes us towards a model that does nothing.</a:t>
            </a:r>
            <a:endParaRPr lang="en-US" sz="1150" dirty="0"/>
          </a:p>
        </p:txBody>
      </p:sp>
      <p:sp>
        <p:nvSpPr>
          <p:cNvPr id="12" name="Shape 10"/>
          <p:cNvSpPr/>
          <p:nvPr/>
        </p:nvSpPr>
        <p:spPr>
          <a:xfrm>
            <a:off x="457200" y="2980944"/>
            <a:ext cx="384048" cy="384048"/>
          </a:xfrm>
          <a:prstGeom prst="ellipse">
            <a:avLst/>
          </a:prstGeom>
          <a:solidFill>
            <a:srgbClr val="36454F"/>
          </a:solidFill>
          <a:ln/>
        </p:spPr>
        <p:txBody>
          <a:bodyPr/>
          <a:lstStyle/>
          <a:p>
            <a:endParaRPr lang="en-US"/>
          </a:p>
        </p:txBody>
      </p:sp>
      <p:sp>
        <p:nvSpPr>
          <p:cNvPr id="13" name="Text 11"/>
          <p:cNvSpPr txBox="1"/>
          <p:nvPr/>
        </p:nvSpPr>
        <p:spPr>
          <a:xfrm>
            <a:off x="457200" y="29809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24128" y="2944368"/>
            <a:ext cx="7644384" cy="2743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Use the model to order the daily queue - not to size the team</a:t>
            </a:r>
            <a:endParaRPr lang="en-US" sz="1400" dirty="0"/>
          </a:p>
        </p:txBody>
      </p:sp>
      <p:sp>
        <p:nvSpPr>
          <p:cNvPr id="15" name="Text 13"/>
          <p:cNvSpPr txBox="1"/>
          <p:nvPr/>
        </p:nvSpPr>
        <p:spPr>
          <a:xfrm>
            <a:off x="1024128" y="3218688"/>
            <a:ext cx="7644384" cy="438912"/>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A 2.3x lift is worth acting on. It is not precise enough to set headcount or parts orders against.</a:t>
            </a:r>
            <a:endParaRPr lang="en-US" sz="1150" dirty="0"/>
          </a:p>
        </p:txBody>
      </p:sp>
      <p:sp>
        <p:nvSpPr>
          <p:cNvPr id="16" name="Shape 14"/>
          <p:cNvSpPr/>
          <p:nvPr/>
        </p:nvSpPr>
        <p:spPr>
          <a:xfrm>
            <a:off x="457200" y="3822192"/>
            <a:ext cx="384048" cy="384048"/>
          </a:xfrm>
          <a:prstGeom prst="ellipse">
            <a:avLst/>
          </a:prstGeom>
          <a:solidFill>
            <a:srgbClr val="36454F"/>
          </a:solidFill>
          <a:ln/>
        </p:spPr>
        <p:txBody>
          <a:bodyPr/>
          <a:lstStyle/>
          <a:p>
            <a:endParaRPr lang="en-US"/>
          </a:p>
        </p:txBody>
      </p:sp>
      <p:sp>
        <p:nvSpPr>
          <p:cNvPr id="17" name="Text 15"/>
          <p:cNvSpPr txBox="1"/>
          <p:nvPr/>
        </p:nvSpPr>
        <p:spPr>
          <a:xfrm>
            <a:off x="457200" y="3822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24128" y="3785616"/>
            <a:ext cx="7644384" cy="274320"/>
          </a:xfrm>
          <a:prstGeom prst="rect">
            <a:avLst/>
          </a:prstGeom>
          <a:noFill/>
          <a:ln/>
        </p:spPr>
        <p:txBody>
          <a:bodyPr wrap="square" lIns="0" tIns="0" rIns="0" bIns="0" rtlCol="0" anchor="ctr"/>
          <a:lstStyle/>
          <a:p>
            <a:pPr marL="0" indent="0">
              <a:buNone/>
            </a:pPr>
            <a:r>
              <a:rPr lang="en-US" sz="1400" b="1" dirty="0">
                <a:solidFill>
                  <a:srgbClr val="36454F"/>
                </a:solidFill>
                <a:latin typeface="Calibri" pitchFamily="34" charset="0"/>
                <a:ea typeface="Calibri" pitchFamily="34" charset="-122"/>
                <a:cs typeface="Calibri" pitchFamily="34" charset="-120"/>
              </a:rPr>
              <a:t>Fix the data collection issues, and capture richer battery telemetry</a:t>
            </a:r>
            <a:endParaRPr lang="en-US" sz="1400" dirty="0"/>
          </a:p>
        </p:txBody>
      </p:sp>
      <p:sp>
        <p:nvSpPr>
          <p:cNvPr id="19" name="Text 17"/>
          <p:cNvSpPr txBox="1"/>
          <p:nvPr/>
        </p:nvSpPr>
        <p:spPr>
          <a:xfrm>
            <a:off x="1024128" y="4059936"/>
            <a:ext cx="7644384" cy="438912"/>
          </a:xfrm>
          <a:prstGeom prst="rect">
            <a:avLst/>
          </a:prstGeom>
          <a:noFill/>
          <a:ln/>
        </p:spPr>
        <p:txBody>
          <a:bodyPr wrap="square" lIns="0" tIns="0" rIns="0" bIns="0" rtlCol="0" anchor="ctr"/>
          <a:lstStyle/>
          <a:p>
            <a:pPr marL="0" indent="0">
              <a:buNone/>
            </a:pPr>
            <a:r>
              <a:rPr lang="en-US" sz="1150" dirty="0">
                <a:solidFill>
                  <a:srgbClr val="6B7478"/>
                </a:solidFill>
                <a:latin typeface="Calibri" pitchFamily="34" charset="0"/>
                <a:ea typeface="Calibri" pitchFamily="34" charset="-122"/>
                <a:cs typeface="Calibri" pitchFamily="34" charset="-120"/>
              </a:rPr>
              <a:t>Charge cycles, fault codes and scooter age. Battery health dominating tells us where the next gain is.</a:t>
            </a:r>
            <a:endParaRPr lang="en-US" sz="1150" dirty="0"/>
          </a:p>
        </p:txBody>
      </p:sp>
      <p:sp>
        <p:nvSpPr>
          <p:cNvPr id="21" name="Text 19"/>
          <p:cNvSpPr txBox="1"/>
          <p:nvPr/>
        </p:nvSpPr>
        <p:spPr>
          <a:xfrm>
            <a:off x="8503920" y="4709160"/>
            <a:ext cx="365760" cy="256032"/>
          </a:xfrm>
          <a:prstGeom prst="rect">
            <a:avLst/>
          </a:prstGeom>
          <a:noFill/>
          <a:ln/>
        </p:spPr>
        <p:txBody>
          <a:bodyPr wrap="square" lIns="0" tIns="0" rIns="0" bIns="0" rtlCol="0" anchor="ctr"/>
          <a:lstStyle/>
          <a:p>
            <a:pPr marL="0" indent="0" algn="r">
              <a:buNone/>
            </a:pPr>
            <a:r>
              <a:rPr lang="en-US" sz="1000" dirty="0">
                <a:solidFill>
                  <a:srgbClr val="6B74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311</TotalTime>
  <Words>2173</Words>
  <Application>Microsoft Office PowerPoint</Application>
  <PresentationFormat>On-screen Show (16:9)</PresentationFormat>
  <Paragraphs>95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Scooter Reliability - Fleet Reliability Review</dc:title>
  <dc:subject>PptxGenJS Presentation</dc:subject>
  <dc:creator>Nikhil Bansal</dc:creator>
  <cp:lastModifiedBy>Bansal, Nikhil</cp:lastModifiedBy>
  <cp:revision>5</cp:revision>
  <dcterms:created xsi:type="dcterms:W3CDTF">2026-09-21T08:26:14Z</dcterms:created>
  <dcterms:modified xsi:type="dcterms:W3CDTF">2026-09-21T14:13:05Z</dcterms:modified>
</cp:coreProperties>
</file>