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410" r:id="rId4"/>
  </p:sldMasterIdLst>
  <p:notesMasterIdLst>
    <p:notesMasterId r:id="rId20"/>
  </p:notesMasterIdLst>
  <p:handoutMasterIdLst>
    <p:handoutMasterId r:id="rId21"/>
  </p:handoutMasterIdLst>
  <p:sldIdLst>
    <p:sldId id="256" r:id="rId5"/>
    <p:sldId id="257" r:id="rId6"/>
    <p:sldId id="258" r:id="rId7"/>
    <p:sldId id="259" r:id="rId8"/>
    <p:sldId id="260" r:id="rId9"/>
    <p:sldId id="261" r:id="rId10"/>
    <p:sldId id="262" r:id="rId11"/>
    <p:sldId id="263" r:id="rId12"/>
    <p:sldId id="273" r:id="rId13"/>
    <p:sldId id="264" r:id="rId14"/>
    <p:sldId id="275" r:id="rId15"/>
    <p:sldId id="268" r:id="rId16"/>
    <p:sldId id="274" r:id="rId17"/>
    <p:sldId id="271" r:id="rId18"/>
    <p:sldId id="272" r:id="rId19"/>
  </p:sldIdLst>
  <p:sldSz cx="12192000" cy="6858000"/>
  <p:notesSz cx="7315200" cy="96012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s" id="{BAC1763D-52FA-4D99-B74A-09978868D1DF}">
          <p14:sldIdLst>
            <p14:sldId id="256"/>
            <p14:sldId id="257"/>
            <p14:sldId id="258"/>
            <p14:sldId id="259"/>
            <p14:sldId id="260"/>
            <p14:sldId id="261"/>
            <p14:sldId id="262"/>
            <p14:sldId id="263"/>
            <p14:sldId id="273"/>
            <p14:sldId id="264"/>
            <p14:sldId id="275"/>
            <p14:sldId id="268"/>
            <p14:sldId id="274"/>
            <p14:sldId id="271"/>
            <p14:sldId id="272"/>
          </p14:sldIdLst>
        </p14:section>
        <p14:section name="Brand basics" id="{8EE32D32-E91A-427D-B680-3FF11AABE0B8}">
          <p14:sldIdLst/>
        </p14:section>
        <p14:section name="Content slides" id="{49CC7682-57B2-4455-BD9B-709563297FEE}">
          <p14:sldIdLst/>
        </p14:section>
      </p14:section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6E4"/>
    <a:srgbClr val="F2F5E3"/>
    <a:srgbClr val="63666A"/>
    <a:srgbClr val="75787B"/>
    <a:srgbClr val="97999B"/>
    <a:srgbClr val="A7A8AA"/>
    <a:srgbClr val="BBBCBC"/>
    <a:srgbClr val="D0D0CE"/>
    <a:srgbClr val="007CB0"/>
    <a:srgbClr val="041E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7E2F2A-2CC3-4BCA-8A6F-938F70784DB1}" v="4" dt="2026-10-14T10:18:02.320"/>
    <p1510:client id="{C5D1735F-AF19-DB1F-0331-9E00D7442F5A}" v="2" dt="2026-10-14T05:32:21.4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10/14/2026</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10/14/2026</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7.emf"/><Relationship Id="rId4" Type="http://schemas.openxmlformats.org/officeDocument/2006/relationships/oleObject" Target="../embeddings/oleObject2.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7.emf"/><Relationship Id="rId4" Type="http://schemas.openxmlformats.org/officeDocument/2006/relationships/oleObject" Target="../embeddings/oleObject2.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7.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7.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7.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7.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7.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7.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7.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7.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7.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7.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7.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7.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7.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7.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7.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7.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7.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7.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7.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7.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7.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7.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7.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7.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7.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7.emf"/></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7FC5E484-EB26-0B50-B87A-799C320E830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3" name="Picture 3">
            <a:extLst>
              <a:ext uri="{FF2B5EF4-FFF2-40B4-BE49-F238E27FC236}">
                <a16:creationId xmlns:a16="http://schemas.microsoft.com/office/drawing/2014/main" id="{B6970A4B-B432-0F69-C312-D57C3DF06CD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131720489"/>
      </p:ext>
    </p:extLst>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A9C623ED-9A31-E94B-385F-DFBB34F5916A}"/>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3" name="Picture 2">
            <a:extLst>
              <a:ext uri="{FF2B5EF4-FFF2-40B4-BE49-F238E27FC236}">
                <a16:creationId xmlns:a16="http://schemas.microsoft.com/office/drawing/2014/main" id="{856FA620-B23E-0D62-CFAF-C7B1EE2DF1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031414574"/>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ale Green with tagline logo lockup">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9A09F874-9939-7788-F7E8-1E902B5632A8}"/>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4" name="Picture 3">
            <a:extLst>
              <a:ext uri="{FF2B5EF4-FFF2-40B4-BE49-F238E27FC236}">
                <a16:creationId xmlns:a16="http://schemas.microsoft.com/office/drawing/2014/main" id="{4BC315A3-99EF-FC55-DE24-58D79C1DD21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87898768"/>
      </p:ext>
    </p:extLst>
  </p:cSld>
  <p:clrMapOvr>
    <a:masterClrMapping/>
  </p:clrMapOvr>
  <p:transition>
    <p:fad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Pale Green">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6" name="Picture 5">
            <a:extLst>
              <a:ext uri="{FF2B5EF4-FFF2-40B4-BE49-F238E27FC236}">
                <a16:creationId xmlns:a16="http://schemas.microsoft.com/office/drawing/2014/main" id="{D8F5BA9B-7574-E325-E1B5-3C428C7E4C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72638236"/>
      </p:ext>
    </p:extLst>
  </p:cSld>
  <p:clrMapOvr>
    <a:masterClrMapping/>
  </p:clrMapOvr>
  <p:transition>
    <p:fade/>
  </p:transition>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with tagline logo lockup">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3" name="Picture 3">
            <a:extLst>
              <a:ext uri="{FF2B5EF4-FFF2-40B4-BE49-F238E27FC236}">
                <a16:creationId xmlns:a16="http://schemas.microsoft.com/office/drawing/2014/main" id="{25E4CF2D-5153-8731-E935-35A75505133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1874202484"/>
      </p:ext>
    </p:extLst>
  </p:cSld>
  <p:clrMapOvr>
    <a:masterClrMapping/>
  </p:clrMapOvr>
  <p:transition>
    <p:fade/>
  </p:transition>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5" name="Picture 4">
            <a:extLst>
              <a:ext uri="{FF2B5EF4-FFF2-40B4-BE49-F238E27FC236}">
                <a16:creationId xmlns:a16="http://schemas.microsoft.com/office/drawing/2014/main" id="{4A99EDB7-3AF4-61F2-2C8B-4480E13D1A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4038310312"/>
      </p:ext>
    </p:extLst>
  </p:cSld>
  <p:clrMapOvr>
    <a:masterClrMapping/>
  </p:clrMapOvr>
  <p:transition>
    <p:fad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BD417F91-0FD9-83FB-569A-B960E93D5A0F}"/>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4" name="Picture 3">
            <a:extLst>
              <a:ext uri="{FF2B5EF4-FFF2-40B4-BE49-F238E27FC236}">
                <a16:creationId xmlns:a16="http://schemas.microsoft.com/office/drawing/2014/main" id="{09D97FD6-A665-B2C8-96D2-2FEF2679AAB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51042251"/>
      </p:ext>
    </p:extLst>
  </p:cSld>
  <p:clrMapOvr>
    <a:masterClrMapping/>
  </p:clrMapOvr>
  <p:transition>
    <p:fad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FB2FFE14-03CA-6135-58A2-5C311D365127}"/>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4" name="Picture 3">
            <a:extLst>
              <a:ext uri="{FF2B5EF4-FFF2-40B4-BE49-F238E27FC236}">
                <a16:creationId xmlns:a16="http://schemas.microsoft.com/office/drawing/2014/main" id="{F4810F31-D882-A06D-7681-1B913A76EC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1939478856"/>
      </p:ext>
    </p:extLst>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 Dark Green with tagline logo lockup">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3F8A2FFF-A4B2-D935-C7DC-1DB5EDE4A71C}"/>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4" name="Picture 3">
            <a:extLst>
              <a:ext uri="{FF2B5EF4-FFF2-40B4-BE49-F238E27FC236}">
                <a16:creationId xmlns:a16="http://schemas.microsoft.com/office/drawing/2014/main" id="{9B590BD8-2D84-8179-A640-57E37904E6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2105543470"/>
      </p:ext>
    </p:extLst>
  </p:cSld>
  <p:clrMapOvr>
    <a:masterClrMapping/>
  </p:clrMapOvr>
  <p:transition>
    <p:fade/>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Dark Green">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Picture Placeholder 8">
            <a:extLst>
              <a:ext uri="{FF2B5EF4-FFF2-40B4-BE49-F238E27FC236}">
                <a16:creationId xmlns:a16="http://schemas.microsoft.com/office/drawing/2014/main" id="{5BCB8175-C467-0B04-B004-47252C8E68C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5" name="Picture 4">
            <a:extLst>
              <a:ext uri="{FF2B5EF4-FFF2-40B4-BE49-F238E27FC236}">
                <a16:creationId xmlns:a16="http://schemas.microsoft.com/office/drawing/2014/main" id="{050BF294-5C31-F69F-426C-BF45033D4DF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3268800638"/>
      </p:ext>
    </p:extLst>
  </p:cSld>
  <p:clrMapOvr>
    <a:masterClrMapping/>
  </p:clrMapOvr>
  <p:transition>
    <p:fad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2" name="Picture 1">
            <a:extLst>
              <a:ext uri="{FF2B5EF4-FFF2-40B4-BE49-F238E27FC236}">
                <a16:creationId xmlns:a16="http://schemas.microsoft.com/office/drawing/2014/main" id="{9913732D-80FD-BC4D-437C-614EF3BEBF7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48775618"/>
      </p:ext>
    </p:extLst>
  </p:cSld>
  <p:clrMapOvr>
    <a:masterClrMapping/>
  </p:clrMapOvr>
  <p:transition>
    <p:fad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p>
        </p:txBody>
      </p:sp>
      <p:pic>
        <p:nvPicPr>
          <p:cNvPr id="3" name="Picture 2">
            <a:extLst>
              <a:ext uri="{FF2B5EF4-FFF2-40B4-BE49-F238E27FC236}">
                <a16:creationId xmlns:a16="http://schemas.microsoft.com/office/drawing/2014/main" id="{31CF98FE-74F2-7A89-9D1B-2E3424F331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775513323"/>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2125570879"/>
      </p:ext>
    </p:extLst>
  </p:cSld>
  <p:clrMapOvr>
    <a:masterClrMapping/>
  </p:clrMapOvr>
  <p:transition>
    <p:fad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 Glow">
    <p:bg bwMode="gray">
      <p:bgPr>
        <a:solidFill>
          <a:schemeClr val="tx1"/>
        </a:solidFill>
        <a:effectLst/>
      </p:bgPr>
    </p:bg>
    <p:spTree>
      <p:nvGrpSpPr>
        <p:cNvPr id="1" name=""/>
        <p:cNvGrpSpPr/>
        <p:nvPr/>
      </p:nvGrpSpPr>
      <p:grpSpPr>
        <a:xfrm>
          <a:off x="0" y="0"/>
          <a:ext cx="0" cy="0"/>
          <a:chOff x="0" y="0"/>
          <a:chExt cx="0" cy="0"/>
        </a:xfrm>
      </p:grpSpPr>
      <p:pic>
        <p:nvPicPr>
          <p:cNvPr id="2" name="Picture 1" descr="A green circle on a green background&#10;&#10;AI-generated content may be incorrect.">
            <a:extLst>
              <a:ext uri="{FF2B5EF4-FFF2-40B4-BE49-F238E27FC236}">
                <a16:creationId xmlns:a16="http://schemas.microsoft.com/office/drawing/2014/main" id="{0612E835-F4A9-E28C-C385-D7BF39346F52}"/>
              </a:ext>
            </a:extLst>
          </p:cNvPr>
          <p:cNvPicPr>
            <a:picLocks noChangeAspect="1"/>
          </p:cNvPicPr>
          <p:nvPr userDrawn="1"/>
        </p:nvPicPr>
        <p:blipFill>
          <a:blip r:embed="rId3"/>
          <a:stretch>
            <a:fillRect/>
          </a:stretch>
        </p:blipFill>
        <p:spPr>
          <a:xfrm>
            <a:off x="762" y="428"/>
            <a:ext cx="12190476" cy="6857143"/>
          </a:xfrm>
          <a:prstGeom prst="rect">
            <a:avLst/>
          </a:prstGeom>
        </p:spPr>
      </p:pic>
      <p:pic>
        <p:nvPicPr>
          <p:cNvPr id="4" name="Picture 3" descr="A green circle on a green background&#10;&#10;AI-generated content may be incorrect.">
            <a:extLst>
              <a:ext uri="{FF2B5EF4-FFF2-40B4-BE49-F238E27FC236}">
                <a16:creationId xmlns:a16="http://schemas.microsoft.com/office/drawing/2014/main" id="{45E3228C-6488-D962-AD57-9F2A5C5896EE}"/>
              </a:ext>
            </a:extLst>
          </p:cNvPr>
          <p:cNvPicPr>
            <a:picLocks noChangeAspect="1"/>
          </p:cNvPicPr>
          <p:nvPr/>
        </p:nvPicPr>
        <p:blipFill>
          <a:blip r:embed="rId3"/>
          <a:stretch>
            <a:fillRect/>
          </a:stretch>
        </p:blipFill>
        <p:spPr>
          <a:xfrm>
            <a:off x="762" y="428"/>
            <a:ext cx="12190476" cy="6857143"/>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CaseCode">
            <a:extLst>
              <a:ext uri="{FF2B5EF4-FFF2-40B4-BE49-F238E27FC236}">
                <a16:creationId xmlns:a16="http://schemas.microsoft.com/office/drawing/2014/main" id="{731E6BB5-C9D1-E35B-D6D9-245F1063E86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B5B05F3-7BE5-74BC-C267-D563E5B2A301}"/>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0182C802-4131-8DA8-7683-E68E2E309BA0}"/>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9" name="Text Placeholder 2">
            <a:extLst>
              <a:ext uri="{FF2B5EF4-FFF2-40B4-BE49-F238E27FC236}">
                <a16:creationId xmlns:a16="http://schemas.microsoft.com/office/drawing/2014/main" id="{32671CB7-EA0F-58E4-4174-1D1922A3AB24}"/>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text</a:t>
            </a:r>
          </a:p>
        </p:txBody>
      </p:sp>
      <p:sp>
        <p:nvSpPr>
          <p:cNvPr id="3" name="CaseCode">
            <a:extLst>
              <a:ext uri="{FF2B5EF4-FFF2-40B4-BE49-F238E27FC236}">
                <a16:creationId xmlns:a16="http://schemas.microsoft.com/office/drawing/2014/main" id="{0A4EC9DF-8A5A-81C7-A2F0-1416E458E773}"/>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Copyright">
            <a:extLst>
              <a:ext uri="{FF2B5EF4-FFF2-40B4-BE49-F238E27FC236}">
                <a16:creationId xmlns:a16="http://schemas.microsoft.com/office/drawing/2014/main" id="{76A3C83B-1E93-24DD-B4CF-4F673E59352B}"/>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8A4CDE2B-37F4-6423-B520-C4665B2B512F}"/>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57614247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 United">
    <p:bg bwMode="gray">
      <p:bgPr>
        <a:solidFill>
          <a:schemeClr val="tx1"/>
        </a:solidFill>
        <a:effectLst/>
      </p:bgPr>
    </p:bg>
    <p:spTree>
      <p:nvGrpSpPr>
        <p:cNvPr id="1" name=""/>
        <p:cNvGrpSpPr/>
        <p:nvPr/>
      </p:nvGrpSpPr>
      <p:grpSpPr>
        <a:xfrm>
          <a:off x="0" y="0"/>
          <a:ext cx="0" cy="0"/>
          <a:chOff x="0" y="0"/>
          <a:chExt cx="0" cy="0"/>
        </a:xfrm>
      </p:grpSpPr>
      <p:pic>
        <p:nvPicPr>
          <p:cNvPr id="2" name="Picture 1" descr="A circle of small green and blue dots&#10;&#10;Description automatically generated">
            <a:extLst>
              <a:ext uri="{FF2B5EF4-FFF2-40B4-BE49-F238E27FC236}">
                <a16:creationId xmlns:a16="http://schemas.microsoft.com/office/drawing/2014/main" id="{56245C15-57A3-6DF3-1754-20E77EB5CAD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text</a:t>
            </a:r>
          </a:p>
        </p:txBody>
      </p:sp>
      <p:pic>
        <p:nvPicPr>
          <p:cNvPr id="3" name="Picture 2" descr="A circle of small green and blue dots&#10;&#10;Description automatically generated">
            <a:extLst>
              <a:ext uri="{FF2B5EF4-FFF2-40B4-BE49-F238E27FC236}">
                <a16:creationId xmlns:a16="http://schemas.microsoft.com/office/drawing/2014/main" id="{BE3412DA-AF8A-F83F-A01C-B4141E94FDB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spTree>
    <p:extLst>
      <p:ext uri="{BB962C8B-B14F-4D97-AF65-F5344CB8AC3E}">
        <p14:creationId xmlns:p14="http://schemas.microsoft.com/office/powerpoint/2010/main" val="124349390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Divider - Pale Green">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accent4"/>
                </a:solidFill>
                <a:latin typeface="Aptos" panose="020B0004020202020204" pitchFamily="34" charset="0"/>
                <a:cs typeface="Calibri" panose="020F0502020204030204" pitchFamily="34" charset="0"/>
              </a:rPr>
              <a:t>Presentation title</a:t>
            </a:r>
            <a:br>
              <a:rPr lang="en-US" sz="800" noProof="0">
                <a:solidFill>
                  <a:schemeClr val="accent4"/>
                </a:solidFill>
                <a:latin typeface="Aptos" panose="020B0004020202020204" pitchFamily="34" charset="0"/>
                <a:cs typeface="Calibri" panose="020F0502020204030204" pitchFamily="34" charset="0"/>
              </a:rPr>
            </a:br>
            <a:r>
              <a:rPr lang="en-US" sz="800" noProof="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a:solidFill>
                  <a:schemeClr val="accent4"/>
                </a:solidFill>
                <a:latin typeface="Aptos" panose="020B0004020202020204" pitchFamily="34" charset="0"/>
                <a:cs typeface="Calibri" panose="020F0502020204030204" pitchFamily="34" charset="0"/>
              </a:rPr>
            </a:br>
            <a:r>
              <a:rPr lang="en-US" sz="800" noProof="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27237997-F2A9-D664-587D-4BF3816A0DA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20959777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Member firms and DTTL: Insert appropriate copyright</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12CD58D-2BFB-3387-A814-C06828E88CA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84371416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Member firms and DTTL: Insert appropriate copyright</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26288D3C-20C4-200E-7A39-8253F3E6AD58}"/>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321626210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 Deloitte Deep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7582AB9-92F7-B2E5-BF9C-744E1F477FC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291041564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2FC75865-6F76-C54E-DF22-E2B4689596A8}"/>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4D8129D5-9039-E8B3-5F13-E4574BC308F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A0CBBC4D-3C0B-94BF-1ABE-F74D334FD22C}"/>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559336F-A28E-132F-AE15-43D8D49F242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
        <p:nvSpPr>
          <p:cNvPr id="2" name="CaseCode">
            <a:extLst>
              <a:ext uri="{FF2B5EF4-FFF2-40B4-BE49-F238E27FC236}">
                <a16:creationId xmlns:a16="http://schemas.microsoft.com/office/drawing/2014/main" id="{ED522F1A-76ED-9748-3E86-16A48ACAC575}"/>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8BCC36DE-11BE-ACD5-8C25-3380E547E1BC}"/>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826A064D-8615-4934-CF57-1312C16D8F95}"/>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471795905"/>
      </p:ext>
    </p:extLst>
  </p:cSld>
  <p:clrMapOvr>
    <a:masterClrMapping/>
  </p:clrMapOvr>
  <p:transition>
    <p:fade/>
  </p:transition>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accent4"/>
                </a:solidFill>
                <a:latin typeface="Aptos" panose="020B0004020202020204" pitchFamily="34" charset="0"/>
                <a:cs typeface="Calibri" panose="020F0502020204030204" pitchFamily="34" charset="0"/>
              </a:rPr>
              <a:t>Presentation title</a:t>
            </a:r>
            <a:br>
              <a:rPr lang="en-US" sz="800" noProof="0">
                <a:solidFill>
                  <a:schemeClr val="accent4"/>
                </a:solidFill>
                <a:latin typeface="Aptos" panose="020B0004020202020204" pitchFamily="34" charset="0"/>
                <a:cs typeface="Calibri" panose="020F0502020204030204" pitchFamily="34" charset="0"/>
              </a:rPr>
            </a:br>
            <a:r>
              <a:rPr lang="en-US" sz="800" noProof="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a:solidFill>
                  <a:schemeClr val="accent4"/>
                </a:solidFill>
                <a:latin typeface="Aptos" panose="020B0004020202020204" pitchFamily="34" charset="0"/>
                <a:cs typeface="Calibri" panose="020F0502020204030204" pitchFamily="34" charset="0"/>
              </a:rPr>
            </a:br>
            <a:r>
              <a:rPr lang="en-US" sz="800" noProof="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61F4FDF0-825B-9D05-FCBA-CD50EF6CC824}"/>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247629517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107098377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 Full-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 name="Title 1">
            <a:extLst>
              <a:ext uri="{FF2B5EF4-FFF2-40B4-BE49-F238E27FC236}">
                <a16:creationId xmlns:a16="http://schemas.microsoft.com/office/drawing/2014/main" id="{AEE1843C-9C47-5853-9CCF-75A6755EA090}"/>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a:t>Click to add text</a:t>
            </a:r>
          </a:p>
        </p:txBody>
      </p:sp>
    </p:spTree>
    <p:extLst>
      <p:ext uri="{BB962C8B-B14F-4D97-AF65-F5344CB8AC3E}">
        <p14:creationId xmlns:p14="http://schemas.microsoft.com/office/powerpoint/2010/main" val="2374225893"/>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711191353"/>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1303670467"/>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1782479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2112974177"/>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46551886"/>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3092734165"/>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540467378"/>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Tree>
    <p:extLst>
      <p:ext uri="{BB962C8B-B14F-4D97-AF65-F5344CB8AC3E}">
        <p14:creationId xmlns:p14="http://schemas.microsoft.com/office/powerpoint/2010/main" val="1188281788"/>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a:t>Click to add text</a:t>
            </a:r>
          </a:p>
        </p:txBody>
      </p:sp>
      <p:pic>
        <p:nvPicPr>
          <p:cNvPr id="4" name="Picture 3">
            <a:extLst>
              <a:ext uri="{FF2B5EF4-FFF2-40B4-BE49-F238E27FC236}">
                <a16:creationId xmlns:a16="http://schemas.microsoft.com/office/drawing/2014/main" id="{62807C35-870E-BE5C-3063-D65F3CF32E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203F6F65-0FAE-13C5-4935-4F5D23290CA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B5567C3E-3181-DBCE-56F9-25416E46986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FB50732A-3DE1-9BA2-E38D-3560C50CEFA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3252957544"/>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 Light Gray">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278140349"/>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title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065149632"/>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title, 1 column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58115815"/>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2 columns - Light Gray">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89427996"/>
      </p:ext>
    </p:extLst>
  </p:cSld>
  <p:clrMapOvr>
    <a:masterClrMapping/>
  </p:clrMapOvr>
  <p:transition>
    <p:fade/>
  </p:transition>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3 columns - Light Gray">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16093857"/>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4 columns - Light Gray">
    <p:bg>
      <p:bgPr>
        <a:solidFill>
          <a:schemeClr val="bg2"/>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320630551"/>
      </p:ext>
    </p:extLst>
  </p:cSld>
  <p:clrMapOvr>
    <a:masterClrMapping/>
  </p:clrMapOvr>
  <p:transition>
    <p:fade/>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am profile - Light Gray">
    <p:bg>
      <p:bgPr>
        <a:solidFill>
          <a:schemeClr val="bg2"/>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32591653"/>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alifications 2 x 1 - Light Gray">
    <p:bg>
      <p:bgPr>
        <a:solidFill>
          <a:schemeClr val="bg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96914466"/>
      </p:ext>
    </p:extLst>
  </p:cSld>
  <p:clrMapOvr>
    <a:masterClrMapping/>
  </p:clrMapOvr>
  <p:transition>
    <p:fade/>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 Pale Green">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63339171"/>
      </p:ext>
    </p:extLst>
  </p:cSld>
  <p:clrMapOvr>
    <a:masterClrMapping/>
  </p:clrMapOvr>
  <p:transition>
    <p:fade/>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title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32568280"/>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1 column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136727070"/>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ubtitle, 2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535402337"/>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3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257648513"/>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4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02867221"/>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am profile - Pale Green">
    <p:bg>
      <p:bgPr>
        <a:solidFill>
          <a:schemeClr val="accent6"/>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07086694"/>
      </p:ext>
    </p:extLst>
  </p:cSld>
  <p:clrMapOvr>
    <a:masterClrMapping/>
  </p:clrMapOvr>
  <p:transition>
    <p:fade/>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alifications 2 x 1 - Pale Green">
    <p:bg>
      <p:bgPr>
        <a:solidFill>
          <a:schemeClr val="accent6"/>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subtitle</a:t>
            </a:r>
            <a:endParaRPr kumimoji="0" lang="en-US" sz="900" b="1" i="0" u="none" strike="noStrike" kern="1200" cap="none" spc="30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59264808"/>
      </p:ext>
    </p:extLst>
  </p:cSld>
  <p:clrMapOvr>
    <a:masterClrMapping/>
  </p:clrMapOvr>
  <p:transition>
    <p:fade/>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38251391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2758844420"/>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7200" y="1677579"/>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Tree>
    <p:extLst>
      <p:ext uri="{BB962C8B-B14F-4D97-AF65-F5344CB8AC3E}">
        <p14:creationId xmlns:p14="http://schemas.microsoft.com/office/powerpoint/2010/main" val="3762140600"/>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55469370"/>
      </p:ext>
    </p:extLst>
  </p:cSld>
  <p:clrMapOvr>
    <a:masterClrMapping/>
  </p:clrMapOvr>
  <p:transition>
    <p:fade/>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27048"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88649007"/>
      </p:ext>
    </p:extLst>
  </p:cSld>
  <p:clrMapOvr>
    <a:masterClrMapping/>
  </p:clrMapOvr>
  <p:transition>
    <p:fade/>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2232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8744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86482776"/>
      </p:ext>
    </p:extLst>
  </p:cSld>
  <p:clrMapOvr>
    <a:masterClrMapping/>
  </p:clrMapOvr>
  <p:transition>
    <p:fade/>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Tree>
    <p:extLst>
      <p:ext uri="{BB962C8B-B14F-4D97-AF65-F5344CB8AC3E}">
        <p14:creationId xmlns:p14="http://schemas.microsoft.com/office/powerpoint/2010/main" val="1831862531"/>
      </p:ext>
    </p:extLst>
  </p:cSld>
  <p:clrMapOvr>
    <a:masterClrMapping/>
  </p:clrMapOvr>
  <p:transition>
    <p:fade/>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
        <p:nvSpPr>
          <p:cNvPr id="15" name="Rectangle 14">
            <a:extLst>
              <a:ext uri="{FF2B5EF4-FFF2-40B4-BE49-F238E27FC236}">
                <a16:creationId xmlns:a16="http://schemas.microsoft.com/office/drawing/2014/main" id="{16E79773-3B23-90E9-4D48-A5FDB54800E7}"/>
              </a:ext>
            </a:extLst>
          </p:cNvPr>
          <p:cNvSpPr/>
          <p:nvPr/>
        </p:nvSpPr>
        <p:spPr>
          <a:xfrm>
            <a:off x="6245352"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a:p>
        </p:txBody>
      </p:sp>
    </p:spTree>
    <p:extLst>
      <p:ext uri="{BB962C8B-B14F-4D97-AF65-F5344CB8AC3E}">
        <p14:creationId xmlns:p14="http://schemas.microsoft.com/office/powerpoint/2010/main" val="2979340831"/>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a:t>Click to add text</a:t>
            </a:r>
          </a:p>
        </p:txBody>
      </p:sp>
      <p:pic>
        <p:nvPicPr>
          <p:cNvPr id="4" name="Picture 3">
            <a:extLst>
              <a:ext uri="{FF2B5EF4-FFF2-40B4-BE49-F238E27FC236}">
                <a16:creationId xmlns:a16="http://schemas.microsoft.com/office/drawing/2014/main" id="{94ADCC45-3C19-3948-0E04-7130E1BB7E8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18165AAD-CB29-40C9-DDB6-76BBE0FFB5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7413067E-6C35-538A-0F4D-694ED96021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1730800F-FAB6-D47D-41C2-29C4D5E9294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165235614"/>
      </p:ext>
    </p:extLst>
  </p:cSld>
  <p:clrMapOvr>
    <a:masterClrMapping/>
  </p:clrMapOvr>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image" Target="../media/image1.emf"/><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9"/>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60" imgW="270" imgH="270" progId="TCLayout.ActiveDocument.1">
                  <p:embed/>
                </p:oleObj>
              </mc:Choice>
              <mc:Fallback>
                <p:oleObj name="think-cell Slide" r:id="rId60" imgW="270" imgH="270" progId="TCLayout.ActiveDocument.1">
                  <p:embed/>
                  <p:pic>
                    <p:nvPicPr>
                      <p:cNvPr id="4" name="Object 3" hidden="1"/>
                      <p:cNvPicPr/>
                      <p:nvPr/>
                    </p:nvPicPr>
                    <p:blipFill>
                      <a:blip r:embed="rId61"/>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p>
        </p:txBody>
      </p:sp>
      <p:sp>
        <p:nvSpPr>
          <p:cNvPr id="15" name="CaseCode"/>
          <p:cNvSpPr txBox="1"/>
          <p:nvPr/>
        </p:nvSpPr>
        <p:spPr>
          <a:xfrm>
            <a:off x="6335184" y="6519672"/>
            <a:ext cx="4896560" cy="246221"/>
          </a:xfrm>
          <a:prstGeom prst="rect">
            <a:avLst/>
          </a:prstGeom>
          <a:noFill/>
        </p:spPr>
        <p:txBody>
          <a:bodyPr wrap="square" lIns="0" tIns="0" rIns="0" bIns="0" rtlCol="0">
            <a:spAutoFit/>
          </a:bodyPr>
          <a:lstStyle/>
          <a:p>
            <a:pPr algn="r"/>
            <a:r>
              <a:rPr sz="750">
                <a:solidFill>
                  <a:srgbClr val="53565A"/>
                </a:solidFill>
                <a:latin typeface="Aptos"/>
              </a:rPr>
              <a:t>Zone 2 One-Time Loads — Design &amp; Restart Challenges</a:t>
            </a:r>
          </a:p>
        </p:txBody>
      </p:sp>
      <p:sp>
        <p:nvSpPr>
          <p:cNvPr id="18" name="Copyright"/>
          <p:cNvSpPr txBox="1"/>
          <p:nvPr/>
        </p:nvSpPr>
        <p:spPr>
          <a:xfrm>
            <a:off x="457200" y="6519672"/>
            <a:ext cx="5355168" cy="246221"/>
          </a:xfrm>
          <a:prstGeom prst="rect">
            <a:avLst/>
          </a:prstGeom>
          <a:noFill/>
        </p:spPr>
        <p:txBody>
          <a:bodyPr wrap="square" lIns="0" tIns="0" rIns="0" bIns="0" rtlCol="0">
            <a:spAutoFit/>
          </a:bodyPr>
          <a:lstStyle/>
          <a:p>
            <a:pPr algn="l"/>
            <a:r>
              <a:rPr sz="750">
                <a:solidFill>
                  <a:srgbClr val="53565A"/>
                </a:solidFill>
                <a:latin typeface="Aptos"/>
              </a:rPr>
              <a:t>Copyright © 2026 Deloitte Development LLC. All rights reserved.</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rgbClr val="75787B"/>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83617170"/>
      </p:ext>
    </p:extLst>
  </p:cSld>
  <p:clrMap bg1="lt1" tx1="dk1" bg2="lt2" tx2="dk2" accent1="accent1" accent2="accent2" accent3="accent3" accent4="accent4" accent5="accent5" accent6="accent6" hlink="hlink" folHlink="folHlink"/>
  <p:sldLayoutIdLst>
    <p:sldLayoutId id="2147484411" r:id="rId1"/>
    <p:sldLayoutId id="2147484412" r:id="rId2"/>
    <p:sldLayoutId id="2147484413" r:id="rId3"/>
    <p:sldLayoutId id="2147484414" r:id="rId4"/>
    <p:sldLayoutId id="2147484415" r:id="rId5"/>
    <p:sldLayoutId id="2147484416" r:id="rId6"/>
    <p:sldLayoutId id="2147484417" r:id="rId7"/>
    <p:sldLayoutId id="2147484418" r:id="rId8"/>
    <p:sldLayoutId id="2147484419" r:id="rId9"/>
    <p:sldLayoutId id="2147484420" r:id="rId10"/>
    <p:sldLayoutId id="2147484421" r:id="rId11"/>
    <p:sldLayoutId id="2147484422" r:id="rId12"/>
    <p:sldLayoutId id="2147484423" r:id="rId13"/>
    <p:sldLayoutId id="2147484424" r:id="rId14"/>
    <p:sldLayoutId id="2147484425" r:id="rId15"/>
    <p:sldLayoutId id="2147484426" r:id="rId16"/>
    <p:sldLayoutId id="2147484427" r:id="rId17"/>
    <p:sldLayoutId id="2147484428" r:id="rId18"/>
    <p:sldLayoutId id="2147484429" r:id="rId19"/>
    <p:sldLayoutId id="2147484430" r:id="rId20"/>
    <p:sldLayoutId id="2147484431" r:id="rId21"/>
    <p:sldLayoutId id="2147484432" r:id="rId22"/>
    <p:sldLayoutId id="2147484433" r:id="rId23"/>
    <p:sldLayoutId id="2147484434" r:id="rId24"/>
    <p:sldLayoutId id="2147484435" r:id="rId25"/>
    <p:sldLayoutId id="2147484436" r:id="rId26"/>
    <p:sldLayoutId id="2147484437" r:id="rId27"/>
    <p:sldLayoutId id="2147484438" r:id="rId28"/>
    <p:sldLayoutId id="2147484439" r:id="rId29"/>
    <p:sldLayoutId id="2147484440" r:id="rId30"/>
    <p:sldLayoutId id="2147484441" r:id="rId31"/>
    <p:sldLayoutId id="2147484442" r:id="rId32"/>
    <p:sldLayoutId id="2147484443" r:id="rId33"/>
    <p:sldLayoutId id="2147484444" r:id="rId34"/>
    <p:sldLayoutId id="2147484445" r:id="rId35"/>
    <p:sldLayoutId id="2147484446" r:id="rId36"/>
    <p:sldLayoutId id="2147484447" r:id="rId37"/>
    <p:sldLayoutId id="2147484448" r:id="rId38"/>
    <p:sldLayoutId id="2147484449" r:id="rId39"/>
    <p:sldLayoutId id="2147484450" r:id="rId40"/>
    <p:sldLayoutId id="2147484460" r:id="rId41"/>
    <p:sldLayoutId id="2147484461" r:id="rId42"/>
    <p:sldLayoutId id="2147484462" r:id="rId43"/>
    <p:sldLayoutId id="2147484463" r:id="rId44"/>
    <p:sldLayoutId id="2147484464" r:id="rId45"/>
    <p:sldLayoutId id="2147484465" r:id="rId46"/>
    <p:sldLayoutId id="2147484466" r:id="rId47"/>
    <p:sldLayoutId id="2147484467" r:id="rId48"/>
    <p:sldLayoutId id="2147484451" r:id="rId49"/>
    <p:sldLayoutId id="2147484452" r:id="rId50"/>
    <p:sldLayoutId id="2147484453" r:id="rId51"/>
    <p:sldLayoutId id="2147484454" r:id="rId52"/>
    <p:sldLayoutId id="2147484455" r:id="rId53"/>
    <p:sldLayoutId id="2147484456" r:id="rId54"/>
    <p:sldLayoutId id="2147484457" r:id="rId55"/>
    <p:sldLayoutId id="2147484458" r:id="rId56"/>
    <p:sldLayoutId id="2147484459" r:id="rId57"/>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95" pos="3936" userDrawn="1">
          <p15:clr>
            <a:srgbClr val="F26B43"/>
          </p15:clr>
        </p15:guide>
        <p15:guide id="96" orient="horz" pos="4008" userDrawn="1">
          <p15:clr>
            <a:srgbClr val="F26B43"/>
          </p15:clr>
        </p15:guide>
        <p15:guide id="97" orient="horz" pos="4104" userDrawn="1">
          <p15:clr>
            <a:srgbClr val="F26B43"/>
          </p15:clr>
        </p15:guide>
        <p15:guide id="98" orient="horz" pos="1056" userDrawn="1">
          <p15:clr>
            <a:srgbClr val="F26B43"/>
          </p15:clr>
        </p15:guide>
        <p15:guide id="99" pos="3840" userDrawn="1">
          <p15:clr>
            <a:srgbClr val="F26B43"/>
          </p15:clr>
        </p15:guide>
        <p15:guide id="100" pos="7392" userDrawn="1">
          <p15:clr>
            <a:srgbClr val="F26B43"/>
          </p15:clr>
        </p15:guide>
        <p15:guide id="101" orient="horz" pos="216" userDrawn="1">
          <p15:clr>
            <a:srgbClr val="F26B43"/>
          </p15:clr>
        </p15:guide>
        <p15:guide id="102" orient="horz" pos="432" userDrawn="1">
          <p15:clr>
            <a:srgbClr val="F26B43"/>
          </p15:clr>
        </p15:guide>
        <p15:guide id="103" pos="288" userDrawn="1">
          <p15:clr>
            <a:srgbClr val="F26B43"/>
          </p15:clr>
        </p15:guide>
        <p15:guide id="104" pos="37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7911" y="3231078"/>
            <a:ext cx="7969852" cy="895983"/>
          </a:xfrm>
        </p:spPr>
        <p:txBody>
          <a:bodyPr/>
          <a:lstStyle/>
          <a:p>
            <a:r>
              <a:rPr sz="4000">
                <a:latin typeface="Aptos"/>
                <a:ea typeface="Open Sans"/>
                <a:cs typeface="Calibri Light"/>
              </a:rPr>
              <a:t>Zone 2 One-Time Loads</a:t>
            </a:r>
            <a:endParaRPr lang="en-US" sz="4000">
              <a:latin typeface="Aptos"/>
              <a:ea typeface="Open Sans"/>
              <a:cs typeface="Calibri Light"/>
            </a:endParaRPr>
          </a:p>
        </p:txBody>
      </p:sp>
      <p:sp>
        <p:nvSpPr>
          <p:cNvPr id="3" name="Text Placeholder 2"/>
          <p:cNvSpPr>
            <a:spLocks noGrp="1"/>
          </p:cNvSpPr>
          <p:nvPr>
            <p:ph type="body" sz="quarter" idx="10"/>
          </p:nvPr>
        </p:nvSpPr>
        <p:spPr>
          <a:xfrm>
            <a:off x="727913" y="4129979"/>
            <a:ext cx="12331298" cy="671290"/>
          </a:xfrm>
        </p:spPr>
        <p:txBody>
          <a:bodyPr/>
          <a:lstStyle/>
          <a:p>
            <a:r>
              <a:rPr lang="en-US" sz="2800">
                <a:latin typeface="Aptos"/>
                <a:cs typeface="Calibri"/>
              </a:rPr>
              <a:t>History, Catchup &amp; First-Time</a:t>
            </a:r>
            <a:r>
              <a:rPr sz="2800">
                <a:latin typeface="Aptos"/>
                <a:cs typeface="Calibri"/>
              </a:rPr>
              <a:t> Incremental Design  |  September 2026</a:t>
            </a:r>
            <a:endParaRPr lang="en-US" sz="2800">
              <a:latin typeface="Aptos"/>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Rounded Rectangle 2"/>
          <p:cNvSpPr/>
          <p:nvPr/>
        </p:nvSpPr>
        <p:spPr>
          <a:xfrm>
            <a:off x="457200" y="1508760"/>
            <a:ext cx="11274552" cy="786384"/>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508760"/>
            <a:ext cx="73152" cy="78638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59" y="1673352"/>
            <a:ext cx="457200" cy="457200"/>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Aptos"/>
              </a:rPr>
              <a:t>1</a:t>
            </a:r>
          </a:p>
        </p:txBody>
      </p:sp>
      <p:sp>
        <p:nvSpPr>
          <p:cNvPr id="6" name="TextBox 5"/>
          <p:cNvSpPr txBox="1"/>
          <p:nvPr/>
        </p:nvSpPr>
        <p:spPr>
          <a:xfrm>
            <a:off x="1508760" y="1600200"/>
            <a:ext cx="9966960" cy="292608"/>
          </a:xfrm>
          <a:prstGeom prst="rect">
            <a:avLst/>
          </a:prstGeom>
          <a:noFill/>
        </p:spPr>
        <p:txBody>
          <a:bodyPr wrap="square" anchor="t">
            <a:spAutoFit/>
          </a:bodyPr>
          <a:lstStyle/>
          <a:p>
            <a:pPr algn="l"/>
            <a:r>
              <a:rPr sz="1300" b="1" i="0">
                <a:solidFill>
                  <a:srgbClr val="282728"/>
                </a:solidFill>
                <a:latin typeface="Aptos"/>
              </a:rPr>
              <a:t>Design Approach</a:t>
            </a:r>
          </a:p>
        </p:txBody>
      </p:sp>
      <p:sp>
        <p:nvSpPr>
          <p:cNvPr id="7" name="TextBox 6"/>
          <p:cNvSpPr txBox="1"/>
          <p:nvPr/>
        </p:nvSpPr>
        <p:spPr>
          <a:xfrm>
            <a:off x="1508760" y="1892807"/>
            <a:ext cx="9966960" cy="347472"/>
          </a:xfrm>
          <a:prstGeom prst="rect">
            <a:avLst/>
          </a:prstGeom>
          <a:noFill/>
        </p:spPr>
        <p:txBody>
          <a:bodyPr wrap="square" anchor="t">
            <a:spAutoFit/>
          </a:bodyPr>
          <a:lstStyle/>
          <a:p>
            <a:pPr algn="l"/>
            <a:r>
              <a:rPr sz="1000" b="0" i="0">
                <a:solidFill>
                  <a:srgbClr val="53565A"/>
                </a:solidFill>
                <a:latin typeface="Aptos"/>
              </a:rPr>
              <a:t>Standard flow, and how Historical, Catchup &amp; First-Time Incremental loads each vary from it</a:t>
            </a:r>
          </a:p>
        </p:txBody>
      </p:sp>
      <p:sp>
        <p:nvSpPr>
          <p:cNvPr id="8" name="Rounded Rectangle 7"/>
          <p:cNvSpPr/>
          <p:nvPr/>
        </p:nvSpPr>
        <p:spPr>
          <a:xfrm>
            <a:off x="457200" y="2404872"/>
            <a:ext cx="11274552" cy="786384"/>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2404872"/>
            <a:ext cx="73152" cy="78638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22959" y="2569464"/>
            <a:ext cx="457200" cy="457200"/>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Aptos"/>
              </a:rPr>
              <a:t>2</a:t>
            </a:r>
          </a:p>
        </p:txBody>
      </p:sp>
      <p:sp>
        <p:nvSpPr>
          <p:cNvPr id="11" name="TextBox 10"/>
          <p:cNvSpPr txBox="1"/>
          <p:nvPr/>
        </p:nvSpPr>
        <p:spPr>
          <a:xfrm>
            <a:off x="1508760" y="2496312"/>
            <a:ext cx="9966960" cy="292608"/>
          </a:xfrm>
          <a:prstGeom prst="rect">
            <a:avLst/>
          </a:prstGeom>
          <a:noFill/>
        </p:spPr>
        <p:txBody>
          <a:bodyPr wrap="square" anchor="t">
            <a:spAutoFit/>
          </a:bodyPr>
          <a:lstStyle/>
          <a:p>
            <a:pPr algn="l"/>
            <a:r>
              <a:rPr sz="1300" b="1" i="0">
                <a:solidFill>
                  <a:srgbClr val="282728"/>
                </a:solidFill>
                <a:latin typeface="Aptos"/>
              </a:rPr>
              <a:t>Side-by-Side Comparison</a:t>
            </a:r>
          </a:p>
        </p:txBody>
      </p:sp>
      <p:sp>
        <p:nvSpPr>
          <p:cNvPr id="12" name="TextBox 11"/>
          <p:cNvSpPr txBox="1"/>
          <p:nvPr/>
        </p:nvSpPr>
        <p:spPr>
          <a:xfrm>
            <a:off x="1508760" y="2788920"/>
            <a:ext cx="9966960" cy="347472"/>
          </a:xfrm>
          <a:prstGeom prst="rect">
            <a:avLst/>
          </a:prstGeom>
          <a:noFill/>
        </p:spPr>
        <p:txBody>
          <a:bodyPr wrap="square" anchor="t">
            <a:spAutoFit/>
          </a:bodyPr>
          <a:lstStyle/>
          <a:p>
            <a:pPr algn="l"/>
            <a:r>
              <a:rPr sz="1000" b="0" i="0">
                <a:solidFill>
                  <a:srgbClr val="53565A"/>
                </a:solidFill>
                <a:latin typeface="Aptos"/>
              </a:rPr>
              <a:t>Rerun indicators, windowing logic, and batch/job ID behavior across the three load types</a:t>
            </a:r>
          </a:p>
        </p:txBody>
      </p:sp>
      <p:sp>
        <p:nvSpPr>
          <p:cNvPr id="13" name="Rounded Rectangle 12"/>
          <p:cNvSpPr/>
          <p:nvPr/>
        </p:nvSpPr>
        <p:spPr>
          <a:xfrm>
            <a:off x="457200" y="3300984"/>
            <a:ext cx="11274552" cy="786384"/>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300984"/>
            <a:ext cx="73152" cy="78638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2959" y="3465576"/>
            <a:ext cx="457200" cy="457200"/>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Aptos"/>
              </a:rPr>
              <a:t>3</a:t>
            </a:r>
          </a:p>
        </p:txBody>
      </p:sp>
      <p:sp>
        <p:nvSpPr>
          <p:cNvPr id="16" name="TextBox 15"/>
          <p:cNvSpPr txBox="1"/>
          <p:nvPr/>
        </p:nvSpPr>
        <p:spPr>
          <a:xfrm>
            <a:off x="1508760" y="3392424"/>
            <a:ext cx="9966960" cy="292608"/>
          </a:xfrm>
          <a:prstGeom prst="rect">
            <a:avLst/>
          </a:prstGeom>
          <a:noFill/>
        </p:spPr>
        <p:txBody>
          <a:bodyPr wrap="square" anchor="t">
            <a:spAutoFit/>
          </a:bodyPr>
          <a:lstStyle/>
          <a:p>
            <a:pPr algn="l"/>
            <a:r>
              <a:rPr sz="1300" b="1" i="0">
                <a:solidFill>
                  <a:srgbClr val="282728"/>
                </a:solidFill>
                <a:latin typeface="Aptos"/>
              </a:rPr>
              <a:t>Open Challenge: Restart Mechanism</a:t>
            </a:r>
          </a:p>
        </p:txBody>
      </p:sp>
      <p:sp>
        <p:nvSpPr>
          <p:cNvPr id="17" name="TextBox 16"/>
          <p:cNvSpPr txBox="1"/>
          <p:nvPr/>
        </p:nvSpPr>
        <p:spPr>
          <a:xfrm>
            <a:off x="1508760" y="3685032"/>
            <a:ext cx="9966960" cy="347472"/>
          </a:xfrm>
          <a:prstGeom prst="rect">
            <a:avLst/>
          </a:prstGeom>
          <a:noFill/>
        </p:spPr>
        <p:txBody>
          <a:bodyPr wrap="square" anchor="t">
            <a:spAutoFit/>
          </a:bodyPr>
          <a:lstStyle/>
          <a:p>
            <a:pPr algn="l"/>
            <a:r>
              <a:rPr sz="1000" b="0" i="0">
                <a:solidFill>
                  <a:srgbClr val="53565A"/>
                </a:solidFill>
                <a:latin typeface="Aptos"/>
              </a:rPr>
              <a:t>Why today's restart logic breaks down for one-time loads</a:t>
            </a:r>
          </a:p>
        </p:txBody>
      </p:sp>
      <p:sp>
        <p:nvSpPr>
          <p:cNvPr id="18" name="Rounded Rectangle 17"/>
          <p:cNvSpPr/>
          <p:nvPr/>
        </p:nvSpPr>
        <p:spPr>
          <a:xfrm>
            <a:off x="457200" y="4197096"/>
            <a:ext cx="11274552" cy="786384"/>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4197096"/>
            <a:ext cx="73152" cy="78638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2959" y="4361688"/>
            <a:ext cx="457200" cy="457200"/>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Aptos"/>
              </a:rPr>
              <a:t>4</a:t>
            </a:r>
          </a:p>
        </p:txBody>
      </p:sp>
      <p:sp>
        <p:nvSpPr>
          <p:cNvPr id="21" name="TextBox 20"/>
          <p:cNvSpPr txBox="1"/>
          <p:nvPr/>
        </p:nvSpPr>
        <p:spPr>
          <a:xfrm>
            <a:off x="1508760" y="4288536"/>
            <a:ext cx="9966960" cy="292608"/>
          </a:xfrm>
          <a:prstGeom prst="rect">
            <a:avLst/>
          </a:prstGeom>
          <a:noFill/>
        </p:spPr>
        <p:txBody>
          <a:bodyPr wrap="square" anchor="t">
            <a:spAutoFit/>
          </a:bodyPr>
          <a:lstStyle/>
          <a:p>
            <a:pPr algn="l"/>
            <a:r>
              <a:rPr sz="1300" b="1" i="0">
                <a:solidFill>
                  <a:srgbClr val="282728"/>
                </a:solidFill>
                <a:latin typeface="Aptos"/>
              </a:rPr>
              <a:t>Proposed Solutions</a:t>
            </a:r>
          </a:p>
        </p:txBody>
      </p:sp>
      <p:sp>
        <p:nvSpPr>
          <p:cNvPr id="22" name="TextBox 21"/>
          <p:cNvSpPr txBox="1"/>
          <p:nvPr/>
        </p:nvSpPr>
        <p:spPr>
          <a:xfrm>
            <a:off x="1508760" y="4581144"/>
            <a:ext cx="9966960" cy="347472"/>
          </a:xfrm>
          <a:prstGeom prst="rect">
            <a:avLst/>
          </a:prstGeom>
          <a:noFill/>
        </p:spPr>
        <p:txBody>
          <a:bodyPr wrap="square" anchor="t">
            <a:spAutoFit/>
          </a:bodyPr>
          <a:lstStyle/>
          <a:p>
            <a:pPr algn="l"/>
            <a:r>
              <a:rPr sz="1000" b="0" i="0">
                <a:solidFill>
                  <a:srgbClr val="53565A"/>
                </a:solidFill>
                <a:latin typeface="Aptos"/>
              </a:rPr>
              <a:t>Four options evaluated, with a recommended path forward</a:t>
            </a:r>
          </a:p>
        </p:txBody>
      </p:sp>
      <p:sp>
        <p:nvSpPr>
          <p:cNvPr id="23" name="Rounded Rectangle 22"/>
          <p:cNvSpPr/>
          <p:nvPr/>
        </p:nvSpPr>
        <p:spPr>
          <a:xfrm>
            <a:off x="457200" y="5093208"/>
            <a:ext cx="11274552" cy="786384"/>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5093208"/>
            <a:ext cx="73152" cy="78638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22959" y="5257800"/>
            <a:ext cx="457200" cy="457200"/>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Aptos"/>
              </a:rPr>
              <a:t>5</a:t>
            </a:r>
          </a:p>
        </p:txBody>
      </p:sp>
      <p:sp>
        <p:nvSpPr>
          <p:cNvPr id="26" name="TextBox 25"/>
          <p:cNvSpPr txBox="1"/>
          <p:nvPr/>
        </p:nvSpPr>
        <p:spPr>
          <a:xfrm>
            <a:off x="1508760" y="5184648"/>
            <a:ext cx="9966960" cy="292608"/>
          </a:xfrm>
          <a:prstGeom prst="rect">
            <a:avLst/>
          </a:prstGeom>
          <a:noFill/>
        </p:spPr>
        <p:txBody>
          <a:bodyPr wrap="square" anchor="t">
            <a:spAutoFit/>
          </a:bodyPr>
          <a:lstStyle/>
          <a:p>
            <a:pPr algn="l"/>
            <a:r>
              <a:rPr sz="1300" b="1" i="0">
                <a:solidFill>
                  <a:srgbClr val="282728"/>
                </a:solidFill>
                <a:latin typeface="Aptos"/>
              </a:rPr>
              <a:t>Open Questions &amp; Next Steps</a:t>
            </a:r>
          </a:p>
        </p:txBody>
      </p:sp>
      <p:sp>
        <p:nvSpPr>
          <p:cNvPr id="27" name="TextBox 26"/>
          <p:cNvSpPr txBox="1"/>
          <p:nvPr/>
        </p:nvSpPr>
        <p:spPr>
          <a:xfrm>
            <a:off x="1508760" y="5477256"/>
            <a:ext cx="9966960" cy="347472"/>
          </a:xfrm>
          <a:prstGeom prst="rect">
            <a:avLst/>
          </a:prstGeom>
          <a:noFill/>
        </p:spPr>
        <p:txBody>
          <a:bodyPr wrap="square" anchor="t">
            <a:spAutoFit/>
          </a:bodyPr>
          <a:lstStyle/>
          <a:p>
            <a:pPr algn="l"/>
            <a:r>
              <a:rPr sz="1000" b="0" i="0">
                <a:solidFill>
                  <a:srgbClr val="53565A"/>
                </a:solidFill>
                <a:latin typeface="Aptos"/>
              </a:rPr>
              <a:t>Outstanding items, status, and pending code changes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1</a:t>
            </a:r>
          </a:p>
          <a:p>
            <a:r>
              <a:t>Design Approach for One-Time Loads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 a Standard Automated Run, Four Steps Execute in Sequence</a:t>
            </a:r>
          </a:p>
        </p:txBody>
      </p:sp>
      <p:sp>
        <p:nvSpPr>
          <p:cNvPr id="3" name="TextBox 2"/>
          <p:cNvSpPr txBox="1"/>
          <p:nvPr/>
        </p:nvSpPr>
        <p:spPr>
          <a:xfrm>
            <a:off x="457200" y="713232"/>
            <a:ext cx="11274552" cy="457200"/>
          </a:xfrm>
          <a:prstGeom prst="rect">
            <a:avLst/>
          </a:prstGeom>
          <a:noFill/>
        </p:spPr>
        <p:txBody>
          <a:bodyPr wrap="square" anchor="t">
            <a:spAutoFit/>
          </a:bodyPr>
          <a:lstStyle/>
          <a:p>
            <a:pPr algn="l"/>
            <a:r>
              <a:rPr sz="1100" b="0" i="0">
                <a:solidFill>
                  <a:srgbClr val="53565A"/>
                </a:solidFill>
                <a:latin typeface="Aptos"/>
              </a:rPr>
              <a:t>Historical, Catchup, and First-Time Incremental loads are manually-triggered variations on this baseline flow.</a:t>
            </a:r>
          </a:p>
        </p:txBody>
      </p:sp>
      <p:sp>
        <p:nvSpPr>
          <p:cNvPr id="4" name="Rounded Rectangle 3"/>
          <p:cNvSpPr/>
          <p:nvPr/>
        </p:nvSpPr>
        <p:spPr>
          <a:xfrm>
            <a:off x="4261104" y="1417320"/>
            <a:ext cx="3657600" cy="713232"/>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Aptos"/>
              </a:rPr>
              <a:t>Batch Pre-Requisite</a:t>
            </a:r>
          </a:p>
          <a:p>
            <a:pPr algn="ctr"/>
            <a:r>
              <a:rPr sz="950" b="0">
                <a:solidFill>
                  <a:srgbClr val="FFFFFF"/>
                </a:solidFill>
                <a:latin typeface="Aptos"/>
              </a:rPr>
              <a:t>Runs validation checks</a:t>
            </a:r>
          </a:p>
        </p:txBody>
      </p:sp>
      <p:sp>
        <p:nvSpPr>
          <p:cNvPr id="5" name="Down Arrow 4"/>
          <p:cNvSpPr/>
          <p:nvPr/>
        </p:nvSpPr>
        <p:spPr>
          <a:xfrm>
            <a:off x="5971032" y="2139696"/>
            <a:ext cx="237744" cy="182880"/>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261104" y="2331720"/>
            <a:ext cx="3657600" cy="713232"/>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Aptos"/>
              </a:rPr>
              <a:t>Batch Pre-Load</a:t>
            </a:r>
          </a:p>
          <a:p>
            <a:pPr algn="ctr"/>
            <a:r>
              <a:rPr lang="en-US" sz="950">
                <a:solidFill>
                  <a:srgbClr val="FFFFFF"/>
                </a:solidFill>
                <a:latin typeface="Aptos"/>
              </a:rPr>
              <a:t>C</a:t>
            </a:r>
            <a:r>
              <a:rPr sz="950" b="0">
                <a:solidFill>
                  <a:srgbClr val="FFFFFF"/>
                </a:solidFill>
                <a:latin typeface="Aptos"/>
              </a:rPr>
              <a:t>reates entries in </a:t>
            </a:r>
            <a:r>
              <a:rPr sz="950" b="0" err="1">
                <a:solidFill>
                  <a:srgbClr val="FFFFFF"/>
                </a:solidFill>
                <a:latin typeface="Aptos"/>
              </a:rPr>
              <a:t>batch_run_stats</a:t>
            </a:r>
            <a:r>
              <a:rPr sz="950" b="0">
                <a:solidFill>
                  <a:srgbClr val="FFFFFF"/>
                </a:solidFill>
                <a:latin typeface="Aptos"/>
              </a:rPr>
              <a:t> &amp;</a:t>
            </a:r>
          </a:p>
          <a:p>
            <a:pPr algn="ctr"/>
            <a:r>
              <a:rPr sz="950" b="0" err="1">
                <a:solidFill>
                  <a:srgbClr val="FFFFFF"/>
                </a:solidFill>
                <a:latin typeface="Aptos"/>
              </a:rPr>
              <a:t>batch_sourcing_stats</a:t>
            </a:r>
            <a:r>
              <a:rPr lang="en-US" sz="950" b="0">
                <a:solidFill>
                  <a:srgbClr val="FFFFFF"/>
                </a:solidFill>
                <a:latin typeface="Aptos"/>
              </a:rPr>
              <a:t> (Automatic)</a:t>
            </a:r>
            <a:endParaRPr sz="950" b="0">
              <a:solidFill>
                <a:srgbClr val="FFFFFF"/>
              </a:solidFill>
              <a:latin typeface="Aptos"/>
            </a:endParaRPr>
          </a:p>
        </p:txBody>
      </p:sp>
      <p:sp>
        <p:nvSpPr>
          <p:cNvPr id="7" name="Down Arrow 6"/>
          <p:cNvSpPr/>
          <p:nvPr/>
        </p:nvSpPr>
        <p:spPr>
          <a:xfrm>
            <a:off x="5971032" y="3054096"/>
            <a:ext cx="237744" cy="182880"/>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61104" y="3246120"/>
            <a:ext cx="3657600" cy="713232"/>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Aptos"/>
              </a:rPr>
              <a:t>ETL Data Ingestion Window Table</a:t>
            </a:r>
          </a:p>
          <a:p>
            <a:pPr algn="ctr"/>
            <a:r>
              <a:rPr sz="950" b="0">
                <a:solidFill>
                  <a:srgbClr val="FFFFFF"/>
                </a:solidFill>
                <a:latin typeface="Aptos"/>
              </a:rPr>
              <a:t>Entry created</a:t>
            </a:r>
          </a:p>
        </p:txBody>
      </p:sp>
      <p:sp>
        <p:nvSpPr>
          <p:cNvPr id="9" name="Down Arrow 8"/>
          <p:cNvSpPr/>
          <p:nvPr/>
        </p:nvSpPr>
        <p:spPr>
          <a:xfrm>
            <a:off x="5971032" y="3968496"/>
            <a:ext cx="237744" cy="182880"/>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261104" y="4160520"/>
            <a:ext cx="3657600" cy="713232"/>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FFFFF"/>
                </a:solidFill>
                <a:latin typeface="Aptos"/>
              </a:rPr>
              <a:t>Window Execution</a:t>
            </a:r>
          </a:p>
          <a:p>
            <a:pPr algn="ctr"/>
            <a:r>
              <a:rPr sz="950" b="0">
                <a:solidFill>
                  <a:srgbClr val="FFFFFF"/>
                </a:solidFill>
                <a:latin typeface="Aptos"/>
              </a:rPr>
              <a:t>Driven by ETL ingestion window table</a:t>
            </a:r>
          </a:p>
        </p:txBody>
      </p:sp>
      <p:sp>
        <p:nvSpPr>
          <p:cNvPr id="11" name="Down Arrow 10"/>
          <p:cNvSpPr/>
          <p:nvPr/>
        </p:nvSpPr>
        <p:spPr>
          <a:xfrm>
            <a:off x="5971032" y="4882896"/>
            <a:ext cx="237744" cy="182880"/>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61104" y="5074920"/>
            <a:ext cx="3657600" cy="713232"/>
          </a:xfrm>
          <a:prstGeom prst="roundRect">
            <a:avLst/>
          </a:prstGeom>
          <a:solidFill>
            <a:srgbClr val="2827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Aptos"/>
              </a:rPr>
              <a:t>Execution Type: </a:t>
            </a:r>
            <a:r>
              <a:rPr lang="en-US" sz="1050" b="1">
                <a:solidFill>
                  <a:srgbClr val="FFFFFF"/>
                </a:solidFill>
                <a:latin typeface="Aptos"/>
              </a:rPr>
              <a:t>New</a:t>
            </a:r>
            <a:endParaRPr sz="1050" b="1">
              <a:solidFill>
                <a:srgbClr val="FFFFFF"/>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t>Historical Load  |  Rerun indicator 'H'</a:t>
            </a:r>
          </a:p>
        </p:txBody>
      </p:sp>
      <p:sp>
        <p:nvSpPr>
          <p:cNvPr id="5" name="Title 4"/>
          <p:cNvSpPr>
            <a:spLocks noGrp="1"/>
          </p:cNvSpPr>
          <p:nvPr>
            <p:ph type="title"/>
          </p:nvPr>
        </p:nvSpPr>
        <p:spPr/>
        <p:txBody>
          <a:bodyPr/>
          <a:lstStyle/>
          <a:p>
            <a:r>
              <a:t>Historical Load Backfills a Defined Historical Period Outside the Normal Cadence</a:t>
            </a:r>
          </a:p>
        </p:txBody>
      </p:sp>
      <p:sp>
        <p:nvSpPr>
          <p:cNvPr id="6" name="TextBox 5"/>
          <p:cNvSpPr txBox="1"/>
          <p:nvPr/>
        </p:nvSpPr>
        <p:spPr>
          <a:xfrm>
            <a:off x="457200" y="1073986"/>
            <a:ext cx="5486400" cy="274320"/>
          </a:xfrm>
          <a:prstGeom prst="rect">
            <a:avLst/>
          </a:prstGeom>
          <a:noFill/>
        </p:spPr>
        <p:txBody>
          <a:bodyPr wrap="square" anchor="t">
            <a:spAutoFit/>
          </a:bodyPr>
          <a:lstStyle/>
          <a:p>
            <a:pPr algn="l"/>
            <a:r>
              <a:rPr sz="1100" b="1" i="0">
                <a:solidFill>
                  <a:srgbClr val="046A38"/>
                </a:solidFill>
                <a:latin typeface="Aptos"/>
              </a:rPr>
              <a:t>Process Flow</a:t>
            </a:r>
          </a:p>
        </p:txBody>
      </p:sp>
      <p:sp>
        <p:nvSpPr>
          <p:cNvPr id="8" name="Down Arrow 7"/>
          <p:cNvSpPr/>
          <p:nvPr/>
        </p:nvSpPr>
        <p:spPr>
          <a:xfrm>
            <a:off x="3081528" y="2404872"/>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0120" y="2523744"/>
            <a:ext cx="4480560" cy="548640"/>
          </a:xfrm>
          <a:prstGeom prst="roundRect">
            <a:avLst/>
          </a:prstGeom>
          <a:solidFill>
            <a:srgbClr val="F5F5F5"/>
          </a:solidFill>
          <a:ln w="12700">
            <a:solidFill>
              <a:srgbClr val="97999B"/>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53565A"/>
                </a:solidFill>
                <a:latin typeface="Aptos"/>
              </a:rPr>
              <a:t>Batch pre-requisite</a:t>
            </a:r>
          </a:p>
          <a:p>
            <a:pPr algn="ctr"/>
            <a:r>
              <a:rPr sz="900" b="0">
                <a:solidFill>
                  <a:srgbClr val="53565A"/>
                </a:solidFill>
                <a:latin typeface="Aptos"/>
              </a:rPr>
              <a:t>NOT executed</a:t>
            </a:r>
          </a:p>
        </p:txBody>
      </p:sp>
      <p:sp>
        <p:nvSpPr>
          <p:cNvPr id="10" name="Down Arrow 9"/>
          <p:cNvSpPr/>
          <p:nvPr/>
        </p:nvSpPr>
        <p:spPr>
          <a:xfrm>
            <a:off x="3081528" y="3081528"/>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60120" y="3200400"/>
            <a:ext cx="4480560" cy="548640"/>
          </a:xfrm>
          <a:prstGeom prst="roundRect">
            <a:avLst/>
          </a:prstGeom>
          <a:solidFill>
            <a:srgbClr val="F5F5F5"/>
          </a:solidFill>
          <a:ln w="12700">
            <a:solidFill>
              <a:srgbClr val="97999B"/>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a:solidFill>
                  <a:srgbClr val="53565A"/>
                </a:solidFill>
                <a:latin typeface="Aptos"/>
              </a:rPr>
              <a:t>Batch pre-load</a:t>
            </a:r>
          </a:p>
          <a:p>
            <a:pPr algn="ctr"/>
            <a:r>
              <a:rPr sz="850" b="0">
                <a:solidFill>
                  <a:srgbClr val="53565A"/>
                </a:solidFill>
                <a:latin typeface="Aptos"/>
              </a:rPr>
              <a:t>No entry created (manual entry already exists)</a:t>
            </a:r>
          </a:p>
        </p:txBody>
      </p:sp>
      <p:sp>
        <p:nvSpPr>
          <p:cNvPr id="12" name="Down Arrow 11"/>
          <p:cNvSpPr/>
          <p:nvPr/>
        </p:nvSpPr>
        <p:spPr>
          <a:xfrm>
            <a:off x="3081528" y="3758184"/>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60120" y="3877056"/>
            <a:ext cx="4480560" cy="54864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a:solidFill>
                  <a:srgbClr val="FFFFFF"/>
                </a:solidFill>
                <a:latin typeface="Aptos"/>
              </a:rPr>
              <a:t>Window execution</a:t>
            </a:r>
          </a:p>
          <a:p>
            <a:pPr algn="ctr"/>
            <a:r>
              <a:rPr sz="850" b="0">
                <a:solidFill>
                  <a:srgbClr val="FFFFFF"/>
                </a:solidFill>
                <a:latin typeface="Aptos"/>
              </a:rPr>
              <a:t>Driven by batch_sourcing_stats start/end datetime</a:t>
            </a:r>
          </a:p>
          <a:p>
            <a:pPr algn="ctr"/>
            <a:r>
              <a:rPr sz="850" b="0">
                <a:solidFill>
                  <a:srgbClr val="FFFFFF"/>
                </a:solidFill>
                <a:latin typeface="Aptos"/>
              </a:rPr>
              <a:t>(no ETL ingestion window entry)</a:t>
            </a:r>
          </a:p>
        </p:txBody>
      </p:sp>
      <p:sp>
        <p:nvSpPr>
          <p:cNvPr id="14" name="Down Arrow 13"/>
          <p:cNvSpPr/>
          <p:nvPr/>
        </p:nvSpPr>
        <p:spPr>
          <a:xfrm>
            <a:off x="3081528" y="4434840"/>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60120" y="4553712"/>
            <a:ext cx="4480560" cy="548640"/>
          </a:xfrm>
          <a:prstGeom prst="roundRect">
            <a:avLst/>
          </a:prstGeom>
          <a:solidFill>
            <a:srgbClr val="2827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latin typeface="Aptos"/>
              </a:rPr>
              <a:t>Execution type: History</a:t>
            </a:r>
          </a:p>
        </p:txBody>
      </p:sp>
      <p:sp>
        <p:nvSpPr>
          <p:cNvPr id="16" name="Down Arrow 15"/>
          <p:cNvSpPr/>
          <p:nvPr/>
        </p:nvSpPr>
        <p:spPr>
          <a:xfrm>
            <a:off x="3081528" y="5111495"/>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60120" y="5230367"/>
            <a:ext cx="4480560" cy="548640"/>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a:solidFill>
                  <a:srgbClr val="FFFFFF"/>
                </a:solidFill>
                <a:latin typeface="Aptos"/>
              </a:rPr>
              <a:t>Same Batch ID &amp; Job ID as Catchup Load</a:t>
            </a:r>
          </a:p>
          <a:p>
            <a:pPr algn="ctr"/>
            <a:r>
              <a:rPr sz="850" b="0">
                <a:solidFill>
                  <a:srgbClr val="FFFFFF"/>
                </a:solidFill>
                <a:latin typeface="Aptos"/>
              </a:rPr>
              <a:t>(separate mapping from Regular / First-Time Incremental</a:t>
            </a:r>
            <a:r>
              <a:rPr lang="en-US" sz="850" b="0">
                <a:solidFill>
                  <a:srgbClr val="FFFFFF"/>
                </a:solidFill>
                <a:latin typeface="Aptos"/>
              </a:rPr>
              <a:t>, but same as catchup</a:t>
            </a:r>
            <a:r>
              <a:rPr sz="850" b="0">
                <a:solidFill>
                  <a:srgbClr val="FFFFFF"/>
                </a:solidFill>
                <a:latin typeface="Aptos"/>
              </a:rPr>
              <a:t>)</a:t>
            </a:r>
          </a:p>
        </p:txBody>
      </p:sp>
      <p:sp>
        <p:nvSpPr>
          <p:cNvPr id="18" name="TextBox 17"/>
          <p:cNvSpPr txBox="1"/>
          <p:nvPr/>
        </p:nvSpPr>
        <p:spPr>
          <a:xfrm>
            <a:off x="6254496" y="1481328"/>
            <a:ext cx="5486400" cy="274320"/>
          </a:xfrm>
          <a:prstGeom prst="rect">
            <a:avLst/>
          </a:prstGeom>
          <a:noFill/>
        </p:spPr>
        <p:txBody>
          <a:bodyPr wrap="square" anchor="t">
            <a:spAutoFit/>
          </a:bodyPr>
          <a:lstStyle/>
          <a:p>
            <a:pPr algn="l"/>
            <a:r>
              <a:rPr sz="1100" b="1" i="0">
                <a:solidFill>
                  <a:srgbClr val="046A38"/>
                </a:solidFill>
                <a:latin typeface="Aptos"/>
              </a:rPr>
              <a:t>Key Attributes</a:t>
            </a:r>
          </a:p>
        </p:txBody>
      </p:sp>
      <p:graphicFrame>
        <p:nvGraphicFramePr>
          <p:cNvPr id="19" name="Table 18"/>
          <p:cNvGraphicFramePr>
            <a:graphicFrameLocks noGrp="1"/>
          </p:cNvGraphicFramePr>
          <p:nvPr>
            <p:extLst>
              <p:ext uri="{D42A27DB-BD31-4B8C-83A1-F6EECF244321}">
                <p14:modId xmlns:p14="http://schemas.microsoft.com/office/powerpoint/2010/main" val="3683857539"/>
              </p:ext>
            </p:extLst>
          </p:nvPr>
        </p:nvGraphicFramePr>
        <p:xfrm>
          <a:off x="6254496" y="1847088"/>
          <a:ext cx="5486400" cy="41148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411480">
                <a:tc>
                  <a:txBody>
                    <a:bodyPr/>
                    <a:lstStyle/>
                    <a:p>
                      <a:pPr>
                        <a:defRPr sz="900" b="1">
                          <a:solidFill>
                            <a:srgbClr val="FFFFFF"/>
                          </a:solidFill>
                          <a:latin typeface="Aptos"/>
                        </a:defRPr>
                      </a:pPr>
                      <a:r>
                        <a:t>Rerun indicator</a:t>
                      </a:r>
                    </a:p>
                  </a:txBody>
                  <a:tcPr anchor="ctr">
                    <a:solidFill>
                      <a:srgbClr val="26890D"/>
                    </a:solidFill>
                  </a:tcPr>
                </a:tc>
                <a:tc>
                  <a:txBody>
                    <a:bodyPr/>
                    <a:lstStyle/>
                    <a:p>
                      <a:pPr>
                        <a:defRPr sz="900">
                          <a:solidFill>
                            <a:srgbClr val="282728"/>
                          </a:solidFill>
                          <a:latin typeface="Aptos"/>
                        </a:defRPr>
                      </a:pPr>
                      <a:r>
                        <a:t>'H'</a:t>
                      </a:r>
                    </a:p>
                  </a:txBody>
                  <a:tcPr anchor="ctr">
                    <a:solidFill>
                      <a:srgbClr val="FFFFFF"/>
                    </a:solidFill>
                  </a:tcPr>
                </a:tc>
                <a:extLst>
                  <a:ext uri="{0D108BD9-81ED-4DB2-BD59-A6C34878D82A}">
                    <a16:rowId xmlns:a16="http://schemas.microsoft.com/office/drawing/2014/main" val="10000"/>
                  </a:ext>
                </a:extLst>
              </a:tr>
              <a:tr h="4114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b="1">
                          <a:solidFill>
                            <a:srgbClr val="FFFFFF"/>
                          </a:solidFill>
                          <a:latin typeface="Aptos"/>
                        </a:defRPr>
                      </a:pPr>
                      <a:r>
                        <a:rPr lang="en-US"/>
                        <a:t>Batch sourcing start time</a:t>
                      </a:r>
                    </a:p>
                  </a:txBody>
                  <a:tcPr anchor="ctr">
                    <a:solidFill>
                      <a:srgbClr val="26890D"/>
                    </a:solidFill>
                  </a:tcPr>
                </a:tc>
                <a:tc>
                  <a:txBody>
                    <a:bodyPr/>
                    <a:lstStyle/>
                    <a:p>
                      <a:pPr>
                        <a:defRPr sz="900">
                          <a:solidFill>
                            <a:srgbClr val="282728"/>
                          </a:solidFill>
                          <a:latin typeface="Aptos"/>
                        </a:defRPr>
                      </a:pPr>
                      <a:r>
                        <a:rPr lang="en-US"/>
                        <a:t>1900-01-01</a:t>
                      </a:r>
                      <a:endParaRPr/>
                    </a:p>
                  </a:txBody>
                  <a:tcPr anchor="ctr">
                    <a:solidFill>
                      <a:srgbClr val="FFFFFF"/>
                    </a:solidFill>
                  </a:tcPr>
                </a:tc>
                <a:extLst>
                  <a:ext uri="{0D108BD9-81ED-4DB2-BD59-A6C34878D82A}">
                    <a16:rowId xmlns:a16="http://schemas.microsoft.com/office/drawing/2014/main" val="1665237991"/>
                  </a:ext>
                </a:extLst>
              </a:tr>
              <a:tr h="411480">
                <a:tc>
                  <a:txBody>
                    <a:bodyPr/>
                    <a:lstStyle/>
                    <a:p>
                      <a:pPr>
                        <a:defRPr sz="900" b="1">
                          <a:solidFill>
                            <a:srgbClr val="FFFFFF"/>
                          </a:solidFill>
                          <a:latin typeface="Aptos"/>
                        </a:defRPr>
                      </a:pPr>
                      <a:r>
                        <a:rPr lang="en-US"/>
                        <a:t>Batch sourcing end time</a:t>
                      </a:r>
                      <a:endParaRPr/>
                    </a:p>
                  </a:txBody>
                  <a:tcPr anchor="ctr">
                    <a:solidFill>
                      <a:srgbClr val="26890D"/>
                    </a:solidFill>
                  </a:tcPr>
                </a:tc>
                <a:tc>
                  <a:txBody>
                    <a:bodyPr/>
                    <a:lstStyle/>
                    <a:p>
                      <a:r>
                        <a:rPr lang="en-US" sz="900"/>
                        <a:t>Maximum GRS refined timestamp from all source batches across all source batches</a:t>
                      </a:r>
                      <a:endParaRPr/>
                    </a:p>
                  </a:txBody>
                  <a:tcPr anchor="ctr">
                    <a:solidFill>
                      <a:srgbClr val="FFFFFF"/>
                    </a:solidFill>
                  </a:tcPr>
                </a:tc>
                <a:extLst>
                  <a:ext uri="{0D108BD9-81ED-4DB2-BD59-A6C34878D82A}">
                    <a16:rowId xmlns:a16="http://schemas.microsoft.com/office/drawing/2014/main" val="1849704323"/>
                  </a:ext>
                </a:extLst>
              </a:tr>
              <a:tr h="411480">
                <a:tc>
                  <a:txBody>
                    <a:bodyPr/>
                    <a:lstStyle/>
                    <a:p>
                      <a:pPr>
                        <a:defRPr sz="900" b="1">
                          <a:solidFill>
                            <a:srgbClr val="FFFFFF"/>
                          </a:solidFill>
                          <a:latin typeface="Aptos"/>
                        </a:defRPr>
                      </a:pPr>
                      <a:r>
                        <a:t>Pre-requisite</a:t>
                      </a:r>
                    </a:p>
                  </a:txBody>
                  <a:tcPr anchor="ctr">
                    <a:solidFill>
                      <a:srgbClr val="26890D"/>
                    </a:solidFill>
                  </a:tcPr>
                </a:tc>
                <a:tc>
                  <a:txBody>
                    <a:bodyPr/>
                    <a:lstStyle/>
                    <a:p>
                      <a:pPr>
                        <a:defRPr sz="900">
                          <a:solidFill>
                            <a:srgbClr val="282728"/>
                          </a:solidFill>
                          <a:latin typeface="Aptos"/>
                        </a:defRPr>
                      </a:pPr>
                      <a:r>
                        <a:t>Not executed</a:t>
                      </a:r>
                    </a:p>
                  </a:txBody>
                  <a:tcPr anchor="ctr">
                    <a:solidFill>
                      <a:srgbClr val="FFFFFF"/>
                    </a:solidFill>
                  </a:tcPr>
                </a:tc>
                <a:extLst>
                  <a:ext uri="{0D108BD9-81ED-4DB2-BD59-A6C34878D82A}">
                    <a16:rowId xmlns:a16="http://schemas.microsoft.com/office/drawing/2014/main" val="10001"/>
                  </a:ext>
                </a:extLst>
              </a:tr>
              <a:tr h="411480">
                <a:tc>
                  <a:txBody>
                    <a:bodyPr/>
                    <a:lstStyle/>
                    <a:p>
                      <a:pPr>
                        <a:defRPr sz="900" b="1">
                          <a:solidFill>
                            <a:srgbClr val="FFFFFF"/>
                          </a:solidFill>
                          <a:latin typeface="Aptos"/>
                        </a:defRPr>
                      </a:pPr>
                      <a:r>
                        <a:rPr sz="900"/>
                        <a:t>Pre-load stats entry</a:t>
                      </a:r>
                    </a:p>
                  </a:txBody>
                  <a:tcPr anchor="ctr">
                    <a:solidFill>
                      <a:srgbClr val="26890D"/>
                    </a:solidFill>
                  </a:tcPr>
                </a:tc>
                <a:tc>
                  <a:txBody>
                    <a:bodyPr/>
                    <a:lstStyle/>
                    <a:p>
                      <a:pPr>
                        <a:defRPr sz="900">
                          <a:solidFill>
                            <a:srgbClr val="282728"/>
                          </a:solidFill>
                          <a:latin typeface="Aptos"/>
                        </a:defRPr>
                      </a:pPr>
                      <a:r>
                        <a:rPr sz="900"/>
                        <a:t>Not created (manual entry used instead)</a:t>
                      </a:r>
                    </a:p>
                  </a:txBody>
                  <a:tcPr anchor="ctr">
                    <a:solidFill>
                      <a:srgbClr val="FFFFFF"/>
                    </a:solidFill>
                  </a:tcPr>
                </a:tc>
                <a:extLst>
                  <a:ext uri="{0D108BD9-81ED-4DB2-BD59-A6C34878D82A}">
                    <a16:rowId xmlns:a16="http://schemas.microsoft.com/office/drawing/2014/main" val="10002"/>
                  </a:ext>
                </a:extLst>
              </a:tr>
              <a:tr h="411480">
                <a:tc>
                  <a:txBody>
                    <a:bodyPr/>
                    <a:lstStyle/>
                    <a:p>
                      <a:pPr>
                        <a:defRPr sz="900" b="1">
                          <a:solidFill>
                            <a:srgbClr val="FFFFFF"/>
                          </a:solidFill>
                          <a:latin typeface="Aptos"/>
                        </a:defRPr>
                      </a:pPr>
                      <a:r>
                        <a:rPr sz="900"/>
                        <a:t>Window source</a:t>
                      </a:r>
                    </a:p>
                  </a:txBody>
                  <a:tcPr anchor="ctr">
                    <a:solidFill>
                      <a:srgbClr val="26890D"/>
                    </a:solidFill>
                  </a:tcPr>
                </a:tc>
                <a:tc>
                  <a:txBody>
                    <a:bodyPr/>
                    <a:lstStyle/>
                    <a:p>
                      <a:pPr>
                        <a:defRPr sz="900">
                          <a:solidFill>
                            <a:srgbClr val="282728"/>
                          </a:solidFill>
                          <a:latin typeface="Aptos"/>
                        </a:defRPr>
                      </a:pPr>
                      <a:r>
                        <a:rPr sz="900" err="1"/>
                        <a:t>batch_sourcing_stats</a:t>
                      </a:r>
                      <a:r>
                        <a:rPr sz="900"/>
                        <a:t> </a:t>
                      </a:r>
                      <a:r>
                        <a:rPr sz="900" err="1"/>
                        <a:t>sourcing_start</a:t>
                      </a:r>
                      <a:r>
                        <a:rPr sz="900"/>
                        <a:t> / </a:t>
                      </a:r>
                      <a:r>
                        <a:rPr sz="900" err="1"/>
                        <a:t>sourcing_end</a:t>
                      </a:r>
                      <a:r>
                        <a:rPr sz="900"/>
                        <a:t> datetime</a:t>
                      </a:r>
                    </a:p>
                  </a:txBody>
                  <a:tcPr anchor="ctr">
                    <a:solidFill>
                      <a:srgbClr val="FFFFFF"/>
                    </a:solidFill>
                  </a:tcPr>
                </a:tc>
                <a:extLst>
                  <a:ext uri="{0D108BD9-81ED-4DB2-BD59-A6C34878D82A}">
                    <a16:rowId xmlns:a16="http://schemas.microsoft.com/office/drawing/2014/main" val="10003"/>
                  </a:ext>
                </a:extLst>
              </a:tr>
              <a:tr h="411480">
                <a:tc>
                  <a:txBody>
                    <a:bodyPr/>
                    <a:lstStyle/>
                    <a:p>
                      <a:pPr>
                        <a:defRPr sz="900" b="1">
                          <a:solidFill>
                            <a:srgbClr val="FFFFFF"/>
                          </a:solidFill>
                          <a:latin typeface="Aptos"/>
                        </a:defRPr>
                      </a:pPr>
                      <a:r>
                        <a:rPr sz="900"/>
                        <a:t>ETL ingestion window table</a:t>
                      </a:r>
                    </a:p>
                  </a:txBody>
                  <a:tcPr anchor="ctr">
                    <a:solidFill>
                      <a:srgbClr val="26890D"/>
                    </a:solidFill>
                  </a:tcPr>
                </a:tc>
                <a:tc>
                  <a:txBody>
                    <a:bodyPr/>
                    <a:lstStyle/>
                    <a:p>
                      <a:pPr>
                        <a:defRPr sz="900">
                          <a:solidFill>
                            <a:srgbClr val="282728"/>
                          </a:solidFill>
                          <a:latin typeface="Aptos"/>
                        </a:defRPr>
                      </a:pPr>
                      <a:r>
                        <a:rPr sz="900"/>
                        <a:t>No entry created</a:t>
                      </a:r>
                    </a:p>
                  </a:txBody>
                  <a:tcPr anchor="ctr">
                    <a:solidFill>
                      <a:srgbClr val="FFFFFF"/>
                    </a:solidFill>
                  </a:tcPr>
                </a:tc>
                <a:extLst>
                  <a:ext uri="{0D108BD9-81ED-4DB2-BD59-A6C34878D82A}">
                    <a16:rowId xmlns:a16="http://schemas.microsoft.com/office/drawing/2014/main" val="10004"/>
                  </a:ext>
                </a:extLst>
              </a:tr>
              <a:tr h="411480">
                <a:tc>
                  <a:txBody>
                    <a:bodyPr/>
                    <a:lstStyle/>
                    <a:p>
                      <a:pPr>
                        <a:defRPr sz="900" b="1">
                          <a:solidFill>
                            <a:srgbClr val="FFFFFF"/>
                          </a:solidFill>
                          <a:latin typeface="Aptos"/>
                        </a:defRPr>
                      </a:pPr>
                      <a:r>
                        <a:rPr sz="900"/>
                        <a:t>Execution type</a:t>
                      </a:r>
                    </a:p>
                  </a:txBody>
                  <a:tcPr anchor="ctr">
                    <a:solidFill>
                      <a:srgbClr val="26890D"/>
                    </a:solidFill>
                  </a:tcPr>
                </a:tc>
                <a:tc>
                  <a:txBody>
                    <a:bodyPr/>
                    <a:lstStyle/>
                    <a:p>
                      <a:pPr>
                        <a:defRPr sz="900">
                          <a:solidFill>
                            <a:srgbClr val="282728"/>
                          </a:solidFill>
                          <a:latin typeface="Aptos"/>
                        </a:defRPr>
                      </a:pPr>
                      <a:r>
                        <a:t>History</a:t>
                      </a:r>
                    </a:p>
                  </a:txBody>
                  <a:tcPr anchor="ctr">
                    <a:solidFill>
                      <a:srgbClr val="FFFFFF"/>
                    </a:solidFill>
                  </a:tcPr>
                </a:tc>
                <a:extLst>
                  <a:ext uri="{0D108BD9-81ED-4DB2-BD59-A6C34878D82A}">
                    <a16:rowId xmlns:a16="http://schemas.microsoft.com/office/drawing/2014/main" val="10005"/>
                  </a:ext>
                </a:extLst>
              </a:tr>
              <a:tr h="411480">
                <a:tc>
                  <a:txBody>
                    <a:bodyPr/>
                    <a:lstStyle/>
                    <a:p>
                      <a:pPr>
                        <a:defRPr sz="900" b="1">
                          <a:solidFill>
                            <a:srgbClr val="FFFFFF"/>
                          </a:solidFill>
                          <a:latin typeface="Aptos"/>
                        </a:defRPr>
                      </a:pPr>
                      <a:r>
                        <a:t>Batch ID / Job ID</a:t>
                      </a:r>
                    </a:p>
                  </a:txBody>
                  <a:tcPr anchor="ctr">
                    <a:solidFill>
                      <a:srgbClr val="26890D"/>
                    </a:solidFill>
                  </a:tcPr>
                </a:tc>
                <a:tc>
                  <a:txBody>
                    <a:bodyPr/>
                    <a:lstStyle/>
                    <a:p>
                      <a:pPr>
                        <a:defRPr sz="900">
                          <a:solidFill>
                            <a:srgbClr val="282728"/>
                          </a:solidFill>
                          <a:latin typeface="Aptos"/>
                        </a:defRPr>
                      </a:pPr>
                      <a:r>
                        <a:t>Same as Catchup Load; separate from Regular / First-Time Incremental</a:t>
                      </a:r>
                    </a:p>
                  </a:txBody>
                  <a:tcPr anchor="ctr">
                    <a:solidFill>
                      <a:srgbClr val="FFFFFF"/>
                    </a:solidFill>
                  </a:tcPr>
                </a:tc>
                <a:extLst>
                  <a:ext uri="{0D108BD9-81ED-4DB2-BD59-A6C34878D82A}">
                    <a16:rowId xmlns:a16="http://schemas.microsoft.com/office/drawing/2014/main" val="10006"/>
                  </a:ext>
                </a:extLst>
              </a:tr>
              <a:tr h="411480">
                <a:tc>
                  <a:txBody>
                    <a:bodyPr/>
                    <a:lstStyle/>
                    <a:p>
                      <a:pPr>
                        <a:defRPr sz="900" b="1">
                          <a:solidFill>
                            <a:srgbClr val="FFFFFF"/>
                          </a:solidFill>
                          <a:latin typeface="Aptos"/>
                        </a:defRPr>
                      </a:pPr>
                      <a:r>
                        <a:rPr lang="en-US"/>
                        <a:t>Mapping</a:t>
                      </a:r>
                      <a:endParaRPr/>
                    </a:p>
                  </a:txBody>
                  <a:tcPr anchor="ctr">
                    <a:solidFill>
                      <a:srgbClr val="26890D"/>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a:solidFill>
                            <a:srgbClr val="282728"/>
                          </a:solidFill>
                          <a:latin typeface="Aptos"/>
                        </a:defRPr>
                      </a:pPr>
                      <a:r>
                        <a:rPr lang="en-US"/>
                        <a:t>Same as Catchup Load; separate from Regular / First-Time Incremental</a:t>
                      </a:r>
                    </a:p>
                  </a:txBody>
                  <a:tcPr anchor="ctr">
                    <a:solidFill>
                      <a:srgbClr val="FFFFFF"/>
                    </a:solidFill>
                  </a:tcPr>
                </a:tc>
                <a:extLst>
                  <a:ext uri="{0D108BD9-81ED-4DB2-BD59-A6C34878D82A}">
                    <a16:rowId xmlns:a16="http://schemas.microsoft.com/office/drawing/2014/main" val="3217435791"/>
                  </a:ext>
                </a:extLst>
              </a:tr>
            </a:tbl>
          </a:graphicData>
        </a:graphic>
      </p:graphicFrame>
      <p:sp>
        <p:nvSpPr>
          <p:cNvPr id="22" name="Rounded Rectangle 6">
            <a:extLst>
              <a:ext uri="{FF2B5EF4-FFF2-40B4-BE49-F238E27FC236}">
                <a16:creationId xmlns:a16="http://schemas.microsoft.com/office/drawing/2014/main" id="{AE6CECF1-6CEC-E0EF-3BB1-CB8F11ACF975}"/>
              </a:ext>
            </a:extLst>
          </p:cNvPr>
          <p:cNvSpPr/>
          <p:nvPr/>
        </p:nvSpPr>
        <p:spPr>
          <a:xfrm>
            <a:off x="960120" y="1441255"/>
            <a:ext cx="4480560" cy="954473"/>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latin typeface="Aptos"/>
              </a:rPr>
              <a:t>Manual entry created</a:t>
            </a:r>
          </a:p>
          <a:p>
            <a:pPr algn="ctr"/>
            <a:r>
              <a:rPr sz="900" b="0" err="1">
                <a:solidFill>
                  <a:srgbClr val="FFFFFF"/>
                </a:solidFill>
                <a:latin typeface="Aptos"/>
              </a:rPr>
              <a:t>batch_run_stats</a:t>
            </a:r>
            <a:r>
              <a:rPr sz="900" b="0">
                <a:solidFill>
                  <a:srgbClr val="FFFFFF"/>
                </a:solidFill>
                <a:latin typeface="Aptos"/>
              </a:rPr>
              <a:t> &amp; </a:t>
            </a:r>
            <a:r>
              <a:rPr sz="900" b="0" err="1">
                <a:solidFill>
                  <a:srgbClr val="FFFFFF"/>
                </a:solidFill>
                <a:latin typeface="Aptos"/>
              </a:rPr>
              <a:t>batch_sourcing_stats</a:t>
            </a:r>
            <a:endParaRPr sz="900" b="0">
              <a:solidFill>
                <a:srgbClr val="FFFFFF"/>
              </a:solidFill>
              <a:latin typeface="Aptos"/>
            </a:endParaRPr>
          </a:p>
          <a:p>
            <a:pPr algn="ctr"/>
            <a:r>
              <a:rPr sz="900" b="0" err="1">
                <a:solidFill>
                  <a:srgbClr val="FFFFFF"/>
                </a:solidFill>
                <a:latin typeface="Aptos"/>
              </a:rPr>
              <a:t>rerun_indicator</a:t>
            </a:r>
            <a:r>
              <a:rPr sz="900" b="0">
                <a:solidFill>
                  <a:srgbClr val="FFFFFF"/>
                </a:solidFill>
                <a:latin typeface="Aptos"/>
              </a:rPr>
              <a:t> = '</a:t>
            </a:r>
            <a:r>
              <a:rPr lang="en-US" sz="900" b="0">
                <a:solidFill>
                  <a:srgbClr val="FFFFFF"/>
                </a:solidFill>
                <a:latin typeface="Aptos"/>
              </a:rPr>
              <a:t>H</a:t>
            </a:r>
            <a:r>
              <a:rPr sz="900" b="0">
                <a:solidFill>
                  <a:srgbClr val="FFFFFF"/>
                </a:solidFill>
                <a:latin typeface="Aptos"/>
              </a:rPr>
              <a:t>’</a:t>
            </a:r>
            <a:r>
              <a:rPr lang="en-US" sz="900">
                <a:solidFill>
                  <a:srgbClr val="FFFFFF"/>
                </a:solidFill>
              </a:rPr>
              <a:t> , </a:t>
            </a:r>
          </a:p>
          <a:p>
            <a:pPr algn="ctr"/>
            <a:r>
              <a:rPr lang="en-US" sz="900">
                <a:solidFill>
                  <a:srgbClr val="FFFFFF"/>
                </a:solidFill>
              </a:rPr>
              <a:t>sourcing end time is the maximum GRS timestamp of all Zone1 source tables, so for multiple source batches also  maximum end time will be taken</a:t>
            </a:r>
            <a:endParaRPr sz="900" b="0">
              <a:solidFill>
                <a:srgbClr val="FFFFFF"/>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t>Catchup Load  |  Rerun indicator 'C'</a:t>
            </a:r>
          </a:p>
        </p:txBody>
      </p:sp>
      <p:sp>
        <p:nvSpPr>
          <p:cNvPr id="5" name="Title 4"/>
          <p:cNvSpPr>
            <a:spLocks noGrp="1"/>
          </p:cNvSpPr>
          <p:nvPr>
            <p:ph type="title"/>
          </p:nvPr>
        </p:nvSpPr>
        <p:spPr/>
        <p:txBody>
          <a:bodyPr/>
          <a:lstStyle/>
          <a:p>
            <a:r>
              <a:t>Catchup Load Closes a Gap Window Missed by a Delayed or Failed History Run</a:t>
            </a:r>
          </a:p>
        </p:txBody>
      </p:sp>
      <p:sp>
        <p:nvSpPr>
          <p:cNvPr id="6" name="TextBox 5"/>
          <p:cNvSpPr txBox="1"/>
          <p:nvPr/>
        </p:nvSpPr>
        <p:spPr>
          <a:xfrm>
            <a:off x="457200" y="1079391"/>
            <a:ext cx="5486400" cy="274320"/>
          </a:xfrm>
          <a:prstGeom prst="rect">
            <a:avLst/>
          </a:prstGeom>
          <a:noFill/>
        </p:spPr>
        <p:txBody>
          <a:bodyPr wrap="square" anchor="t">
            <a:spAutoFit/>
          </a:bodyPr>
          <a:lstStyle/>
          <a:p>
            <a:pPr algn="l"/>
            <a:r>
              <a:rPr sz="1100" b="1" i="0">
                <a:solidFill>
                  <a:srgbClr val="046A38"/>
                </a:solidFill>
                <a:latin typeface="Aptos"/>
              </a:rPr>
              <a:t>Process Flow</a:t>
            </a:r>
          </a:p>
        </p:txBody>
      </p:sp>
      <p:sp>
        <p:nvSpPr>
          <p:cNvPr id="7" name="Rounded Rectangle 6"/>
          <p:cNvSpPr/>
          <p:nvPr/>
        </p:nvSpPr>
        <p:spPr>
          <a:xfrm>
            <a:off x="960120" y="1441255"/>
            <a:ext cx="4480560" cy="954473"/>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latin typeface="Aptos"/>
              </a:rPr>
              <a:t>Manual entry created</a:t>
            </a:r>
          </a:p>
          <a:p>
            <a:pPr algn="ctr"/>
            <a:r>
              <a:rPr sz="900" b="0" err="1">
                <a:solidFill>
                  <a:srgbClr val="FFFFFF"/>
                </a:solidFill>
                <a:latin typeface="Aptos"/>
              </a:rPr>
              <a:t>batch_run_stats</a:t>
            </a:r>
            <a:r>
              <a:rPr sz="900" b="0">
                <a:solidFill>
                  <a:srgbClr val="FFFFFF"/>
                </a:solidFill>
                <a:latin typeface="Aptos"/>
              </a:rPr>
              <a:t> &amp; </a:t>
            </a:r>
            <a:r>
              <a:rPr sz="900" b="0" err="1">
                <a:solidFill>
                  <a:srgbClr val="FFFFFF"/>
                </a:solidFill>
                <a:latin typeface="Aptos"/>
              </a:rPr>
              <a:t>batch_sourcing_stats</a:t>
            </a:r>
            <a:endParaRPr sz="900" b="0">
              <a:solidFill>
                <a:srgbClr val="FFFFFF"/>
              </a:solidFill>
              <a:latin typeface="Aptos"/>
            </a:endParaRPr>
          </a:p>
          <a:p>
            <a:pPr algn="ctr"/>
            <a:r>
              <a:rPr sz="900" b="0" err="1">
                <a:solidFill>
                  <a:srgbClr val="FFFFFF"/>
                </a:solidFill>
                <a:latin typeface="Aptos"/>
              </a:rPr>
              <a:t>rerun_indicator</a:t>
            </a:r>
            <a:r>
              <a:rPr sz="900" b="0">
                <a:solidFill>
                  <a:srgbClr val="FFFFFF"/>
                </a:solidFill>
                <a:latin typeface="Aptos"/>
              </a:rPr>
              <a:t> = 'C’</a:t>
            </a:r>
            <a:r>
              <a:rPr lang="en-US" sz="900">
                <a:solidFill>
                  <a:srgbClr val="FFFFFF"/>
                </a:solidFill>
              </a:rPr>
              <a:t> , </a:t>
            </a:r>
          </a:p>
          <a:p>
            <a:pPr algn="ctr"/>
            <a:r>
              <a:rPr lang="en-US" sz="900">
                <a:solidFill>
                  <a:srgbClr val="FFFFFF"/>
                </a:solidFill>
              </a:rPr>
              <a:t>sourcing end time is the maximum GRS timestamp of all Zone1 source tables, so for multiple source batches also  maximum end time will be taken</a:t>
            </a:r>
            <a:endParaRPr sz="900" b="0">
              <a:solidFill>
                <a:srgbClr val="FFFFFF"/>
              </a:solidFill>
              <a:latin typeface="Aptos"/>
            </a:endParaRPr>
          </a:p>
        </p:txBody>
      </p:sp>
      <p:sp>
        <p:nvSpPr>
          <p:cNvPr id="8" name="Down Arrow 7"/>
          <p:cNvSpPr/>
          <p:nvPr/>
        </p:nvSpPr>
        <p:spPr>
          <a:xfrm>
            <a:off x="3081528" y="2404872"/>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0120" y="2523744"/>
            <a:ext cx="4480560" cy="548640"/>
          </a:xfrm>
          <a:prstGeom prst="roundRect">
            <a:avLst/>
          </a:prstGeom>
          <a:solidFill>
            <a:srgbClr val="F5F5F5"/>
          </a:solidFill>
          <a:ln w="12700">
            <a:solidFill>
              <a:srgbClr val="97999B"/>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53565A"/>
                </a:solidFill>
                <a:latin typeface="Aptos"/>
              </a:rPr>
              <a:t>Batch pre-requisite</a:t>
            </a:r>
          </a:p>
          <a:p>
            <a:pPr algn="ctr"/>
            <a:r>
              <a:rPr sz="900" b="0">
                <a:solidFill>
                  <a:srgbClr val="53565A"/>
                </a:solidFill>
                <a:latin typeface="Aptos"/>
              </a:rPr>
              <a:t>NOT executed</a:t>
            </a:r>
          </a:p>
        </p:txBody>
      </p:sp>
      <p:sp>
        <p:nvSpPr>
          <p:cNvPr id="10" name="Down Arrow 9"/>
          <p:cNvSpPr/>
          <p:nvPr/>
        </p:nvSpPr>
        <p:spPr>
          <a:xfrm>
            <a:off x="3081528" y="3081528"/>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60120" y="3200400"/>
            <a:ext cx="4480560" cy="548640"/>
          </a:xfrm>
          <a:prstGeom prst="roundRect">
            <a:avLst/>
          </a:prstGeom>
          <a:solidFill>
            <a:srgbClr val="F5F5F5"/>
          </a:solidFill>
          <a:ln w="12700">
            <a:solidFill>
              <a:srgbClr val="97999B"/>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a:solidFill>
                  <a:srgbClr val="53565A"/>
                </a:solidFill>
                <a:latin typeface="Aptos"/>
              </a:rPr>
              <a:t>Batch pre-load</a:t>
            </a:r>
          </a:p>
          <a:p>
            <a:pPr algn="ctr"/>
            <a:r>
              <a:rPr sz="850" b="0">
                <a:solidFill>
                  <a:srgbClr val="53565A"/>
                </a:solidFill>
                <a:latin typeface="Aptos"/>
              </a:rPr>
              <a:t>No entry created (manual entry already exists)</a:t>
            </a:r>
          </a:p>
        </p:txBody>
      </p:sp>
      <p:sp>
        <p:nvSpPr>
          <p:cNvPr id="12" name="Down Arrow 11"/>
          <p:cNvSpPr/>
          <p:nvPr/>
        </p:nvSpPr>
        <p:spPr>
          <a:xfrm>
            <a:off x="3081528" y="3758184"/>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60120" y="3877056"/>
            <a:ext cx="4480560" cy="54864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a:solidFill>
                  <a:srgbClr val="FFFFFF"/>
                </a:solidFill>
                <a:latin typeface="Aptos"/>
              </a:rPr>
              <a:t>Window execution</a:t>
            </a:r>
          </a:p>
          <a:p>
            <a:pPr algn="ctr"/>
            <a:r>
              <a:rPr sz="850" b="0">
                <a:solidFill>
                  <a:srgbClr val="FFFFFF"/>
                </a:solidFill>
                <a:latin typeface="Aptos"/>
              </a:rPr>
              <a:t>Driven by batch_sourcing_stats start/end datetime</a:t>
            </a:r>
          </a:p>
          <a:p>
            <a:pPr algn="ctr"/>
            <a:r>
              <a:rPr sz="850" b="0">
                <a:solidFill>
                  <a:srgbClr val="FFFFFF"/>
                </a:solidFill>
                <a:latin typeface="Aptos"/>
              </a:rPr>
              <a:t>(no ETL ingestion window entry)</a:t>
            </a:r>
          </a:p>
        </p:txBody>
      </p:sp>
      <p:sp>
        <p:nvSpPr>
          <p:cNvPr id="14" name="Down Arrow 13"/>
          <p:cNvSpPr/>
          <p:nvPr/>
        </p:nvSpPr>
        <p:spPr>
          <a:xfrm>
            <a:off x="3081528" y="4434840"/>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60120" y="4553712"/>
            <a:ext cx="4480560" cy="548640"/>
          </a:xfrm>
          <a:prstGeom prst="roundRect">
            <a:avLst/>
          </a:prstGeom>
          <a:solidFill>
            <a:srgbClr val="2827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latin typeface="Aptos"/>
              </a:rPr>
              <a:t>Execution type: Catchup</a:t>
            </a:r>
          </a:p>
        </p:txBody>
      </p:sp>
      <p:sp>
        <p:nvSpPr>
          <p:cNvPr id="16" name="Down Arrow 15"/>
          <p:cNvSpPr/>
          <p:nvPr/>
        </p:nvSpPr>
        <p:spPr>
          <a:xfrm>
            <a:off x="3081528" y="5111495"/>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60120" y="5230367"/>
            <a:ext cx="4480560" cy="548640"/>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a:solidFill>
                  <a:srgbClr val="FFFFFF"/>
                </a:solidFill>
                <a:latin typeface="Aptos"/>
              </a:rPr>
              <a:t>Same Batch ID &amp; Job ID as Historical Load</a:t>
            </a:r>
          </a:p>
          <a:p>
            <a:pPr algn="ctr"/>
            <a:r>
              <a:rPr sz="850" b="0">
                <a:solidFill>
                  <a:srgbClr val="FFFFFF"/>
                </a:solidFill>
                <a:latin typeface="Aptos"/>
              </a:rPr>
              <a:t>(separate mapping from Regular / First-Time Incremental</a:t>
            </a:r>
            <a:r>
              <a:rPr lang="en-US" sz="850" b="0">
                <a:solidFill>
                  <a:srgbClr val="FFFFFF"/>
                </a:solidFill>
                <a:latin typeface="Aptos"/>
              </a:rPr>
              <a:t> but same as history</a:t>
            </a:r>
            <a:r>
              <a:rPr sz="850" b="0">
                <a:solidFill>
                  <a:srgbClr val="FFFFFF"/>
                </a:solidFill>
                <a:latin typeface="Aptos"/>
              </a:rPr>
              <a:t>)</a:t>
            </a:r>
          </a:p>
        </p:txBody>
      </p:sp>
      <p:sp>
        <p:nvSpPr>
          <p:cNvPr id="18" name="TextBox 17"/>
          <p:cNvSpPr txBox="1"/>
          <p:nvPr/>
        </p:nvSpPr>
        <p:spPr>
          <a:xfrm>
            <a:off x="6254496" y="1481328"/>
            <a:ext cx="5486400" cy="274320"/>
          </a:xfrm>
          <a:prstGeom prst="rect">
            <a:avLst/>
          </a:prstGeom>
          <a:noFill/>
        </p:spPr>
        <p:txBody>
          <a:bodyPr wrap="square" anchor="t">
            <a:spAutoFit/>
          </a:bodyPr>
          <a:lstStyle/>
          <a:p>
            <a:pPr algn="l"/>
            <a:r>
              <a:rPr sz="1100" b="1" i="0">
                <a:solidFill>
                  <a:srgbClr val="046A38"/>
                </a:solidFill>
                <a:latin typeface="Aptos"/>
              </a:rPr>
              <a:t>Key Attributes</a:t>
            </a:r>
          </a:p>
        </p:txBody>
      </p:sp>
      <p:graphicFrame>
        <p:nvGraphicFramePr>
          <p:cNvPr id="19" name="Table 18"/>
          <p:cNvGraphicFramePr>
            <a:graphicFrameLocks noGrp="1"/>
          </p:cNvGraphicFramePr>
          <p:nvPr>
            <p:extLst>
              <p:ext uri="{D42A27DB-BD31-4B8C-83A1-F6EECF244321}">
                <p14:modId xmlns:p14="http://schemas.microsoft.com/office/powerpoint/2010/main" val="2523332593"/>
              </p:ext>
            </p:extLst>
          </p:nvPr>
        </p:nvGraphicFramePr>
        <p:xfrm>
          <a:off x="6254496" y="1847088"/>
          <a:ext cx="5486400" cy="41148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411480">
                <a:tc>
                  <a:txBody>
                    <a:bodyPr/>
                    <a:lstStyle/>
                    <a:p>
                      <a:pPr>
                        <a:defRPr sz="900" b="1">
                          <a:solidFill>
                            <a:srgbClr val="FFFFFF"/>
                          </a:solidFill>
                          <a:latin typeface="Aptos"/>
                        </a:defRPr>
                      </a:pPr>
                      <a:r>
                        <a:t>Rerun indicator</a:t>
                      </a:r>
                    </a:p>
                  </a:txBody>
                  <a:tcPr anchor="ctr">
                    <a:solidFill>
                      <a:srgbClr val="0D8390"/>
                    </a:solidFill>
                  </a:tcPr>
                </a:tc>
                <a:tc>
                  <a:txBody>
                    <a:bodyPr/>
                    <a:lstStyle/>
                    <a:p>
                      <a:pPr>
                        <a:defRPr sz="900">
                          <a:solidFill>
                            <a:srgbClr val="282728"/>
                          </a:solidFill>
                          <a:latin typeface="Aptos"/>
                        </a:defRPr>
                      </a:pPr>
                      <a:r>
                        <a:t>'C'</a:t>
                      </a:r>
                    </a:p>
                  </a:txBody>
                  <a:tcPr anchor="ctr">
                    <a:solidFill>
                      <a:srgbClr val="FFFFFF"/>
                    </a:solidFill>
                  </a:tcPr>
                </a:tc>
                <a:extLst>
                  <a:ext uri="{0D108BD9-81ED-4DB2-BD59-A6C34878D82A}">
                    <a16:rowId xmlns:a16="http://schemas.microsoft.com/office/drawing/2014/main" val="10000"/>
                  </a:ext>
                </a:extLst>
              </a:tr>
              <a:tr h="411480">
                <a:tc>
                  <a:txBody>
                    <a:bodyPr/>
                    <a:lstStyle/>
                    <a:p>
                      <a:pPr>
                        <a:defRPr sz="900" b="1">
                          <a:solidFill>
                            <a:srgbClr val="FFFFFF"/>
                          </a:solidFill>
                          <a:latin typeface="Aptos"/>
                        </a:defRPr>
                      </a:pPr>
                      <a:r>
                        <a:rPr lang="en-US"/>
                        <a:t>Batch sourcing start time</a:t>
                      </a:r>
                      <a:endParaRPr/>
                    </a:p>
                  </a:txBody>
                  <a:tcPr anchor="ctr">
                    <a:solidFill>
                      <a:srgbClr val="0D8390"/>
                    </a:solidFill>
                  </a:tcPr>
                </a:tc>
                <a:tc>
                  <a:txBody>
                    <a:bodyPr/>
                    <a:lstStyle/>
                    <a:p>
                      <a:pPr>
                        <a:defRPr sz="900">
                          <a:solidFill>
                            <a:srgbClr val="282728"/>
                          </a:solidFill>
                          <a:latin typeface="Aptos"/>
                        </a:defRPr>
                      </a:pPr>
                      <a:r>
                        <a:rPr lang="en-US"/>
                        <a:t>Batch sourcing end time from the History load</a:t>
                      </a:r>
                      <a:endParaRPr/>
                    </a:p>
                  </a:txBody>
                  <a:tcPr anchor="ctr">
                    <a:solidFill>
                      <a:srgbClr val="FFFFFF"/>
                    </a:solidFill>
                  </a:tcPr>
                </a:tc>
                <a:extLst>
                  <a:ext uri="{0D108BD9-81ED-4DB2-BD59-A6C34878D82A}">
                    <a16:rowId xmlns:a16="http://schemas.microsoft.com/office/drawing/2014/main" val="3243833532"/>
                  </a:ext>
                </a:extLst>
              </a:tr>
              <a:tr h="4114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b="1">
                          <a:solidFill>
                            <a:srgbClr val="FFFFFF"/>
                          </a:solidFill>
                          <a:latin typeface="Aptos"/>
                        </a:defRPr>
                      </a:pPr>
                      <a:r>
                        <a:rPr lang="en-US"/>
                        <a:t>Batch sourcing end time</a:t>
                      </a:r>
                    </a:p>
                  </a:txBody>
                  <a:tcPr anchor="ctr">
                    <a:solidFill>
                      <a:srgbClr val="0D839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a:solidFill>
                            <a:srgbClr val="282728"/>
                          </a:solidFill>
                          <a:latin typeface="Aptos"/>
                        </a:defRPr>
                      </a:pPr>
                      <a:r>
                        <a:rPr lang="en-US"/>
                        <a:t>Maximum GRS timestamp from all source tables across all source batches</a:t>
                      </a:r>
                    </a:p>
                  </a:txBody>
                  <a:tcPr anchor="ctr">
                    <a:solidFill>
                      <a:srgbClr val="FFFFFF"/>
                    </a:solidFill>
                  </a:tcPr>
                </a:tc>
                <a:extLst>
                  <a:ext uri="{0D108BD9-81ED-4DB2-BD59-A6C34878D82A}">
                    <a16:rowId xmlns:a16="http://schemas.microsoft.com/office/drawing/2014/main" val="1480272356"/>
                  </a:ext>
                </a:extLst>
              </a:tr>
              <a:tr h="411480">
                <a:tc>
                  <a:txBody>
                    <a:bodyPr/>
                    <a:lstStyle/>
                    <a:p>
                      <a:pPr>
                        <a:defRPr sz="900" b="1">
                          <a:solidFill>
                            <a:srgbClr val="FFFFFF"/>
                          </a:solidFill>
                          <a:latin typeface="Aptos"/>
                        </a:defRPr>
                      </a:pPr>
                      <a:r>
                        <a:t>Pre-requisite</a:t>
                      </a:r>
                    </a:p>
                  </a:txBody>
                  <a:tcPr anchor="ctr">
                    <a:solidFill>
                      <a:srgbClr val="0D8390"/>
                    </a:solidFill>
                  </a:tcPr>
                </a:tc>
                <a:tc>
                  <a:txBody>
                    <a:bodyPr/>
                    <a:lstStyle/>
                    <a:p>
                      <a:pPr>
                        <a:defRPr sz="900">
                          <a:solidFill>
                            <a:srgbClr val="282728"/>
                          </a:solidFill>
                          <a:latin typeface="Aptos"/>
                        </a:defRPr>
                      </a:pPr>
                      <a:r>
                        <a:t>Not executed</a:t>
                      </a:r>
                    </a:p>
                  </a:txBody>
                  <a:tcPr anchor="ctr">
                    <a:solidFill>
                      <a:srgbClr val="FFFFFF"/>
                    </a:solidFill>
                  </a:tcPr>
                </a:tc>
                <a:extLst>
                  <a:ext uri="{0D108BD9-81ED-4DB2-BD59-A6C34878D82A}">
                    <a16:rowId xmlns:a16="http://schemas.microsoft.com/office/drawing/2014/main" val="10001"/>
                  </a:ext>
                </a:extLst>
              </a:tr>
              <a:tr h="411480">
                <a:tc>
                  <a:txBody>
                    <a:bodyPr/>
                    <a:lstStyle/>
                    <a:p>
                      <a:pPr>
                        <a:defRPr sz="900" b="1">
                          <a:solidFill>
                            <a:srgbClr val="FFFFFF"/>
                          </a:solidFill>
                          <a:latin typeface="Aptos"/>
                        </a:defRPr>
                      </a:pPr>
                      <a:r>
                        <a:t>Pre-load stats entry</a:t>
                      </a:r>
                    </a:p>
                  </a:txBody>
                  <a:tcPr anchor="ctr">
                    <a:solidFill>
                      <a:srgbClr val="0D8390"/>
                    </a:solidFill>
                  </a:tcPr>
                </a:tc>
                <a:tc>
                  <a:txBody>
                    <a:bodyPr/>
                    <a:lstStyle/>
                    <a:p>
                      <a:pPr>
                        <a:defRPr sz="900">
                          <a:solidFill>
                            <a:srgbClr val="282728"/>
                          </a:solidFill>
                          <a:latin typeface="Aptos"/>
                        </a:defRPr>
                      </a:pPr>
                      <a:r>
                        <a:t>Not created (manual entry used instead)</a:t>
                      </a:r>
                    </a:p>
                  </a:txBody>
                  <a:tcPr anchor="ctr">
                    <a:solidFill>
                      <a:srgbClr val="FFFFFF"/>
                    </a:solidFill>
                  </a:tcPr>
                </a:tc>
                <a:extLst>
                  <a:ext uri="{0D108BD9-81ED-4DB2-BD59-A6C34878D82A}">
                    <a16:rowId xmlns:a16="http://schemas.microsoft.com/office/drawing/2014/main" val="10002"/>
                  </a:ext>
                </a:extLst>
              </a:tr>
              <a:tr h="411480">
                <a:tc>
                  <a:txBody>
                    <a:bodyPr/>
                    <a:lstStyle/>
                    <a:p>
                      <a:pPr>
                        <a:defRPr sz="900" b="1">
                          <a:solidFill>
                            <a:srgbClr val="FFFFFF"/>
                          </a:solidFill>
                          <a:latin typeface="Aptos"/>
                        </a:defRPr>
                      </a:pPr>
                      <a:r>
                        <a:t>Window source</a:t>
                      </a:r>
                    </a:p>
                  </a:txBody>
                  <a:tcPr anchor="ctr">
                    <a:solidFill>
                      <a:srgbClr val="0D8390"/>
                    </a:solidFill>
                  </a:tcPr>
                </a:tc>
                <a:tc>
                  <a:txBody>
                    <a:bodyPr/>
                    <a:lstStyle/>
                    <a:p>
                      <a:pPr>
                        <a:defRPr sz="900">
                          <a:solidFill>
                            <a:srgbClr val="282728"/>
                          </a:solidFill>
                          <a:latin typeface="Aptos"/>
                        </a:defRPr>
                      </a:pPr>
                      <a:r>
                        <a:t>batch_sourcing_stats sourcing_start / sourcing_end datetime</a:t>
                      </a:r>
                    </a:p>
                  </a:txBody>
                  <a:tcPr anchor="ctr">
                    <a:solidFill>
                      <a:srgbClr val="FFFFFF"/>
                    </a:solidFill>
                  </a:tcPr>
                </a:tc>
                <a:extLst>
                  <a:ext uri="{0D108BD9-81ED-4DB2-BD59-A6C34878D82A}">
                    <a16:rowId xmlns:a16="http://schemas.microsoft.com/office/drawing/2014/main" val="10003"/>
                  </a:ext>
                </a:extLst>
              </a:tr>
              <a:tr h="411480">
                <a:tc>
                  <a:txBody>
                    <a:bodyPr/>
                    <a:lstStyle/>
                    <a:p>
                      <a:pPr>
                        <a:defRPr sz="900" b="1">
                          <a:solidFill>
                            <a:srgbClr val="FFFFFF"/>
                          </a:solidFill>
                          <a:latin typeface="Aptos"/>
                        </a:defRPr>
                      </a:pPr>
                      <a:r>
                        <a:t>ETL ingestion window table</a:t>
                      </a:r>
                    </a:p>
                  </a:txBody>
                  <a:tcPr anchor="ctr">
                    <a:solidFill>
                      <a:srgbClr val="0D8390"/>
                    </a:solidFill>
                  </a:tcPr>
                </a:tc>
                <a:tc>
                  <a:txBody>
                    <a:bodyPr/>
                    <a:lstStyle/>
                    <a:p>
                      <a:pPr>
                        <a:defRPr sz="900">
                          <a:solidFill>
                            <a:srgbClr val="282728"/>
                          </a:solidFill>
                          <a:latin typeface="Aptos"/>
                        </a:defRPr>
                      </a:pPr>
                      <a:r>
                        <a:t>No entry created</a:t>
                      </a:r>
                    </a:p>
                  </a:txBody>
                  <a:tcPr anchor="ctr">
                    <a:solidFill>
                      <a:srgbClr val="FFFFFF"/>
                    </a:solidFill>
                  </a:tcPr>
                </a:tc>
                <a:extLst>
                  <a:ext uri="{0D108BD9-81ED-4DB2-BD59-A6C34878D82A}">
                    <a16:rowId xmlns:a16="http://schemas.microsoft.com/office/drawing/2014/main" val="10004"/>
                  </a:ext>
                </a:extLst>
              </a:tr>
              <a:tr h="411480">
                <a:tc>
                  <a:txBody>
                    <a:bodyPr/>
                    <a:lstStyle/>
                    <a:p>
                      <a:pPr>
                        <a:defRPr sz="900" b="1">
                          <a:solidFill>
                            <a:srgbClr val="FFFFFF"/>
                          </a:solidFill>
                          <a:latin typeface="Aptos"/>
                        </a:defRPr>
                      </a:pPr>
                      <a:r>
                        <a:t>Execution type</a:t>
                      </a:r>
                    </a:p>
                  </a:txBody>
                  <a:tcPr anchor="ctr">
                    <a:solidFill>
                      <a:srgbClr val="0D8390"/>
                    </a:solidFill>
                  </a:tcPr>
                </a:tc>
                <a:tc>
                  <a:txBody>
                    <a:bodyPr/>
                    <a:lstStyle/>
                    <a:p>
                      <a:pPr>
                        <a:defRPr sz="900">
                          <a:solidFill>
                            <a:srgbClr val="282728"/>
                          </a:solidFill>
                          <a:latin typeface="Aptos"/>
                        </a:defRPr>
                      </a:pPr>
                      <a:r>
                        <a:t>Catchup</a:t>
                      </a:r>
                    </a:p>
                  </a:txBody>
                  <a:tcPr anchor="ctr">
                    <a:solidFill>
                      <a:srgbClr val="FFFFFF"/>
                    </a:solidFill>
                  </a:tcPr>
                </a:tc>
                <a:extLst>
                  <a:ext uri="{0D108BD9-81ED-4DB2-BD59-A6C34878D82A}">
                    <a16:rowId xmlns:a16="http://schemas.microsoft.com/office/drawing/2014/main" val="10005"/>
                  </a:ext>
                </a:extLst>
              </a:tr>
              <a:tr h="411480">
                <a:tc>
                  <a:txBody>
                    <a:bodyPr/>
                    <a:lstStyle/>
                    <a:p>
                      <a:pPr>
                        <a:defRPr sz="900" b="1">
                          <a:solidFill>
                            <a:srgbClr val="FFFFFF"/>
                          </a:solidFill>
                          <a:latin typeface="Aptos"/>
                        </a:defRPr>
                      </a:pPr>
                      <a:r>
                        <a:t>Batch ID / Job ID</a:t>
                      </a:r>
                    </a:p>
                  </a:txBody>
                  <a:tcPr anchor="ctr">
                    <a:solidFill>
                      <a:srgbClr val="0D8390"/>
                    </a:solidFill>
                  </a:tcPr>
                </a:tc>
                <a:tc>
                  <a:txBody>
                    <a:bodyPr/>
                    <a:lstStyle/>
                    <a:p>
                      <a:pPr>
                        <a:defRPr sz="900">
                          <a:solidFill>
                            <a:srgbClr val="282728"/>
                          </a:solidFill>
                          <a:latin typeface="Aptos"/>
                        </a:defRPr>
                      </a:pPr>
                      <a:r>
                        <a:t>Same as Historical Load; separate from Regular / First-Time Incremental</a:t>
                      </a:r>
                    </a:p>
                  </a:txBody>
                  <a:tcPr anchor="ctr">
                    <a:solidFill>
                      <a:srgbClr val="FFFFFF"/>
                    </a:solidFill>
                  </a:tcPr>
                </a:tc>
                <a:extLst>
                  <a:ext uri="{0D108BD9-81ED-4DB2-BD59-A6C34878D82A}">
                    <a16:rowId xmlns:a16="http://schemas.microsoft.com/office/drawing/2014/main" val="10006"/>
                  </a:ext>
                </a:extLst>
              </a:tr>
              <a:tr h="4114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b="1">
                          <a:solidFill>
                            <a:srgbClr val="FFFFFF"/>
                          </a:solidFill>
                          <a:latin typeface="Aptos"/>
                        </a:defRPr>
                      </a:pPr>
                      <a:r>
                        <a:rPr lang="en-US"/>
                        <a:t>Mapping</a:t>
                      </a:r>
                    </a:p>
                  </a:txBody>
                  <a:tcPr anchor="ctr">
                    <a:solidFill>
                      <a:srgbClr val="0D839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a:solidFill>
                            <a:srgbClr val="282728"/>
                          </a:solidFill>
                          <a:latin typeface="Aptos"/>
                        </a:defRPr>
                      </a:pPr>
                      <a:r>
                        <a:rPr lang="en-US"/>
                        <a:t>Same as Historical Load; separate from Regular / First-Time Incremental</a:t>
                      </a:r>
                    </a:p>
                  </a:txBody>
                  <a:tcPr anchor="ctr">
                    <a:solidFill>
                      <a:srgbClr val="FFFFFF"/>
                    </a:solidFill>
                  </a:tcPr>
                </a:tc>
                <a:extLst>
                  <a:ext uri="{0D108BD9-81ED-4DB2-BD59-A6C34878D82A}">
                    <a16:rowId xmlns:a16="http://schemas.microsoft.com/office/drawing/2014/main" val="348887743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t>First-Time Incremental Load  |  Rerun indicator 'I'</a:t>
            </a:r>
          </a:p>
        </p:txBody>
      </p:sp>
      <p:sp>
        <p:nvSpPr>
          <p:cNvPr id="5" name="Title 4"/>
          <p:cNvSpPr>
            <a:spLocks noGrp="1"/>
          </p:cNvSpPr>
          <p:nvPr>
            <p:ph type="title"/>
          </p:nvPr>
        </p:nvSpPr>
        <p:spPr/>
        <p:txBody>
          <a:bodyPr/>
          <a:lstStyle/>
          <a:p>
            <a:r>
              <a:t>First-Time Incremental Transitions a Source Into the Regular Incremental Cadence</a:t>
            </a:r>
          </a:p>
        </p:txBody>
      </p:sp>
      <p:sp>
        <p:nvSpPr>
          <p:cNvPr id="6" name="TextBox 5"/>
          <p:cNvSpPr txBox="1"/>
          <p:nvPr/>
        </p:nvSpPr>
        <p:spPr>
          <a:xfrm>
            <a:off x="457200" y="1481328"/>
            <a:ext cx="5486400" cy="274320"/>
          </a:xfrm>
          <a:prstGeom prst="rect">
            <a:avLst/>
          </a:prstGeom>
          <a:noFill/>
        </p:spPr>
        <p:txBody>
          <a:bodyPr wrap="square" anchor="t">
            <a:spAutoFit/>
          </a:bodyPr>
          <a:lstStyle/>
          <a:p>
            <a:pPr algn="l"/>
            <a:r>
              <a:rPr sz="1100" b="1" i="0">
                <a:solidFill>
                  <a:srgbClr val="046A38"/>
                </a:solidFill>
                <a:latin typeface="Aptos"/>
              </a:rPr>
              <a:t>Process Flow</a:t>
            </a:r>
          </a:p>
        </p:txBody>
      </p:sp>
      <p:sp>
        <p:nvSpPr>
          <p:cNvPr id="7" name="Rounded Rectangle 6"/>
          <p:cNvSpPr/>
          <p:nvPr/>
        </p:nvSpPr>
        <p:spPr>
          <a:xfrm>
            <a:off x="960120" y="1847088"/>
            <a:ext cx="4480560" cy="548640"/>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latin typeface="Aptos"/>
              </a:rPr>
              <a:t>Manual entry created</a:t>
            </a:r>
          </a:p>
          <a:p>
            <a:pPr algn="ctr"/>
            <a:r>
              <a:rPr sz="900" b="0" err="1">
                <a:solidFill>
                  <a:srgbClr val="FFFFFF"/>
                </a:solidFill>
                <a:latin typeface="Aptos"/>
              </a:rPr>
              <a:t>batch_run_stats</a:t>
            </a:r>
            <a:r>
              <a:rPr sz="900" b="0">
                <a:solidFill>
                  <a:srgbClr val="FFFFFF"/>
                </a:solidFill>
                <a:latin typeface="Aptos"/>
              </a:rPr>
              <a:t> &amp; </a:t>
            </a:r>
            <a:r>
              <a:rPr sz="900" b="0" err="1">
                <a:solidFill>
                  <a:srgbClr val="FFFFFF"/>
                </a:solidFill>
                <a:latin typeface="Aptos"/>
              </a:rPr>
              <a:t>batch_sourcing_stats</a:t>
            </a:r>
            <a:endParaRPr sz="900" b="0">
              <a:solidFill>
                <a:srgbClr val="FFFFFF"/>
              </a:solidFill>
              <a:latin typeface="Aptos"/>
            </a:endParaRPr>
          </a:p>
          <a:p>
            <a:pPr algn="ctr"/>
            <a:r>
              <a:rPr sz="900" b="0" err="1">
                <a:solidFill>
                  <a:srgbClr val="FFFFFF"/>
                </a:solidFill>
                <a:latin typeface="Aptos"/>
              </a:rPr>
              <a:t>rerun_indicator</a:t>
            </a:r>
            <a:r>
              <a:rPr sz="900" b="0">
                <a:solidFill>
                  <a:srgbClr val="FFFFFF"/>
                </a:solidFill>
                <a:latin typeface="Aptos"/>
              </a:rPr>
              <a:t> = 'I'</a:t>
            </a:r>
          </a:p>
        </p:txBody>
      </p:sp>
      <p:sp>
        <p:nvSpPr>
          <p:cNvPr id="8" name="Down Arrow 7"/>
          <p:cNvSpPr/>
          <p:nvPr/>
        </p:nvSpPr>
        <p:spPr>
          <a:xfrm>
            <a:off x="3081528" y="2404872"/>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0120" y="2523744"/>
            <a:ext cx="4480560" cy="548640"/>
          </a:xfrm>
          <a:prstGeom prst="roundRect">
            <a:avLst/>
          </a:prstGeom>
          <a:solidFill>
            <a:srgbClr val="F5F5F5"/>
          </a:solidFill>
          <a:ln w="12700">
            <a:solidFill>
              <a:srgbClr val="97999B"/>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53565A"/>
                </a:solidFill>
                <a:latin typeface="Aptos"/>
              </a:rPr>
              <a:t>Batch pre-requisite</a:t>
            </a:r>
          </a:p>
          <a:p>
            <a:pPr algn="ctr"/>
            <a:r>
              <a:rPr sz="900" b="0">
                <a:solidFill>
                  <a:srgbClr val="53565A"/>
                </a:solidFill>
                <a:latin typeface="Aptos"/>
              </a:rPr>
              <a:t>NOT executed</a:t>
            </a:r>
          </a:p>
        </p:txBody>
      </p:sp>
      <p:sp>
        <p:nvSpPr>
          <p:cNvPr id="10" name="Down Arrow 9"/>
          <p:cNvSpPr/>
          <p:nvPr/>
        </p:nvSpPr>
        <p:spPr>
          <a:xfrm>
            <a:off x="3081528" y="3081528"/>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60120" y="3200400"/>
            <a:ext cx="4480560" cy="548640"/>
          </a:xfrm>
          <a:prstGeom prst="roundRect">
            <a:avLst/>
          </a:prstGeom>
          <a:solidFill>
            <a:srgbClr val="F5F5F5"/>
          </a:solidFill>
          <a:ln w="12700">
            <a:solidFill>
              <a:srgbClr val="97999B"/>
            </a:solidFill>
            <a:prstDash val="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a:solidFill>
                  <a:srgbClr val="53565A"/>
                </a:solidFill>
                <a:latin typeface="Aptos"/>
              </a:rPr>
              <a:t>Batch pre-load</a:t>
            </a:r>
          </a:p>
          <a:p>
            <a:pPr algn="ctr"/>
            <a:r>
              <a:rPr sz="850" b="0">
                <a:solidFill>
                  <a:srgbClr val="53565A"/>
                </a:solidFill>
                <a:latin typeface="Aptos"/>
              </a:rPr>
              <a:t>No entry created (manual entry already exists)</a:t>
            </a:r>
          </a:p>
        </p:txBody>
      </p:sp>
      <p:sp>
        <p:nvSpPr>
          <p:cNvPr id="12" name="Down Arrow 11"/>
          <p:cNvSpPr/>
          <p:nvPr/>
        </p:nvSpPr>
        <p:spPr>
          <a:xfrm>
            <a:off x="3081528" y="3758184"/>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60120" y="3877056"/>
            <a:ext cx="4480560" cy="54864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1">
                <a:solidFill>
                  <a:srgbClr val="FFFFFF"/>
                </a:solidFill>
                <a:latin typeface="Aptos"/>
              </a:rPr>
              <a:t>ETL Data Ingestion Window Table — entry IS created</a:t>
            </a:r>
          </a:p>
          <a:p>
            <a:pPr algn="ctr"/>
            <a:r>
              <a:rPr sz="800" b="0">
                <a:solidFill>
                  <a:srgbClr val="FFFFFF"/>
                </a:solidFill>
                <a:latin typeface="Aptos"/>
              </a:rPr>
              <a:t>Job sourcing </a:t>
            </a:r>
            <a:r>
              <a:rPr sz="800" b="0" err="1">
                <a:solidFill>
                  <a:srgbClr val="FFFFFF"/>
                </a:solidFill>
                <a:latin typeface="Aptos"/>
              </a:rPr>
              <a:t>start_time</a:t>
            </a:r>
            <a:r>
              <a:rPr sz="800" b="0">
                <a:solidFill>
                  <a:srgbClr val="FFFFFF"/>
                </a:solidFill>
                <a:latin typeface="Aptos"/>
              </a:rPr>
              <a:t> fetched from</a:t>
            </a:r>
          </a:p>
          <a:p>
            <a:pPr algn="ctr"/>
            <a:r>
              <a:rPr sz="800" b="0" err="1">
                <a:solidFill>
                  <a:srgbClr val="FFFFFF"/>
                </a:solidFill>
                <a:latin typeface="Aptos"/>
              </a:rPr>
              <a:t>batch_sourcing_stats.sourcing_start_datetime</a:t>
            </a:r>
            <a:r>
              <a:rPr sz="800" b="0">
                <a:solidFill>
                  <a:srgbClr val="FFFFFF"/>
                </a:solidFill>
                <a:latin typeface="Aptos"/>
              </a:rPr>
              <a:t> for rerun</a:t>
            </a:r>
          </a:p>
          <a:p>
            <a:pPr algn="ctr"/>
            <a:r>
              <a:rPr sz="800" b="0">
                <a:solidFill>
                  <a:srgbClr val="FFFFFF"/>
                </a:solidFill>
                <a:latin typeface="Aptos"/>
              </a:rPr>
              <a:t>indicator 'I' (not from the window table)</a:t>
            </a:r>
          </a:p>
        </p:txBody>
      </p:sp>
      <p:sp>
        <p:nvSpPr>
          <p:cNvPr id="14" name="Down Arrow 13"/>
          <p:cNvSpPr/>
          <p:nvPr/>
        </p:nvSpPr>
        <p:spPr>
          <a:xfrm>
            <a:off x="3081528" y="4434840"/>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60120" y="4553712"/>
            <a:ext cx="4480560" cy="548640"/>
          </a:xfrm>
          <a:prstGeom prst="roundRect">
            <a:avLst/>
          </a:prstGeom>
          <a:solidFill>
            <a:srgbClr val="2827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latin typeface="Aptos"/>
              </a:rPr>
              <a:t>Execution type: Zone2_1st_incremental</a:t>
            </a:r>
          </a:p>
        </p:txBody>
      </p:sp>
      <p:sp>
        <p:nvSpPr>
          <p:cNvPr id="16" name="Down Arrow 15"/>
          <p:cNvSpPr/>
          <p:nvPr/>
        </p:nvSpPr>
        <p:spPr>
          <a:xfrm>
            <a:off x="3081528" y="5111495"/>
            <a:ext cx="237744" cy="109728"/>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60120" y="5230367"/>
            <a:ext cx="4480560" cy="548640"/>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a:solidFill>
                  <a:srgbClr val="FFFFFF"/>
                </a:solidFill>
                <a:latin typeface="Aptos"/>
              </a:rPr>
              <a:t>Same Batch ID &amp; Job ID as Regular Incremental Load</a:t>
            </a:r>
          </a:p>
          <a:p>
            <a:pPr algn="ctr"/>
            <a:r>
              <a:rPr sz="850" b="0">
                <a:solidFill>
                  <a:srgbClr val="FFFFFF"/>
                </a:solidFill>
                <a:latin typeface="Aptos"/>
              </a:rPr>
              <a:t>(same mapping reused)</a:t>
            </a:r>
          </a:p>
        </p:txBody>
      </p:sp>
      <p:sp>
        <p:nvSpPr>
          <p:cNvPr id="18" name="TextBox 17"/>
          <p:cNvSpPr txBox="1"/>
          <p:nvPr/>
        </p:nvSpPr>
        <p:spPr>
          <a:xfrm>
            <a:off x="6254496" y="1481328"/>
            <a:ext cx="5486400" cy="274320"/>
          </a:xfrm>
          <a:prstGeom prst="rect">
            <a:avLst/>
          </a:prstGeom>
          <a:noFill/>
        </p:spPr>
        <p:txBody>
          <a:bodyPr wrap="square" anchor="t">
            <a:spAutoFit/>
          </a:bodyPr>
          <a:lstStyle/>
          <a:p>
            <a:pPr algn="l"/>
            <a:r>
              <a:rPr sz="1100" b="1" i="0">
                <a:solidFill>
                  <a:srgbClr val="046A38"/>
                </a:solidFill>
                <a:latin typeface="Aptos"/>
              </a:rPr>
              <a:t>Key Attributes</a:t>
            </a:r>
          </a:p>
        </p:txBody>
      </p:sp>
      <p:graphicFrame>
        <p:nvGraphicFramePr>
          <p:cNvPr id="19" name="Table 18"/>
          <p:cNvGraphicFramePr>
            <a:graphicFrameLocks noGrp="1"/>
          </p:cNvGraphicFramePr>
          <p:nvPr>
            <p:extLst>
              <p:ext uri="{D42A27DB-BD31-4B8C-83A1-F6EECF244321}">
                <p14:modId xmlns:p14="http://schemas.microsoft.com/office/powerpoint/2010/main" val="1215728963"/>
              </p:ext>
            </p:extLst>
          </p:nvPr>
        </p:nvGraphicFramePr>
        <p:xfrm>
          <a:off x="6254496" y="1847088"/>
          <a:ext cx="5486400" cy="41148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411480">
                <a:tc>
                  <a:txBody>
                    <a:bodyPr/>
                    <a:lstStyle/>
                    <a:p>
                      <a:pPr>
                        <a:defRPr sz="900" b="1">
                          <a:solidFill>
                            <a:srgbClr val="FFFFFF"/>
                          </a:solidFill>
                          <a:latin typeface="Aptos"/>
                        </a:defRPr>
                      </a:pPr>
                      <a:r>
                        <a:t>Rerun indicator</a:t>
                      </a:r>
                    </a:p>
                  </a:txBody>
                  <a:tcPr anchor="ctr">
                    <a:solidFill>
                      <a:srgbClr val="007680"/>
                    </a:solidFill>
                  </a:tcPr>
                </a:tc>
                <a:tc>
                  <a:txBody>
                    <a:bodyPr/>
                    <a:lstStyle/>
                    <a:p>
                      <a:pPr>
                        <a:defRPr sz="900">
                          <a:solidFill>
                            <a:srgbClr val="282728"/>
                          </a:solidFill>
                          <a:latin typeface="Aptos"/>
                        </a:defRPr>
                      </a:pPr>
                      <a:r>
                        <a:rPr sz="900"/>
                        <a:t>'I'</a:t>
                      </a:r>
                    </a:p>
                  </a:txBody>
                  <a:tcPr anchor="ctr">
                    <a:solidFill>
                      <a:srgbClr val="FFFFFF"/>
                    </a:solidFill>
                  </a:tcPr>
                </a:tc>
                <a:extLst>
                  <a:ext uri="{0D108BD9-81ED-4DB2-BD59-A6C34878D82A}">
                    <a16:rowId xmlns:a16="http://schemas.microsoft.com/office/drawing/2014/main" val="10000"/>
                  </a:ext>
                </a:extLst>
              </a:tr>
              <a:tr h="4114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b="1">
                          <a:solidFill>
                            <a:srgbClr val="FFFFFF"/>
                          </a:solidFill>
                          <a:latin typeface="Aptos"/>
                        </a:defRPr>
                      </a:pPr>
                      <a:r>
                        <a:rPr lang="en-US"/>
                        <a:t>Batch sourcing start time</a:t>
                      </a:r>
                    </a:p>
                  </a:txBody>
                  <a:tcPr anchor="ctr">
                    <a:solidFill>
                      <a:srgbClr val="00768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a:solidFill>
                            <a:srgbClr val="282728"/>
                          </a:solidFill>
                          <a:latin typeface="Aptos"/>
                        </a:defRPr>
                      </a:pPr>
                      <a:r>
                        <a:rPr lang="en-US"/>
                        <a:t>Batch sourcing end time – 3 days from the Catchup load (Yet to be decided)</a:t>
                      </a:r>
                    </a:p>
                  </a:txBody>
                  <a:tcPr anchor="ctr">
                    <a:solidFill>
                      <a:srgbClr val="FFFFFF"/>
                    </a:solidFill>
                  </a:tcPr>
                </a:tc>
                <a:extLst>
                  <a:ext uri="{0D108BD9-81ED-4DB2-BD59-A6C34878D82A}">
                    <a16:rowId xmlns:a16="http://schemas.microsoft.com/office/drawing/2014/main" val="1579957884"/>
                  </a:ext>
                </a:extLst>
              </a:tr>
              <a:tr h="4114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b="1">
                          <a:solidFill>
                            <a:srgbClr val="FFFFFF"/>
                          </a:solidFill>
                          <a:latin typeface="Aptos"/>
                        </a:defRPr>
                      </a:pPr>
                      <a:r>
                        <a:rPr lang="en-US"/>
                        <a:t>Batch sourcing end time</a:t>
                      </a:r>
                    </a:p>
                  </a:txBody>
                  <a:tcPr anchor="ctr">
                    <a:solidFill>
                      <a:srgbClr val="007680"/>
                    </a:solidFill>
                  </a:tcPr>
                </a:tc>
                <a:tc>
                  <a:txBody>
                    <a:bodyPr/>
                    <a:lstStyle/>
                    <a:p>
                      <a:pPr marL="0" marR="0" lvl="0" indent="0" algn="l">
                        <a:lnSpc>
                          <a:spcPct val="100000"/>
                        </a:lnSpc>
                        <a:spcBef>
                          <a:spcPts val="0"/>
                        </a:spcBef>
                        <a:spcAft>
                          <a:spcPts val="0"/>
                        </a:spcAft>
                        <a:buNone/>
                      </a:pPr>
                      <a:r>
                        <a:rPr lang="en-US" sz="900"/>
                        <a:t>Source batch end time</a:t>
                      </a:r>
                      <a:endParaRPr lang="en-US"/>
                    </a:p>
                  </a:txBody>
                  <a:tcPr anchor="ctr">
                    <a:solidFill>
                      <a:srgbClr val="FFFFFF"/>
                    </a:solidFill>
                  </a:tcPr>
                </a:tc>
                <a:extLst>
                  <a:ext uri="{0D108BD9-81ED-4DB2-BD59-A6C34878D82A}">
                    <a16:rowId xmlns:a16="http://schemas.microsoft.com/office/drawing/2014/main" val="2086379850"/>
                  </a:ext>
                </a:extLst>
              </a:tr>
              <a:tr h="411480">
                <a:tc>
                  <a:txBody>
                    <a:bodyPr/>
                    <a:lstStyle/>
                    <a:p>
                      <a:pPr>
                        <a:defRPr sz="900" b="1">
                          <a:solidFill>
                            <a:srgbClr val="FFFFFF"/>
                          </a:solidFill>
                          <a:latin typeface="Aptos"/>
                        </a:defRPr>
                      </a:pPr>
                      <a:r>
                        <a:rPr sz="900"/>
                        <a:t>Pre-requisite</a:t>
                      </a:r>
                    </a:p>
                  </a:txBody>
                  <a:tcPr anchor="ctr">
                    <a:solidFill>
                      <a:srgbClr val="007680"/>
                    </a:solidFill>
                  </a:tcPr>
                </a:tc>
                <a:tc>
                  <a:txBody>
                    <a:bodyPr/>
                    <a:lstStyle/>
                    <a:p>
                      <a:pPr>
                        <a:defRPr sz="900">
                          <a:solidFill>
                            <a:srgbClr val="282728"/>
                          </a:solidFill>
                          <a:latin typeface="Aptos"/>
                        </a:defRPr>
                      </a:pPr>
                      <a:r>
                        <a:rPr sz="900"/>
                        <a:t>Not executed</a:t>
                      </a:r>
                    </a:p>
                  </a:txBody>
                  <a:tcPr anchor="ctr">
                    <a:solidFill>
                      <a:srgbClr val="FFFFFF"/>
                    </a:solidFill>
                  </a:tcPr>
                </a:tc>
                <a:extLst>
                  <a:ext uri="{0D108BD9-81ED-4DB2-BD59-A6C34878D82A}">
                    <a16:rowId xmlns:a16="http://schemas.microsoft.com/office/drawing/2014/main" val="10001"/>
                  </a:ext>
                </a:extLst>
              </a:tr>
              <a:tr h="411480">
                <a:tc>
                  <a:txBody>
                    <a:bodyPr/>
                    <a:lstStyle/>
                    <a:p>
                      <a:pPr>
                        <a:defRPr sz="900" b="1">
                          <a:solidFill>
                            <a:srgbClr val="FFFFFF"/>
                          </a:solidFill>
                          <a:latin typeface="Aptos"/>
                        </a:defRPr>
                      </a:pPr>
                      <a:r>
                        <a:rPr sz="900"/>
                        <a:t>Pre-load stats entry</a:t>
                      </a:r>
                    </a:p>
                  </a:txBody>
                  <a:tcPr anchor="ctr">
                    <a:solidFill>
                      <a:srgbClr val="007680"/>
                    </a:solidFill>
                  </a:tcPr>
                </a:tc>
                <a:tc>
                  <a:txBody>
                    <a:bodyPr/>
                    <a:lstStyle/>
                    <a:p>
                      <a:pPr>
                        <a:defRPr sz="900">
                          <a:solidFill>
                            <a:srgbClr val="282728"/>
                          </a:solidFill>
                          <a:latin typeface="Aptos"/>
                        </a:defRPr>
                      </a:pPr>
                      <a:r>
                        <a:rPr sz="900"/>
                        <a:t>Not created (manual entry used instead)</a:t>
                      </a:r>
                    </a:p>
                  </a:txBody>
                  <a:tcPr anchor="ctr">
                    <a:solidFill>
                      <a:srgbClr val="FFFFFF"/>
                    </a:solidFill>
                  </a:tcPr>
                </a:tc>
                <a:extLst>
                  <a:ext uri="{0D108BD9-81ED-4DB2-BD59-A6C34878D82A}">
                    <a16:rowId xmlns:a16="http://schemas.microsoft.com/office/drawing/2014/main" val="10002"/>
                  </a:ext>
                </a:extLst>
              </a:tr>
              <a:tr h="411480">
                <a:tc>
                  <a:txBody>
                    <a:bodyPr/>
                    <a:lstStyle/>
                    <a:p>
                      <a:pPr>
                        <a:defRPr sz="900" b="1">
                          <a:solidFill>
                            <a:srgbClr val="FFFFFF"/>
                          </a:solidFill>
                          <a:latin typeface="Aptos"/>
                        </a:defRPr>
                      </a:pPr>
                      <a:r>
                        <a:rPr sz="900"/>
                        <a:t>Window source</a:t>
                      </a:r>
                    </a:p>
                  </a:txBody>
                  <a:tcPr anchor="ctr">
                    <a:solidFill>
                      <a:srgbClr val="007680"/>
                    </a:solidFill>
                  </a:tcPr>
                </a:tc>
                <a:tc>
                  <a:txBody>
                    <a:bodyPr/>
                    <a:lstStyle/>
                    <a:p>
                      <a:pPr>
                        <a:defRPr sz="900">
                          <a:solidFill>
                            <a:srgbClr val="282728"/>
                          </a:solidFill>
                          <a:latin typeface="Aptos"/>
                        </a:defRPr>
                      </a:pPr>
                      <a:r>
                        <a:rPr sz="900"/>
                        <a:t>ETL ingestion window table (entry created)</a:t>
                      </a:r>
                    </a:p>
                  </a:txBody>
                  <a:tcPr anchor="ctr">
                    <a:solidFill>
                      <a:srgbClr val="FFFFFF"/>
                    </a:solidFill>
                  </a:tcPr>
                </a:tc>
                <a:extLst>
                  <a:ext uri="{0D108BD9-81ED-4DB2-BD59-A6C34878D82A}">
                    <a16:rowId xmlns:a16="http://schemas.microsoft.com/office/drawing/2014/main" val="10003"/>
                  </a:ext>
                </a:extLst>
              </a:tr>
              <a:tr h="411480">
                <a:tc>
                  <a:txBody>
                    <a:bodyPr/>
                    <a:lstStyle/>
                    <a:p>
                      <a:pPr>
                        <a:defRPr sz="900" b="1">
                          <a:solidFill>
                            <a:srgbClr val="FFFFFF"/>
                          </a:solidFill>
                          <a:latin typeface="Aptos"/>
                        </a:defRPr>
                      </a:pPr>
                      <a:r>
                        <a:rPr sz="900"/>
                        <a:t>Job sourcing </a:t>
                      </a:r>
                      <a:r>
                        <a:rPr sz="900" err="1"/>
                        <a:t>start_time</a:t>
                      </a:r>
                    </a:p>
                  </a:txBody>
                  <a:tcPr anchor="ctr">
                    <a:solidFill>
                      <a:srgbClr val="007680"/>
                    </a:solidFill>
                  </a:tcPr>
                </a:tc>
                <a:tc>
                  <a:txBody>
                    <a:bodyPr/>
                    <a:lstStyle/>
                    <a:p>
                      <a:pPr>
                        <a:defRPr sz="900">
                          <a:solidFill>
                            <a:srgbClr val="282728"/>
                          </a:solidFill>
                          <a:latin typeface="Aptos"/>
                        </a:defRPr>
                      </a:pPr>
                      <a:r>
                        <a:rPr sz="900"/>
                        <a:t>Fetched from </a:t>
                      </a:r>
                      <a:r>
                        <a:rPr sz="900" err="1"/>
                        <a:t>batch_sourcing_stats</a:t>
                      </a:r>
                      <a:r>
                        <a:rPr sz="900"/>
                        <a:t>, not the window table</a:t>
                      </a:r>
                    </a:p>
                  </a:txBody>
                  <a:tcPr anchor="ctr">
                    <a:solidFill>
                      <a:srgbClr val="FFFFFF"/>
                    </a:solidFill>
                  </a:tcPr>
                </a:tc>
                <a:extLst>
                  <a:ext uri="{0D108BD9-81ED-4DB2-BD59-A6C34878D82A}">
                    <a16:rowId xmlns:a16="http://schemas.microsoft.com/office/drawing/2014/main" val="10004"/>
                  </a:ext>
                </a:extLst>
              </a:tr>
              <a:tr h="411480">
                <a:tc>
                  <a:txBody>
                    <a:bodyPr/>
                    <a:lstStyle/>
                    <a:p>
                      <a:pPr>
                        <a:defRPr sz="900" b="1">
                          <a:solidFill>
                            <a:srgbClr val="FFFFFF"/>
                          </a:solidFill>
                          <a:latin typeface="Aptos"/>
                        </a:defRPr>
                      </a:pPr>
                      <a:r>
                        <a:rPr sz="900"/>
                        <a:t>Execution type</a:t>
                      </a:r>
                    </a:p>
                  </a:txBody>
                  <a:tcPr anchor="ctr">
                    <a:solidFill>
                      <a:srgbClr val="007680"/>
                    </a:solidFill>
                  </a:tcPr>
                </a:tc>
                <a:tc>
                  <a:txBody>
                    <a:bodyPr/>
                    <a:lstStyle/>
                    <a:p>
                      <a:pPr>
                        <a:defRPr sz="900">
                          <a:solidFill>
                            <a:srgbClr val="282728"/>
                          </a:solidFill>
                          <a:latin typeface="Aptos"/>
                        </a:defRPr>
                      </a:pPr>
                      <a:r>
                        <a:rPr sz="900"/>
                        <a:t>Zone2_1st_incremental</a:t>
                      </a:r>
                    </a:p>
                  </a:txBody>
                  <a:tcPr anchor="ctr">
                    <a:solidFill>
                      <a:srgbClr val="FFFFFF"/>
                    </a:solidFill>
                  </a:tcPr>
                </a:tc>
                <a:extLst>
                  <a:ext uri="{0D108BD9-81ED-4DB2-BD59-A6C34878D82A}">
                    <a16:rowId xmlns:a16="http://schemas.microsoft.com/office/drawing/2014/main" val="10005"/>
                  </a:ext>
                </a:extLst>
              </a:tr>
              <a:tr h="411480">
                <a:tc>
                  <a:txBody>
                    <a:bodyPr/>
                    <a:lstStyle/>
                    <a:p>
                      <a:pPr>
                        <a:defRPr sz="900" b="1">
                          <a:solidFill>
                            <a:srgbClr val="FFFFFF"/>
                          </a:solidFill>
                          <a:latin typeface="Aptos"/>
                        </a:defRPr>
                      </a:pPr>
                      <a:r>
                        <a:rPr sz="900"/>
                        <a:t>Batch ID / Job ID</a:t>
                      </a:r>
                    </a:p>
                  </a:txBody>
                  <a:tcPr anchor="ctr">
                    <a:solidFill>
                      <a:srgbClr val="007680"/>
                    </a:solidFill>
                  </a:tcPr>
                </a:tc>
                <a:tc>
                  <a:txBody>
                    <a:bodyPr/>
                    <a:lstStyle/>
                    <a:p>
                      <a:pPr>
                        <a:defRPr sz="900">
                          <a:solidFill>
                            <a:srgbClr val="282728"/>
                          </a:solidFill>
                          <a:latin typeface="Aptos"/>
                        </a:defRPr>
                      </a:pPr>
                      <a:r>
                        <a:t>Same as regular incremental load (reused mapping)</a:t>
                      </a:r>
                      <a:r>
                        <a:rPr lang="en-US"/>
                        <a:t>; Different from History and Catchup load</a:t>
                      </a:r>
                      <a:endParaRPr/>
                    </a:p>
                  </a:txBody>
                  <a:tcPr anchor="ctr">
                    <a:solidFill>
                      <a:srgbClr val="FFFFFF"/>
                    </a:solidFill>
                  </a:tcPr>
                </a:tc>
                <a:extLst>
                  <a:ext uri="{0D108BD9-81ED-4DB2-BD59-A6C34878D82A}">
                    <a16:rowId xmlns:a16="http://schemas.microsoft.com/office/drawing/2014/main" val="10006"/>
                  </a:ext>
                </a:extLst>
              </a:tr>
              <a:tr h="4114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sz="900" b="1">
                          <a:solidFill>
                            <a:srgbClr val="FFFFFF"/>
                          </a:solidFill>
                          <a:latin typeface="Aptos"/>
                        </a:defRPr>
                      </a:pPr>
                      <a:r>
                        <a:rPr lang="en-US"/>
                        <a:t>Mapping</a:t>
                      </a:r>
                    </a:p>
                  </a:txBody>
                  <a:tcPr anchor="ctr">
                    <a:solidFill>
                      <a:srgbClr val="007680"/>
                    </a:solidFill>
                  </a:tcPr>
                </a:tc>
                <a:tc>
                  <a:txBody>
                    <a:bodyPr/>
                    <a:lstStyle/>
                    <a:p>
                      <a:pPr>
                        <a:defRPr sz="900">
                          <a:solidFill>
                            <a:srgbClr val="282728"/>
                          </a:solidFill>
                          <a:latin typeface="Aptos"/>
                        </a:defRPr>
                      </a:pPr>
                      <a:r>
                        <a:rPr lang="en-US"/>
                        <a:t>Same as regular incremental load (reused mapping); Different from History and Catchup load</a:t>
                      </a:r>
                    </a:p>
                  </a:txBody>
                  <a:tcPr anchor="ctr">
                    <a:solidFill>
                      <a:srgbClr val="FFFFFF"/>
                    </a:solidFill>
                  </a:tcPr>
                </a:tc>
                <a:extLst>
                  <a:ext uri="{0D108BD9-81ED-4DB2-BD59-A6C34878D82A}">
                    <a16:rowId xmlns:a16="http://schemas.microsoft.com/office/drawing/2014/main" val="316606543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Three Load Types Share a Pattern but Diverge on Windowing and IDs</a:t>
            </a:r>
          </a:p>
        </p:txBody>
      </p:sp>
      <p:graphicFrame>
        <p:nvGraphicFramePr>
          <p:cNvPr id="3" name="Table 2"/>
          <p:cNvGraphicFramePr>
            <a:graphicFrameLocks noGrp="1"/>
          </p:cNvGraphicFramePr>
          <p:nvPr>
            <p:extLst>
              <p:ext uri="{D42A27DB-BD31-4B8C-83A1-F6EECF244321}">
                <p14:modId xmlns:p14="http://schemas.microsoft.com/office/powerpoint/2010/main" val="1687671599"/>
              </p:ext>
            </p:extLst>
          </p:nvPr>
        </p:nvGraphicFramePr>
        <p:xfrm>
          <a:off x="457200" y="1463040"/>
          <a:ext cx="11274642" cy="4892040"/>
        </p:xfrm>
        <a:graphic>
          <a:graphicData uri="http://schemas.openxmlformats.org/drawingml/2006/table">
            <a:tbl>
              <a:tblPr firstRow="1" bandRow="1">
                <a:tableStyleId>{5C22544A-7EE6-4342-B048-85BDC9FD1C3A}</a:tableStyleId>
              </a:tblPr>
              <a:tblGrid>
                <a:gridCol w="2862072">
                  <a:extLst>
                    <a:ext uri="{9D8B030D-6E8A-4147-A177-3AD203B41FA5}">
                      <a16:colId xmlns:a16="http://schemas.microsoft.com/office/drawing/2014/main" val="20000"/>
                    </a:ext>
                  </a:extLst>
                </a:gridCol>
                <a:gridCol w="2804190">
                  <a:extLst>
                    <a:ext uri="{9D8B030D-6E8A-4147-A177-3AD203B41FA5}">
                      <a16:colId xmlns:a16="http://schemas.microsoft.com/office/drawing/2014/main" val="20001"/>
                    </a:ext>
                  </a:extLst>
                </a:gridCol>
                <a:gridCol w="2804190">
                  <a:extLst>
                    <a:ext uri="{9D8B030D-6E8A-4147-A177-3AD203B41FA5}">
                      <a16:colId xmlns:a16="http://schemas.microsoft.com/office/drawing/2014/main" val="20002"/>
                    </a:ext>
                  </a:extLst>
                </a:gridCol>
                <a:gridCol w="2804190">
                  <a:extLst>
                    <a:ext uri="{9D8B030D-6E8A-4147-A177-3AD203B41FA5}">
                      <a16:colId xmlns:a16="http://schemas.microsoft.com/office/drawing/2014/main" val="20003"/>
                    </a:ext>
                  </a:extLst>
                </a:gridCol>
              </a:tblGrid>
              <a:tr h="543560">
                <a:tc>
                  <a:txBody>
                    <a:bodyPr/>
                    <a:lstStyle/>
                    <a:p>
                      <a:pPr algn="ctr">
                        <a:defRPr sz="1050" b="1">
                          <a:solidFill>
                            <a:srgbClr val="FFFFFF"/>
                          </a:solidFill>
                          <a:latin typeface="Aptos"/>
                        </a:defRPr>
                      </a:pPr>
                      <a:r>
                        <a:rPr sz="1050"/>
                        <a:t>Attribute</a:t>
                      </a:r>
                    </a:p>
                  </a:txBody>
                  <a:tcPr anchor="ctr">
                    <a:solidFill>
                      <a:srgbClr val="282728"/>
                    </a:solidFill>
                  </a:tcPr>
                </a:tc>
                <a:tc>
                  <a:txBody>
                    <a:bodyPr/>
                    <a:lstStyle/>
                    <a:p>
                      <a:pPr algn="ctr">
                        <a:defRPr sz="1050" b="1">
                          <a:solidFill>
                            <a:srgbClr val="FFFFFF"/>
                          </a:solidFill>
                          <a:latin typeface="Aptos"/>
                        </a:defRPr>
                      </a:pPr>
                      <a:r>
                        <a:rPr sz="1050"/>
                        <a:t>Historical Load</a:t>
                      </a:r>
                    </a:p>
                  </a:txBody>
                  <a:tcPr anchor="ctr">
                    <a:solidFill>
                      <a:srgbClr val="26890D"/>
                    </a:solidFill>
                  </a:tcPr>
                </a:tc>
                <a:tc>
                  <a:txBody>
                    <a:bodyPr/>
                    <a:lstStyle/>
                    <a:p>
                      <a:pPr algn="ctr">
                        <a:defRPr sz="1050" b="1">
                          <a:solidFill>
                            <a:srgbClr val="FFFFFF"/>
                          </a:solidFill>
                          <a:latin typeface="Aptos"/>
                        </a:defRPr>
                      </a:pPr>
                      <a:r>
                        <a:rPr sz="1050"/>
                        <a:t>Catchup Load</a:t>
                      </a:r>
                    </a:p>
                  </a:txBody>
                  <a:tcPr anchor="ctr">
                    <a:solidFill>
                      <a:srgbClr val="0D8390"/>
                    </a:solidFill>
                  </a:tcPr>
                </a:tc>
                <a:tc>
                  <a:txBody>
                    <a:bodyPr/>
                    <a:lstStyle/>
                    <a:p>
                      <a:pPr algn="ctr">
                        <a:defRPr sz="1050" b="1">
                          <a:solidFill>
                            <a:srgbClr val="FFFFFF"/>
                          </a:solidFill>
                          <a:latin typeface="Aptos"/>
                        </a:defRPr>
                      </a:pPr>
                      <a:r>
                        <a:rPr sz="1050"/>
                        <a:t>First-Time Incremental</a:t>
                      </a:r>
                    </a:p>
                  </a:txBody>
                  <a:tcPr anchor="ctr">
                    <a:solidFill>
                      <a:srgbClr val="007680"/>
                    </a:solidFill>
                  </a:tcPr>
                </a:tc>
                <a:extLst>
                  <a:ext uri="{0D108BD9-81ED-4DB2-BD59-A6C34878D82A}">
                    <a16:rowId xmlns:a16="http://schemas.microsoft.com/office/drawing/2014/main" val="10000"/>
                  </a:ext>
                </a:extLst>
              </a:tr>
              <a:tr h="543560">
                <a:tc>
                  <a:txBody>
                    <a:bodyPr/>
                    <a:lstStyle/>
                    <a:p>
                      <a:pPr algn="l">
                        <a:defRPr sz="900" b="1">
                          <a:solidFill>
                            <a:srgbClr val="282728"/>
                          </a:solidFill>
                          <a:latin typeface="Aptos"/>
                        </a:defRPr>
                      </a:pPr>
                      <a:r>
                        <a:rPr sz="900"/>
                        <a:t>Rerun indicator</a:t>
                      </a:r>
                    </a:p>
                  </a:txBody>
                  <a:tcPr anchor="ctr">
                    <a:solidFill>
                      <a:srgbClr val="F4F7EE"/>
                    </a:solidFill>
                  </a:tcPr>
                </a:tc>
                <a:tc>
                  <a:txBody>
                    <a:bodyPr/>
                    <a:lstStyle/>
                    <a:p>
                      <a:pPr algn="ctr">
                        <a:defRPr sz="900" b="0">
                          <a:solidFill>
                            <a:srgbClr val="282728"/>
                          </a:solidFill>
                          <a:latin typeface="Aptos"/>
                        </a:defRPr>
                      </a:pPr>
                      <a:r>
                        <a:rPr sz="900"/>
                        <a:t>'H'</a:t>
                      </a:r>
                    </a:p>
                  </a:txBody>
                  <a:tcPr anchor="ctr">
                    <a:solidFill>
                      <a:srgbClr val="F4F7EE"/>
                    </a:solidFill>
                  </a:tcPr>
                </a:tc>
                <a:tc>
                  <a:txBody>
                    <a:bodyPr/>
                    <a:lstStyle/>
                    <a:p>
                      <a:pPr algn="ctr">
                        <a:defRPr sz="900" b="0">
                          <a:solidFill>
                            <a:srgbClr val="282728"/>
                          </a:solidFill>
                          <a:latin typeface="Aptos"/>
                        </a:defRPr>
                      </a:pPr>
                      <a:r>
                        <a:rPr sz="900"/>
                        <a:t>'C'</a:t>
                      </a:r>
                    </a:p>
                  </a:txBody>
                  <a:tcPr anchor="ctr">
                    <a:solidFill>
                      <a:srgbClr val="F4F7EE"/>
                    </a:solidFill>
                  </a:tcPr>
                </a:tc>
                <a:tc>
                  <a:txBody>
                    <a:bodyPr/>
                    <a:lstStyle/>
                    <a:p>
                      <a:pPr algn="ctr">
                        <a:defRPr sz="900" b="0">
                          <a:solidFill>
                            <a:srgbClr val="282728"/>
                          </a:solidFill>
                          <a:latin typeface="Aptos"/>
                        </a:defRPr>
                      </a:pPr>
                      <a:r>
                        <a:rPr sz="900"/>
                        <a:t>'I'</a:t>
                      </a:r>
                    </a:p>
                  </a:txBody>
                  <a:tcPr anchor="ctr">
                    <a:solidFill>
                      <a:srgbClr val="F4F7EE"/>
                    </a:solidFill>
                  </a:tcPr>
                </a:tc>
                <a:extLst>
                  <a:ext uri="{0D108BD9-81ED-4DB2-BD59-A6C34878D82A}">
                    <a16:rowId xmlns:a16="http://schemas.microsoft.com/office/drawing/2014/main" val="10001"/>
                  </a:ext>
                </a:extLst>
              </a:tr>
              <a:tr h="543560">
                <a:tc>
                  <a:txBody>
                    <a:bodyPr/>
                    <a:lstStyle/>
                    <a:p>
                      <a:pPr algn="l">
                        <a:defRPr sz="900" b="1">
                          <a:solidFill>
                            <a:srgbClr val="282728"/>
                          </a:solidFill>
                          <a:latin typeface="Aptos"/>
                        </a:defRPr>
                      </a:pPr>
                      <a:r>
                        <a:rPr sz="900" err="1"/>
                        <a:t>batch_run_stats</a:t>
                      </a:r>
                      <a:r>
                        <a:rPr sz="900"/>
                        <a:t> / </a:t>
                      </a:r>
                      <a:r>
                        <a:rPr sz="900" err="1"/>
                        <a:t>batch_sourcing_stats</a:t>
                      </a:r>
                      <a:r>
                        <a:rPr sz="900"/>
                        <a:t> entry</a:t>
                      </a:r>
                    </a:p>
                  </a:txBody>
                  <a:tcPr anchor="ctr">
                    <a:solidFill>
                      <a:srgbClr val="FFFFFF"/>
                    </a:solidFill>
                  </a:tcPr>
                </a:tc>
                <a:tc>
                  <a:txBody>
                    <a:bodyPr/>
                    <a:lstStyle/>
                    <a:p>
                      <a:pPr algn="ctr">
                        <a:defRPr sz="900" b="0">
                          <a:solidFill>
                            <a:srgbClr val="282728"/>
                          </a:solidFill>
                          <a:latin typeface="Aptos"/>
                        </a:defRPr>
                      </a:pPr>
                      <a:r>
                        <a:rPr sz="900"/>
                        <a:t>Manual (pre-created)</a:t>
                      </a:r>
                    </a:p>
                  </a:txBody>
                  <a:tcPr anchor="ctr">
                    <a:solidFill>
                      <a:srgbClr val="FFFFFF"/>
                    </a:solidFill>
                  </a:tcPr>
                </a:tc>
                <a:tc>
                  <a:txBody>
                    <a:bodyPr/>
                    <a:lstStyle/>
                    <a:p>
                      <a:pPr algn="ctr">
                        <a:defRPr sz="900" b="0">
                          <a:solidFill>
                            <a:srgbClr val="282728"/>
                          </a:solidFill>
                          <a:latin typeface="Aptos"/>
                        </a:defRPr>
                      </a:pPr>
                      <a:r>
                        <a:rPr sz="900"/>
                        <a:t>Manual (pre-created)</a:t>
                      </a:r>
                    </a:p>
                  </a:txBody>
                  <a:tcPr anchor="ctr">
                    <a:solidFill>
                      <a:srgbClr val="FFFFFF"/>
                    </a:solidFill>
                  </a:tcPr>
                </a:tc>
                <a:tc>
                  <a:txBody>
                    <a:bodyPr/>
                    <a:lstStyle/>
                    <a:p>
                      <a:pPr algn="ctr">
                        <a:defRPr sz="900" b="0">
                          <a:solidFill>
                            <a:srgbClr val="282728"/>
                          </a:solidFill>
                          <a:latin typeface="Aptos"/>
                        </a:defRPr>
                      </a:pPr>
                      <a:r>
                        <a:rPr sz="900"/>
                        <a:t>Manual (pre-created)</a:t>
                      </a:r>
                    </a:p>
                  </a:txBody>
                  <a:tcPr anchor="ctr">
                    <a:solidFill>
                      <a:srgbClr val="FFFFFF"/>
                    </a:solidFill>
                  </a:tcPr>
                </a:tc>
                <a:extLst>
                  <a:ext uri="{0D108BD9-81ED-4DB2-BD59-A6C34878D82A}">
                    <a16:rowId xmlns:a16="http://schemas.microsoft.com/office/drawing/2014/main" val="10002"/>
                  </a:ext>
                </a:extLst>
              </a:tr>
              <a:tr h="543560">
                <a:tc>
                  <a:txBody>
                    <a:bodyPr/>
                    <a:lstStyle/>
                    <a:p>
                      <a:pPr algn="l">
                        <a:defRPr sz="900" b="1">
                          <a:solidFill>
                            <a:srgbClr val="282728"/>
                          </a:solidFill>
                          <a:latin typeface="Aptos"/>
                        </a:defRPr>
                      </a:pPr>
                      <a:r>
                        <a:rPr sz="900"/>
                        <a:t>Batch pre-requisite executed?</a:t>
                      </a:r>
                    </a:p>
                  </a:txBody>
                  <a:tcPr anchor="ctr">
                    <a:solidFill>
                      <a:srgbClr val="F4F7EE"/>
                    </a:solidFill>
                  </a:tcPr>
                </a:tc>
                <a:tc>
                  <a:txBody>
                    <a:bodyPr/>
                    <a:lstStyle/>
                    <a:p>
                      <a:pPr algn="ctr">
                        <a:defRPr sz="900" b="0">
                          <a:solidFill>
                            <a:srgbClr val="282728"/>
                          </a:solidFill>
                          <a:latin typeface="Aptos"/>
                        </a:defRPr>
                      </a:pPr>
                      <a:r>
                        <a:rPr sz="900"/>
                        <a:t>No</a:t>
                      </a:r>
                    </a:p>
                  </a:txBody>
                  <a:tcPr anchor="ctr">
                    <a:solidFill>
                      <a:srgbClr val="F4F7EE"/>
                    </a:solidFill>
                  </a:tcPr>
                </a:tc>
                <a:tc>
                  <a:txBody>
                    <a:bodyPr/>
                    <a:lstStyle/>
                    <a:p>
                      <a:pPr algn="ctr">
                        <a:defRPr sz="900" b="0">
                          <a:solidFill>
                            <a:srgbClr val="282728"/>
                          </a:solidFill>
                          <a:latin typeface="Aptos"/>
                        </a:defRPr>
                      </a:pPr>
                      <a:r>
                        <a:rPr sz="900"/>
                        <a:t>No</a:t>
                      </a:r>
                    </a:p>
                  </a:txBody>
                  <a:tcPr anchor="ctr">
                    <a:solidFill>
                      <a:srgbClr val="F4F7EE"/>
                    </a:solidFill>
                  </a:tcPr>
                </a:tc>
                <a:tc>
                  <a:txBody>
                    <a:bodyPr/>
                    <a:lstStyle/>
                    <a:p>
                      <a:pPr algn="ctr">
                        <a:defRPr sz="900" b="0">
                          <a:solidFill>
                            <a:srgbClr val="282728"/>
                          </a:solidFill>
                          <a:latin typeface="Aptos"/>
                        </a:defRPr>
                      </a:pPr>
                      <a:r>
                        <a:rPr sz="900"/>
                        <a:t>No</a:t>
                      </a:r>
                    </a:p>
                  </a:txBody>
                  <a:tcPr anchor="ctr">
                    <a:solidFill>
                      <a:srgbClr val="F4F7EE"/>
                    </a:solidFill>
                  </a:tcPr>
                </a:tc>
                <a:extLst>
                  <a:ext uri="{0D108BD9-81ED-4DB2-BD59-A6C34878D82A}">
                    <a16:rowId xmlns:a16="http://schemas.microsoft.com/office/drawing/2014/main" val="10003"/>
                  </a:ext>
                </a:extLst>
              </a:tr>
              <a:tr h="543560">
                <a:tc>
                  <a:txBody>
                    <a:bodyPr/>
                    <a:lstStyle/>
                    <a:p>
                      <a:pPr algn="l">
                        <a:defRPr sz="900" b="1">
                          <a:solidFill>
                            <a:srgbClr val="282728"/>
                          </a:solidFill>
                          <a:latin typeface="Aptos"/>
                        </a:defRPr>
                      </a:pPr>
                      <a:r>
                        <a:rPr sz="900"/>
                        <a:t>Batch pre-load creates stats entries?</a:t>
                      </a:r>
                    </a:p>
                  </a:txBody>
                  <a:tcPr anchor="ctr">
                    <a:solidFill>
                      <a:srgbClr val="FFFFFF"/>
                    </a:solidFill>
                  </a:tcPr>
                </a:tc>
                <a:tc>
                  <a:txBody>
                    <a:bodyPr/>
                    <a:lstStyle/>
                    <a:p>
                      <a:pPr algn="ctr">
                        <a:defRPr sz="900" b="0">
                          <a:solidFill>
                            <a:srgbClr val="282728"/>
                          </a:solidFill>
                          <a:latin typeface="Aptos"/>
                        </a:defRPr>
                      </a:pPr>
                      <a:r>
                        <a:rPr sz="900"/>
                        <a:t>No (already exist)</a:t>
                      </a:r>
                    </a:p>
                  </a:txBody>
                  <a:tcPr anchor="ctr">
                    <a:solidFill>
                      <a:srgbClr val="FFFFFF"/>
                    </a:solidFill>
                  </a:tcPr>
                </a:tc>
                <a:tc>
                  <a:txBody>
                    <a:bodyPr/>
                    <a:lstStyle/>
                    <a:p>
                      <a:pPr algn="ctr">
                        <a:defRPr sz="900" b="0">
                          <a:solidFill>
                            <a:srgbClr val="282728"/>
                          </a:solidFill>
                          <a:latin typeface="Aptos"/>
                        </a:defRPr>
                      </a:pPr>
                      <a:r>
                        <a:rPr sz="900"/>
                        <a:t>No (already exist)</a:t>
                      </a:r>
                    </a:p>
                  </a:txBody>
                  <a:tcPr anchor="ctr">
                    <a:solidFill>
                      <a:srgbClr val="FFFFFF"/>
                    </a:solidFill>
                  </a:tcPr>
                </a:tc>
                <a:tc>
                  <a:txBody>
                    <a:bodyPr/>
                    <a:lstStyle/>
                    <a:p>
                      <a:pPr algn="ctr">
                        <a:defRPr sz="900" b="0">
                          <a:solidFill>
                            <a:srgbClr val="282728"/>
                          </a:solidFill>
                          <a:latin typeface="Aptos"/>
                        </a:defRPr>
                      </a:pPr>
                      <a:r>
                        <a:rPr sz="900"/>
                        <a:t>No (already exist)</a:t>
                      </a:r>
                    </a:p>
                  </a:txBody>
                  <a:tcPr anchor="ctr">
                    <a:solidFill>
                      <a:srgbClr val="FFFFFF"/>
                    </a:solidFill>
                  </a:tcPr>
                </a:tc>
                <a:extLst>
                  <a:ext uri="{0D108BD9-81ED-4DB2-BD59-A6C34878D82A}">
                    <a16:rowId xmlns:a16="http://schemas.microsoft.com/office/drawing/2014/main" val="10004"/>
                  </a:ext>
                </a:extLst>
              </a:tr>
              <a:tr h="543560">
                <a:tc>
                  <a:txBody>
                    <a:bodyPr/>
                    <a:lstStyle/>
                    <a:p>
                      <a:pPr algn="l">
                        <a:defRPr sz="900" b="1">
                          <a:solidFill>
                            <a:srgbClr val="282728"/>
                          </a:solidFill>
                          <a:latin typeface="Aptos"/>
                        </a:defRPr>
                      </a:pPr>
                      <a:r>
                        <a:rPr sz="900"/>
                        <a:t>ETL Data Ingestion Window table entry</a:t>
                      </a:r>
                    </a:p>
                  </a:txBody>
                  <a:tcPr anchor="ctr">
                    <a:solidFill>
                      <a:srgbClr val="F4F7EE"/>
                    </a:solidFill>
                  </a:tcPr>
                </a:tc>
                <a:tc>
                  <a:txBody>
                    <a:bodyPr/>
                    <a:lstStyle/>
                    <a:p>
                      <a:pPr algn="ctr">
                        <a:defRPr sz="900" b="0">
                          <a:solidFill>
                            <a:srgbClr val="282728"/>
                          </a:solidFill>
                          <a:latin typeface="Aptos"/>
                        </a:defRPr>
                      </a:pPr>
                      <a:r>
                        <a:rPr sz="900"/>
                        <a:t>Not created</a:t>
                      </a:r>
                    </a:p>
                  </a:txBody>
                  <a:tcPr anchor="ctr">
                    <a:solidFill>
                      <a:srgbClr val="F4F7EE"/>
                    </a:solidFill>
                  </a:tcPr>
                </a:tc>
                <a:tc>
                  <a:txBody>
                    <a:bodyPr/>
                    <a:lstStyle/>
                    <a:p>
                      <a:pPr algn="ctr">
                        <a:defRPr sz="900" b="0">
                          <a:solidFill>
                            <a:srgbClr val="282728"/>
                          </a:solidFill>
                          <a:latin typeface="Aptos"/>
                        </a:defRPr>
                      </a:pPr>
                      <a:r>
                        <a:rPr sz="900"/>
                        <a:t>Not created</a:t>
                      </a:r>
                    </a:p>
                  </a:txBody>
                  <a:tcPr anchor="ctr">
                    <a:solidFill>
                      <a:srgbClr val="F4F7EE"/>
                    </a:solidFill>
                  </a:tcPr>
                </a:tc>
                <a:tc>
                  <a:txBody>
                    <a:bodyPr/>
                    <a:lstStyle/>
                    <a:p>
                      <a:pPr algn="ctr">
                        <a:defRPr sz="900" b="0">
                          <a:solidFill>
                            <a:srgbClr val="282728"/>
                          </a:solidFill>
                          <a:latin typeface="Aptos"/>
                        </a:defRPr>
                      </a:pPr>
                      <a:r>
                        <a:rPr sz="900"/>
                        <a:t>Created</a:t>
                      </a:r>
                    </a:p>
                  </a:txBody>
                  <a:tcPr anchor="ctr">
                    <a:solidFill>
                      <a:srgbClr val="F4F7EE"/>
                    </a:solidFill>
                  </a:tcPr>
                </a:tc>
                <a:extLst>
                  <a:ext uri="{0D108BD9-81ED-4DB2-BD59-A6C34878D82A}">
                    <a16:rowId xmlns:a16="http://schemas.microsoft.com/office/drawing/2014/main" val="10005"/>
                  </a:ext>
                </a:extLst>
              </a:tr>
              <a:tr h="543560">
                <a:tc>
                  <a:txBody>
                    <a:bodyPr/>
                    <a:lstStyle/>
                    <a:p>
                      <a:pPr algn="l">
                        <a:defRPr sz="900" b="1">
                          <a:solidFill>
                            <a:srgbClr val="282728"/>
                          </a:solidFill>
                          <a:latin typeface="Aptos"/>
                        </a:defRPr>
                      </a:pPr>
                      <a:r>
                        <a:rPr sz="900"/>
                        <a:t>Window driven by</a:t>
                      </a:r>
                    </a:p>
                  </a:txBody>
                  <a:tcPr anchor="ctr">
                    <a:solidFill>
                      <a:srgbClr val="FFFFFF"/>
                    </a:solidFill>
                  </a:tcPr>
                </a:tc>
                <a:tc>
                  <a:txBody>
                    <a:bodyPr/>
                    <a:lstStyle/>
                    <a:p>
                      <a:pPr algn="ctr">
                        <a:defRPr sz="900" b="0">
                          <a:solidFill>
                            <a:srgbClr val="282728"/>
                          </a:solidFill>
                          <a:latin typeface="Aptos"/>
                        </a:defRPr>
                      </a:pPr>
                      <a:r>
                        <a:rPr sz="900" err="1"/>
                        <a:t>batch_sourcing_stats</a:t>
                      </a:r>
                    </a:p>
                    <a:p>
                      <a:pPr algn="ctr">
                        <a:defRPr sz="900" b="0">
                          <a:solidFill>
                            <a:srgbClr val="282728"/>
                          </a:solidFill>
                          <a:latin typeface="Aptos"/>
                        </a:defRPr>
                      </a:pPr>
                      <a:r>
                        <a:rPr sz="900"/>
                        <a:t>start / end time</a:t>
                      </a:r>
                    </a:p>
                  </a:txBody>
                  <a:tcPr anchor="ctr">
                    <a:solidFill>
                      <a:srgbClr val="FFFFFF"/>
                    </a:solidFill>
                  </a:tcPr>
                </a:tc>
                <a:tc>
                  <a:txBody>
                    <a:bodyPr/>
                    <a:lstStyle/>
                    <a:p>
                      <a:pPr algn="ctr">
                        <a:defRPr sz="900" b="0">
                          <a:solidFill>
                            <a:srgbClr val="282728"/>
                          </a:solidFill>
                          <a:latin typeface="Aptos"/>
                        </a:defRPr>
                      </a:pPr>
                      <a:r>
                        <a:rPr sz="900" err="1"/>
                        <a:t>batch_sourcing_stats</a:t>
                      </a:r>
                    </a:p>
                    <a:p>
                      <a:pPr algn="ctr">
                        <a:defRPr sz="900" b="0">
                          <a:solidFill>
                            <a:srgbClr val="282728"/>
                          </a:solidFill>
                          <a:latin typeface="Aptos"/>
                        </a:defRPr>
                      </a:pPr>
                      <a:r>
                        <a:rPr sz="900"/>
                        <a:t>start / end time</a:t>
                      </a:r>
                    </a:p>
                  </a:txBody>
                  <a:tcPr anchor="ctr">
                    <a:solidFill>
                      <a:srgbClr val="FFFFFF"/>
                    </a:solidFill>
                  </a:tcPr>
                </a:tc>
                <a:tc>
                  <a:txBody>
                    <a:bodyPr/>
                    <a:lstStyle/>
                    <a:p>
                      <a:pPr algn="ctr">
                        <a:defRPr sz="900" b="0">
                          <a:solidFill>
                            <a:srgbClr val="282728"/>
                          </a:solidFill>
                          <a:latin typeface="Aptos"/>
                        </a:defRPr>
                      </a:pPr>
                      <a:r>
                        <a:rPr sz="900"/>
                        <a:t>ETL window table; </a:t>
                      </a:r>
                      <a:r>
                        <a:rPr sz="900" err="1"/>
                        <a:t>start_time</a:t>
                      </a:r>
                    </a:p>
                    <a:p>
                      <a:pPr algn="ctr">
                        <a:defRPr sz="900" b="0">
                          <a:solidFill>
                            <a:srgbClr val="282728"/>
                          </a:solidFill>
                          <a:latin typeface="Aptos"/>
                        </a:defRPr>
                      </a:pPr>
                      <a:r>
                        <a:rPr sz="900"/>
                        <a:t>sourced from </a:t>
                      </a:r>
                      <a:r>
                        <a:rPr sz="900" err="1"/>
                        <a:t>batch_sourcing_stats</a:t>
                      </a:r>
                    </a:p>
                  </a:txBody>
                  <a:tcPr anchor="ctr">
                    <a:solidFill>
                      <a:srgbClr val="FFFFFF"/>
                    </a:solidFill>
                  </a:tcPr>
                </a:tc>
                <a:extLst>
                  <a:ext uri="{0D108BD9-81ED-4DB2-BD59-A6C34878D82A}">
                    <a16:rowId xmlns:a16="http://schemas.microsoft.com/office/drawing/2014/main" val="10006"/>
                  </a:ext>
                </a:extLst>
              </a:tr>
              <a:tr h="543560">
                <a:tc>
                  <a:txBody>
                    <a:bodyPr/>
                    <a:lstStyle/>
                    <a:p>
                      <a:pPr algn="l">
                        <a:defRPr sz="900" b="1">
                          <a:solidFill>
                            <a:srgbClr val="282728"/>
                          </a:solidFill>
                          <a:latin typeface="Aptos"/>
                        </a:defRPr>
                      </a:pPr>
                      <a:r>
                        <a:rPr sz="900"/>
                        <a:t>Execution type</a:t>
                      </a:r>
                    </a:p>
                  </a:txBody>
                  <a:tcPr anchor="ctr">
                    <a:solidFill>
                      <a:srgbClr val="F4F7EE"/>
                    </a:solidFill>
                  </a:tcPr>
                </a:tc>
                <a:tc>
                  <a:txBody>
                    <a:bodyPr/>
                    <a:lstStyle/>
                    <a:p>
                      <a:pPr algn="ctr">
                        <a:defRPr sz="900" b="0">
                          <a:solidFill>
                            <a:srgbClr val="282728"/>
                          </a:solidFill>
                          <a:latin typeface="Aptos"/>
                        </a:defRPr>
                      </a:pPr>
                      <a:r>
                        <a:rPr sz="900"/>
                        <a:t>History</a:t>
                      </a:r>
                    </a:p>
                  </a:txBody>
                  <a:tcPr anchor="ctr">
                    <a:solidFill>
                      <a:srgbClr val="F4F7EE"/>
                    </a:solidFill>
                  </a:tcPr>
                </a:tc>
                <a:tc>
                  <a:txBody>
                    <a:bodyPr/>
                    <a:lstStyle/>
                    <a:p>
                      <a:pPr algn="ctr">
                        <a:defRPr sz="900" b="0">
                          <a:solidFill>
                            <a:srgbClr val="282728"/>
                          </a:solidFill>
                          <a:latin typeface="Aptos"/>
                        </a:defRPr>
                      </a:pPr>
                      <a:r>
                        <a:rPr lang="en-US" sz="900"/>
                        <a:t>Catchup</a:t>
                      </a:r>
                      <a:endParaRPr sz="900"/>
                    </a:p>
                  </a:txBody>
                  <a:tcPr anchor="ctr">
                    <a:solidFill>
                      <a:srgbClr val="F4F7EE"/>
                    </a:solidFill>
                  </a:tcPr>
                </a:tc>
                <a:tc>
                  <a:txBody>
                    <a:bodyPr/>
                    <a:lstStyle/>
                    <a:p>
                      <a:pPr algn="ctr">
                        <a:defRPr sz="900" b="0">
                          <a:solidFill>
                            <a:srgbClr val="282728"/>
                          </a:solidFill>
                          <a:latin typeface="Aptos"/>
                        </a:defRPr>
                      </a:pPr>
                      <a:r>
                        <a:rPr sz="900"/>
                        <a:t>Zone2_1st_incremental</a:t>
                      </a:r>
                    </a:p>
                  </a:txBody>
                  <a:tcPr anchor="ctr">
                    <a:solidFill>
                      <a:srgbClr val="F4F7EE"/>
                    </a:solidFill>
                  </a:tcPr>
                </a:tc>
                <a:extLst>
                  <a:ext uri="{0D108BD9-81ED-4DB2-BD59-A6C34878D82A}">
                    <a16:rowId xmlns:a16="http://schemas.microsoft.com/office/drawing/2014/main" val="10007"/>
                  </a:ext>
                </a:extLst>
              </a:tr>
              <a:tr h="543560">
                <a:tc>
                  <a:txBody>
                    <a:bodyPr/>
                    <a:lstStyle/>
                    <a:p>
                      <a:pPr algn="l">
                        <a:defRPr sz="900" b="1">
                          <a:solidFill>
                            <a:srgbClr val="282728"/>
                          </a:solidFill>
                          <a:latin typeface="Aptos"/>
                        </a:defRPr>
                      </a:pPr>
                      <a:r>
                        <a:rPr sz="900"/>
                        <a:t>Batch ID / Job ID / Mapping</a:t>
                      </a:r>
                    </a:p>
                  </a:txBody>
                  <a:tcPr anchor="ctr">
                    <a:solidFill>
                      <a:srgbClr val="FFFFFF"/>
                    </a:solidFill>
                  </a:tcPr>
                </a:tc>
                <a:tc>
                  <a:txBody>
                    <a:bodyPr/>
                    <a:lstStyle/>
                    <a:p>
                      <a:pPr algn="ctr">
                        <a:defRPr sz="900" b="0">
                          <a:solidFill>
                            <a:srgbClr val="282728"/>
                          </a:solidFill>
                          <a:latin typeface="Aptos"/>
                        </a:defRPr>
                      </a:pPr>
                      <a:r>
                        <a:rPr sz="900"/>
                        <a:t>Same as Catchup;</a:t>
                      </a:r>
                    </a:p>
                    <a:p>
                      <a:pPr algn="ctr">
                        <a:defRPr sz="900" b="0">
                          <a:solidFill>
                            <a:srgbClr val="282728"/>
                          </a:solidFill>
                          <a:latin typeface="Aptos"/>
                        </a:defRPr>
                      </a:pPr>
                      <a:r>
                        <a:rPr sz="900"/>
                        <a:t>separate from Incremental</a:t>
                      </a:r>
                    </a:p>
                  </a:txBody>
                  <a:tcPr anchor="ctr">
                    <a:solidFill>
                      <a:srgbClr val="FFFFFF"/>
                    </a:solidFill>
                  </a:tcPr>
                </a:tc>
                <a:tc>
                  <a:txBody>
                    <a:bodyPr/>
                    <a:lstStyle/>
                    <a:p>
                      <a:pPr algn="ctr">
                        <a:defRPr sz="900" b="0">
                          <a:solidFill>
                            <a:srgbClr val="282728"/>
                          </a:solidFill>
                          <a:latin typeface="Aptos"/>
                        </a:defRPr>
                      </a:pPr>
                      <a:r>
                        <a:rPr sz="900"/>
                        <a:t>Same as Historical;</a:t>
                      </a:r>
                    </a:p>
                    <a:p>
                      <a:pPr algn="ctr">
                        <a:defRPr sz="900" b="0">
                          <a:solidFill>
                            <a:srgbClr val="282728"/>
                          </a:solidFill>
                          <a:latin typeface="Aptos"/>
                        </a:defRPr>
                      </a:pPr>
                      <a:r>
                        <a:rPr sz="900"/>
                        <a:t>separate from Incremental</a:t>
                      </a:r>
                    </a:p>
                  </a:txBody>
                  <a:tcPr anchor="ctr">
                    <a:solidFill>
                      <a:srgbClr val="FFFFFF"/>
                    </a:solidFill>
                  </a:tcPr>
                </a:tc>
                <a:tc>
                  <a:txBody>
                    <a:bodyPr/>
                    <a:lstStyle/>
                    <a:p>
                      <a:pPr algn="ctr">
                        <a:defRPr sz="900" b="0">
                          <a:solidFill>
                            <a:srgbClr val="282728"/>
                          </a:solidFill>
                          <a:latin typeface="Aptos"/>
                        </a:defRPr>
                      </a:pPr>
                      <a:r>
                        <a:rPr sz="900"/>
                        <a:t>Reused from regular</a:t>
                      </a:r>
                    </a:p>
                    <a:p>
                      <a:pPr algn="ctr">
                        <a:defRPr sz="900" b="0">
                          <a:solidFill>
                            <a:srgbClr val="282728"/>
                          </a:solidFill>
                          <a:latin typeface="Aptos"/>
                        </a:defRPr>
                      </a:pPr>
                      <a:r>
                        <a:rPr sz="900"/>
                        <a:t>incremental load</a:t>
                      </a:r>
                    </a:p>
                  </a:txBody>
                  <a:tcPr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Assumptions Govern Mapping and ID Reuse Across Load Types</a:t>
            </a:r>
          </a:p>
        </p:txBody>
      </p:sp>
      <p:sp>
        <p:nvSpPr>
          <p:cNvPr id="3" name="TextBox 2"/>
          <p:cNvSpPr txBox="1"/>
          <p:nvPr/>
        </p:nvSpPr>
        <p:spPr>
          <a:xfrm>
            <a:off x="457200" y="731520"/>
            <a:ext cx="11274552" cy="365760"/>
          </a:xfrm>
          <a:prstGeom prst="rect">
            <a:avLst/>
          </a:prstGeom>
          <a:noFill/>
        </p:spPr>
        <p:txBody>
          <a:bodyPr wrap="square" anchor="t">
            <a:spAutoFit/>
          </a:bodyPr>
          <a:lstStyle/>
          <a:p>
            <a:pPr algn="l"/>
            <a:r>
              <a:rPr sz="1050" b="0" i="0">
                <a:solidFill>
                  <a:srgbClr val="53565A"/>
                </a:solidFill>
                <a:latin typeface="Aptos"/>
              </a:rPr>
              <a:t>These assumptions apply consistently across the design approach (Part 1) and the finalized Option 1 restart design (Part 2).</a:t>
            </a:r>
          </a:p>
        </p:txBody>
      </p:sp>
      <p:sp>
        <p:nvSpPr>
          <p:cNvPr id="4" name="Rounded Rectangle 3"/>
          <p:cNvSpPr/>
          <p:nvPr/>
        </p:nvSpPr>
        <p:spPr>
          <a:xfrm>
            <a:off x="457200" y="1266925"/>
            <a:ext cx="2763655" cy="3986463"/>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256899"/>
            <a:ext cx="2823812" cy="417095"/>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366627"/>
            <a:ext cx="5166360" cy="274320"/>
          </a:xfrm>
          <a:prstGeom prst="rect">
            <a:avLst/>
          </a:prstGeom>
          <a:noFill/>
        </p:spPr>
        <p:txBody>
          <a:bodyPr wrap="square" anchor="t">
            <a:spAutoFit/>
          </a:bodyPr>
          <a:lstStyle/>
          <a:p>
            <a:pPr algn="l"/>
            <a:r>
              <a:rPr sz="1200" b="1" i="0">
                <a:solidFill>
                  <a:srgbClr val="FFFFFF"/>
                </a:solidFill>
                <a:latin typeface="Aptos"/>
              </a:rPr>
              <a:t>Assumption 1  |  Mapping</a:t>
            </a:r>
          </a:p>
        </p:txBody>
      </p:sp>
      <p:sp>
        <p:nvSpPr>
          <p:cNvPr id="7" name="Rectangle 6"/>
          <p:cNvSpPr/>
          <p:nvPr/>
        </p:nvSpPr>
        <p:spPr>
          <a:xfrm>
            <a:off x="658368" y="2006706"/>
            <a:ext cx="91440" cy="91440"/>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982804"/>
            <a:ext cx="2158065" cy="430887"/>
          </a:xfrm>
          <a:prstGeom prst="rect">
            <a:avLst/>
          </a:prstGeom>
          <a:noFill/>
        </p:spPr>
        <p:txBody>
          <a:bodyPr wrap="square" anchor="t">
            <a:spAutoFit/>
          </a:bodyPr>
          <a:lstStyle/>
          <a:p>
            <a:pPr algn="l"/>
            <a:r>
              <a:rPr sz="1100" b="0" i="0">
                <a:solidFill>
                  <a:srgbClr val="282728"/>
                </a:solidFill>
                <a:latin typeface="Aptos"/>
              </a:rPr>
              <a:t>One mapping is used for both Historical and Catchup loads.</a:t>
            </a:r>
          </a:p>
        </p:txBody>
      </p:sp>
      <p:sp>
        <p:nvSpPr>
          <p:cNvPr id="9" name="Rectangle 8"/>
          <p:cNvSpPr/>
          <p:nvPr/>
        </p:nvSpPr>
        <p:spPr>
          <a:xfrm>
            <a:off x="658368" y="2875387"/>
            <a:ext cx="91440" cy="91440"/>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2851484"/>
            <a:ext cx="2268354" cy="599975"/>
          </a:xfrm>
          <a:prstGeom prst="rect">
            <a:avLst/>
          </a:prstGeom>
          <a:noFill/>
        </p:spPr>
        <p:txBody>
          <a:bodyPr wrap="square" anchor="t">
            <a:spAutoFit/>
          </a:bodyPr>
          <a:lstStyle/>
          <a:p>
            <a:pPr algn="l"/>
            <a:r>
              <a:rPr sz="1100" b="0" i="0">
                <a:solidFill>
                  <a:srgbClr val="282728"/>
                </a:solidFill>
                <a:latin typeface="Aptos"/>
              </a:rPr>
              <a:t>A separate mapping is used for both First-Time Incremental and Regular Incremental runs.</a:t>
            </a:r>
          </a:p>
        </p:txBody>
      </p:sp>
      <p:sp>
        <p:nvSpPr>
          <p:cNvPr id="11" name="Rounded Rectangle 10"/>
          <p:cNvSpPr/>
          <p:nvPr/>
        </p:nvSpPr>
        <p:spPr>
          <a:xfrm>
            <a:off x="3618457" y="1266925"/>
            <a:ext cx="4127233" cy="3986462"/>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18457" y="1276951"/>
            <a:ext cx="4127234" cy="417096"/>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55617" y="1366627"/>
            <a:ext cx="5166360" cy="274320"/>
          </a:xfrm>
          <a:prstGeom prst="rect">
            <a:avLst/>
          </a:prstGeom>
          <a:noFill/>
        </p:spPr>
        <p:txBody>
          <a:bodyPr wrap="square" anchor="t">
            <a:spAutoFit/>
          </a:bodyPr>
          <a:lstStyle/>
          <a:p>
            <a:pPr algn="l"/>
            <a:r>
              <a:rPr sz="1200" b="1" i="0">
                <a:solidFill>
                  <a:srgbClr val="FFFFFF"/>
                </a:solidFill>
                <a:latin typeface="Aptos"/>
              </a:rPr>
              <a:t>Assumption 2  |  Batch ID &amp; Job ID</a:t>
            </a:r>
          </a:p>
        </p:txBody>
      </p:sp>
      <p:sp>
        <p:nvSpPr>
          <p:cNvPr id="14" name="Rectangle 13"/>
          <p:cNvSpPr/>
          <p:nvPr/>
        </p:nvSpPr>
        <p:spPr>
          <a:xfrm>
            <a:off x="3819625" y="2006706"/>
            <a:ext cx="91440" cy="91440"/>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48225" y="1982803"/>
            <a:ext cx="3471513" cy="430887"/>
          </a:xfrm>
          <a:prstGeom prst="rect">
            <a:avLst/>
          </a:prstGeom>
          <a:noFill/>
        </p:spPr>
        <p:txBody>
          <a:bodyPr wrap="square" anchor="t">
            <a:spAutoFit/>
          </a:bodyPr>
          <a:lstStyle/>
          <a:p>
            <a:pPr algn="l"/>
            <a:r>
              <a:rPr sz="1100" b="0" i="0">
                <a:solidFill>
                  <a:srgbClr val="282728"/>
                </a:solidFill>
                <a:latin typeface="Aptos"/>
              </a:rPr>
              <a:t>A specific Batch ID and Job ID is used for both Historical and Catchup loads.</a:t>
            </a:r>
          </a:p>
        </p:txBody>
      </p:sp>
      <p:sp>
        <p:nvSpPr>
          <p:cNvPr id="16" name="Rectangle 15"/>
          <p:cNvSpPr/>
          <p:nvPr/>
        </p:nvSpPr>
        <p:spPr>
          <a:xfrm>
            <a:off x="3819625" y="2875387"/>
            <a:ext cx="91440" cy="91440"/>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48225" y="2851483"/>
            <a:ext cx="3441433" cy="430887"/>
          </a:xfrm>
          <a:prstGeom prst="rect">
            <a:avLst/>
          </a:prstGeom>
          <a:noFill/>
        </p:spPr>
        <p:txBody>
          <a:bodyPr wrap="square" anchor="t">
            <a:spAutoFit/>
          </a:bodyPr>
          <a:lstStyle/>
          <a:p>
            <a:pPr algn="l"/>
            <a:r>
              <a:rPr sz="1100" b="0" i="0">
                <a:solidFill>
                  <a:srgbClr val="282728"/>
                </a:solidFill>
                <a:latin typeface="Aptos"/>
              </a:rPr>
              <a:t>A separate Batch ID and Job ID is used for both First-Time Incremental and Regular Incremental runs.</a:t>
            </a:r>
          </a:p>
        </p:txBody>
      </p:sp>
      <p:sp>
        <p:nvSpPr>
          <p:cNvPr id="18" name="Rounded Rectangle 17"/>
          <p:cNvSpPr/>
          <p:nvPr/>
        </p:nvSpPr>
        <p:spPr>
          <a:xfrm>
            <a:off x="457200" y="5597893"/>
            <a:ext cx="11274552" cy="502920"/>
          </a:xfrm>
          <a:prstGeom prst="round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a:solidFill>
                  <a:srgbClr val="FFFFFF"/>
                </a:solidFill>
                <a:latin typeface="Aptos"/>
              </a:rPr>
              <a:t>Net effect: Historical &amp; Catchup always share mapping/ID lineage; First-Time Incremental always shares it with Regular Incremental — never across the two groups.</a:t>
            </a:r>
          </a:p>
        </p:txBody>
      </p:sp>
      <p:sp>
        <p:nvSpPr>
          <p:cNvPr id="22" name="Rounded Rectangle 3">
            <a:extLst>
              <a:ext uri="{FF2B5EF4-FFF2-40B4-BE49-F238E27FC236}">
                <a16:creationId xmlns:a16="http://schemas.microsoft.com/office/drawing/2014/main" id="{AB660737-8FAB-58D4-6330-965060AD19B8}"/>
              </a:ext>
            </a:extLst>
          </p:cNvPr>
          <p:cNvSpPr/>
          <p:nvPr/>
        </p:nvSpPr>
        <p:spPr>
          <a:xfrm>
            <a:off x="8919410" y="1266925"/>
            <a:ext cx="2823812" cy="3986462"/>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4B295708-2DA8-A4BA-01DE-B4A6B4862F67}"/>
              </a:ext>
            </a:extLst>
          </p:cNvPr>
          <p:cNvSpPr/>
          <p:nvPr/>
        </p:nvSpPr>
        <p:spPr>
          <a:xfrm>
            <a:off x="8929436" y="1276951"/>
            <a:ext cx="2823812" cy="417095"/>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DA534690-3956-90A3-980A-8E99EC38CB72}"/>
              </a:ext>
            </a:extLst>
          </p:cNvPr>
          <p:cNvSpPr txBox="1"/>
          <p:nvPr/>
        </p:nvSpPr>
        <p:spPr>
          <a:xfrm>
            <a:off x="9066596" y="1386679"/>
            <a:ext cx="5166360" cy="274320"/>
          </a:xfrm>
          <a:prstGeom prst="rect">
            <a:avLst/>
          </a:prstGeom>
          <a:noFill/>
        </p:spPr>
        <p:txBody>
          <a:bodyPr wrap="square" anchor="t">
            <a:spAutoFit/>
          </a:bodyPr>
          <a:lstStyle/>
          <a:p>
            <a:pPr algn="l"/>
            <a:r>
              <a:rPr sz="1200" b="1" i="0">
                <a:solidFill>
                  <a:srgbClr val="FFFFFF"/>
                </a:solidFill>
                <a:latin typeface="Aptos"/>
              </a:rPr>
              <a:t>Assumption 1  |  Mapping</a:t>
            </a:r>
          </a:p>
        </p:txBody>
      </p:sp>
      <p:sp>
        <p:nvSpPr>
          <p:cNvPr id="25" name="Rectangle 24">
            <a:extLst>
              <a:ext uri="{FF2B5EF4-FFF2-40B4-BE49-F238E27FC236}">
                <a16:creationId xmlns:a16="http://schemas.microsoft.com/office/drawing/2014/main" id="{52D4CA72-AF3D-23E7-838C-1C438D5396EE}"/>
              </a:ext>
            </a:extLst>
          </p:cNvPr>
          <p:cNvSpPr/>
          <p:nvPr/>
        </p:nvSpPr>
        <p:spPr>
          <a:xfrm>
            <a:off x="9130604" y="2026758"/>
            <a:ext cx="91440" cy="91440"/>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8DA742EA-0790-E748-2195-DCE95AF436A1}"/>
              </a:ext>
            </a:extLst>
          </p:cNvPr>
          <p:cNvSpPr txBox="1"/>
          <p:nvPr/>
        </p:nvSpPr>
        <p:spPr>
          <a:xfrm>
            <a:off x="9359204" y="2002856"/>
            <a:ext cx="2158065" cy="1446550"/>
          </a:xfrm>
          <a:prstGeom prst="rect">
            <a:avLst/>
          </a:prstGeom>
          <a:noFill/>
        </p:spPr>
        <p:txBody>
          <a:bodyPr wrap="square" lIns="91440" tIns="45720" rIns="91440" bIns="45720" anchor="t">
            <a:spAutoFit/>
          </a:bodyPr>
          <a:lstStyle/>
          <a:p>
            <a:r>
              <a:rPr lang="en-US" sz="1100">
                <a:solidFill>
                  <a:srgbClr val="282728"/>
                </a:solidFill>
                <a:latin typeface="Aptos"/>
              </a:rPr>
              <a:t>For historical/Catchup load, even if there are multiple source batches involved </a:t>
            </a:r>
            <a:r>
              <a:rPr lang="en-US" sz="1100" b="0" i="0">
                <a:solidFill>
                  <a:srgbClr val="282728"/>
                </a:solidFill>
                <a:latin typeface="Aptos"/>
              </a:rPr>
              <a:t>for </a:t>
            </a:r>
            <a:r>
              <a:rPr lang="en-US" sz="1100">
                <a:solidFill>
                  <a:srgbClr val="282728"/>
                </a:solidFill>
                <a:latin typeface="Aptos"/>
              </a:rPr>
              <a:t>a target batch, then also we will fetch the maximum GRS timestamp from all source tables from all source batches.</a:t>
            </a:r>
            <a:endParaRPr lang="en-US" sz="1100">
              <a:solidFill>
                <a:srgbClr val="000000"/>
              </a:solidFill>
              <a:latin typeface="Aptos"/>
            </a:endParaRPr>
          </a:p>
          <a:p>
            <a:pPr algn="l"/>
            <a:endParaRPr sz="1100" b="0" i="0">
              <a:solidFill>
                <a:srgbClr val="282728"/>
              </a:solidFill>
              <a:latin typeface="Aptos"/>
            </a:endParaRPr>
          </a:p>
        </p:txBody>
      </p:sp>
      <p:sp>
        <p:nvSpPr>
          <p:cNvPr id="27" name="Rectangle 26">
            <a:extLst>
              <a:ext uri="{FF2B5EF4-FFF2-40B4-BE49-F238E27FC236}">
                <a16:creationId xmlns:a16="http://schemas.microsoft.com/office/drawing/2014/main" id="{DE0443A6-3D99-859F-D115-B1A0A7306FF4}"/>
              </a:ext>
            </a:extLst>
          </p:cNvPr>
          <p:cNvSpPr/>
          <p:nvPr/>
        </p:nvSpPr>
        <p:spPr>
          <a:xfrm>
            <a:off x="9130604" y="3757702"/>
            <a:ext cx="91440" cy="91440"/>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65C8122B-795F-A829-F41A-B089F2828B56}"/>
              </a:ext>
            </a:extLst>
          </p:cNvPr>
          <p:cNvSpPr txBox="1"/>
          <p:nvPr/>
        </p:nvSpPr>
        <p:spPr>
          <a:xfrm>
            <a:off x="9359204" y="3733799"/>
            <a:ext cx="2268354" cy="1107996"/>
          </a:xfrm>
          <a:prstGeom prst="rect">
            <a:avLst/>
          </a:prstGeom>
          <a:noFill/>
        </p:spPr>
        <p:txBody>
          <a:bodyPr wrap="square" lIns="91440" tIns="45720" rIns="91440" bIns="45720" anchor="t">
            <a:spAutoFit/>
          </a:bodyPr>
          <a:lstStyle/>
          <a:p>
            <a:r>
              <a:rPr lang="en-US" sz="1100">
                <a:solidFill>
                  <a:srgbClr val="282728"/>
                </a:solidFill>
                <a:latin typeface="Aptos"/>
              </a:rPr>
              <a:t>For first time incremental load, we have to use the source batch end time as batch sourcing end time. Hence, for each source batch, there will be one manual entry in the </a:t>
            </a:r>
            <a:r>
              <a:rPr lang="en-US" sz="1100" err="1">
                <a:solidFill>
                  <a:srgbClr val="282728"/>
                </a:solidFill>
                <a:latin typeface="Aptos"/>
              </a:rPr>
              <a:t>batch_sourcing_stats</a:t>
            </a:r>
            <a:r>
              <a:rPr lang="en-US" sz="1100">
                <a:solidFill>
                  <a:srgbClr val="282728"/>
                </a:solidFill>
                <a:latin typeface="Aptos"/>
              </a:rPr>
              <a:t> table.</a:t>
            </a:r>
            <a:endParaRPr lang="en-US" sz="1100">
              <a:solidFill>
                <a:srgbClr val="000000"/>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2</a:t>
            </a:r>
          </a:p>
          <a:p>
            <a:r>
              <a:t>Open Challenge: Restart Mechanism for One-Time Loads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Current Design, and the Core Conflict It Creates</a:t>
            </a:r>
          </a:p>
        </p:txBody>
      </p:sp>
      <p:sp>
        <p:nvSpPr>
          <p:cNvPr id="3" name="Rounded Rectangle 2"/>
          <p:cNvSpPr/>
          <p:nvPr/>
        </p:nvSpPr>
        <p:spPr>
          <a:xfrm>
            <a:off x="457200" y="1005840"/>
            <a:ext cx="5440680" cy="9601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005840"/>
            <a:ext cx="64008" cy="960120"/>
          </a:xfrm>
          <a:prstGeom prst="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78992"/>
            <a:ext cx="5120640" cy="228600"/>
          </a:xfrm>
          <a:prstGeom prst="rect">
            <a:avLst/>
          </a:prstGeom>
          <a:noFill/>
        </p:spPr>
        <p:txBody>
          <a:bodyPr wrap="square" anchor="t">
            <a:spAutoFit/>
          </a:bodyPr>
          <a:lstStyle/>
          <a:p>
            <a:pPr algn="l"/>
            <a:r>
              <a:rPr sz="900" b="1" i="0">
                <a:solidFill>
                  <a:srgbClr val="046A38"/>
                </a:solidFill>
                <a:latin typeface="Aptos"/>
              </a:rPr>
              <a:t>Current design rule</a:t>
            </a:r>
          </a:p>
        </p:txBody>
      </p:sp>
      <p:sp>
        <p:nvSpPr>
          <p:cNvPr id="6" name="TextBox 5"/>
          <p:cNvSpPr txBox="1"/>
          <p:nvPr/>
        </p:nvSpPr>
        <p:spPr>
          <a:xfrm>
            <a:off x="640080" y="1316736"/>
            <a:ext cx="5120640" cy="621792"/>
          </a:xfrm>
          <a:prstGeom prst="rect">
            <a:avLst/>
          </a:prstGeom>
          <a:noFill/>
        </p:spPr>
        <p:txBody>
          <a:bodyPr wrap="square" anchor="t">
            <a:spAutoFit/>
          </a:bodyPr>
          <a:lstStyle/>
          <a:p>
            <a:pPr algn="l"/>
            <a:r>
              <a:rPr sz="850" b="0" i="0">
                <a:solidFill>
                  <a:srgbClr val="282728"/>
                </a:solidFill>
                <a:latin typeface="Aptos"/>
              </a:rPr>
              <a:t>If the rerun flag isn't Z/Y/H/C/I, execution type is set from the previous batch status: “Restart” if Started or Failed (triggers Type 2 cleanup); otherwise “New.”</a:t>
            </a:r>
          </a:p>
        </p:txBody>
      </p:sp>
      <p:sp>
        <p:nvSpPr>
          <p:cNvPr id="7" name="Rounded Rectangle 6"/>
          <p:cNvSpPr/>
          <p:nvPr/>
        </p:nvSpPr>
        <p:spPr>
          <a:xfrm>
            <a:off x="457200" y="2103120"/>
            <a:ext cx="5440680" cy="123444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103120"/>
            <a:ext cx="64008" cy="1234440"/>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76272"/>
            <a:ext cx="5120640" cy="228600"/>
          </a:xfrm>
          <a:prstGeom prst="rect">
            <a:avLst/>
          </a:prstGeom>
          <a:noFill/>
        </p:spPr>
        <p:txBody>
          <a:bodyPr wrap="square" anchor="t">
            <a:spAutoFit/>
          </a:bodyPr>
          <a:lstStyle/>
          <a:p>
            <a:pPr algn="l"/>
            <a:r>
              <a:rPr sz="900" b="1" i="0">
                <a:solidFill>
                  <a:srgbClr val="0D8390"/>
                </a:solidFill>
                <a:latin typeface="Aptos"/>
              </a:rPr>
              <a:t>For H / C / I flows</a:t>
            </a:r>
          </a:p>
        </p:txBody>
      </p:sp>
      <p:sp>
        <p:nvSpPr>
          <p:cNvPr id="10" name="TextBox 9"/>
          <p:cNvSpPr txBox="1"/>
          <p:nvPr/>
        </p:nvSpPr>
        <p:spPr>
          <a:xfrm>
            <a:off x="640080" y="2414015"/>
            <a:ext cx="5120640" cy="896112"/>
          </a:xfrm>
          <a:prstGeom prst="rect">
            <a:avLst/>
          </a:prstGeom>
          <a:noFill/>
        </p:spPr>
        <p:txBody>
          <a:bodyPr wrap="square" anchor="t">
            <a:spAutoFit/>
          </a:bodyPr>
          <a:lstStyle/>
          <a:p>
            <a:pPr algn="l"/>
            <a:r>
              <a:rPr sz="850" b="0" i="0">
                <a:solidFill>
                  <a:srgbClr val="282728"/>
                </a:solidFill>
                <a:latin typeface="Aptos"/>
              </a:rPr>
              <a:t>H and C skip the sourcing ingestion window table load — start/end times come directly from batch_run_stats. I uses the window load process, but pulls its sourcing start date from batch_run_stats via the rerun flag. All three need their specific rerun indicators to trigger these extra steps.</a:t>
            </a:r>
          </a:p>
        </p:txBody>
      </p:sp>
      <p:sp>
        <p:nvSpPr>
          <p:cNvPr id="11" name="TextBox 10"/>
          <p:cNvSpPr txBox="1"/>
          <p:nvPr/>
        </p:nvSpPr>
        <p:spPr>
          <a:xfrm>
            <a:off x="457200" y="3474720"/>
            <a:ext cx="5440680" cy="228600"/>
          </a:xfrm>
          <a:prstGeom prst="rect">
            <a:avLst/>
          </a:prstGeom>
          <a:noFill/>
        </p:spPr>
        <p:txBody>
          <a:bodyPr wrap="square" anchor="t">
            <a:spAutoFit/>
          </a:bodyPr>
          <a:lstStyle/>
          <a:p>
            <a:pPr algn="l"/>
            <a:r>
              <a:rPr sz="900" b="1" i="0">
                <a:solidFill>
                  <a:srgbClr val="046A38"/>
                </a:solidFill>
                <a:latin typeface="Aptos"/>
              </a:rPr>
              <a:t>Restart flow today (job preload task)</a:t>
            </a:r>
          </a:p>
        </p:txBody>
      </p:sp>
      <p:sp>
        <p:nvSpPr>
          <p:cNvPr id="12" name="Rounded Rectangle 11"/>
          <p:cNvSpPr/>
          <p:nvPr/>
        </p:nvSpPr>
        <p:spPr>
          <a:xfrm>
            <a:off x="457200" y="3767328"/>
            <a:ext cx="1740408" cy="68580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3767328"/>
            <a:ext cx="1740408" cy="45720"/>
          </a:xfrm>
          <a:prstGeom prst="rect">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877056"/>
            <a:ext cx="1575816" cy="256032"/>
          </a:xfrm>
          <a:prstGeom prst="rect">
            <a:avLst/>
          </a:prstGeom>
          <a:noFill/>
        </p:spPr>
        <p:txBody>
          <a:bodyPr wrap="square" anchor="t">
            <a:spAutoFit/>
          </a:bodyPr>
          <a:lstStyle/>
          <a:p>
            <a:pPr algn="l"/>
            <a:r>
              <a:rPr sz="780" b="1" i="0">
                <a:solidFill>
                  <a:srgbClr val="282728"/>
                </a:solidFill>
                <a:latin typeface="Aptos"/>
              </a:rPr>
              <a:t>All entries exist</a:t>
            </a:r>
          </a:p>
        </p:txBody>
      </p:sp>
      <p:sp>
        <p:nvSpPr>
          <p:cNvPr id="15" name="TextBox 14"/>
          <p:cNvSpPr txBox="1"/>
          <p:nvPr/>
        </p:nvSpPr>
        <p:spPr>
          <a:xfrm>
            <a:off x="548640" y="4151376"/>
            <a:ext cx="1575816" cy="256032"/>
          </a:xfrm>
          <a:prstGeom prst="rect">
            <a:avLst/>
          </a:prstGeom>
          <a:noFill/>
        </p:spPr>
        <p:txBody>
          <a:bodyPr wrap="square" anchor="t">
            <a:spAutoFit/>
          </a:bodyPr>
          <a:lstStyle/>
          <a:p>
            <a:pPr algn="l"/>
            <a:r>
              <a:rPr sz="780" b="1" i="0">
                <a:solidFill>
                  <a:srgbClr val="53565A"/>
                </a:solidFill>
                <a:latin typeface="Aptos"/>
              </a:rPr>
              <a:t>→ Skip</a:t>
            </a:r>
          </a:p>
        </p:txBody>
      </p:sp>
      <p:sp>
        <p:nvSpPr>
          <p:cNvPr id="16" name="Rounded Rectangle 15"/>
          <p:cNvSpPr/>
          <p:nvPr/>
        </p:nvSpPr>
        <p:spPr>
          <a:xfrm>
            <a:off x="2270760" y="3767328"/>
            <a:ext cx="1740408" cy="68580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270760" y="3767328"/>
            <a:ext cx="1740408" cy="45720"/>
          </a:xfrm>
          <a:prstGeom prst="rect">
            <a:avLst/>
          </a:prstGeom>
          <a:solidFill>
            <a:srgbClr val="ED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62200" y="3877056"/>
            <a:ext cx="1575816" cy="256032"/>
          </a:xfrm>
          <a:prstGeom prst="rect">
            <a:avLst/>
          </a:prstGeom>
          <a:noFill/>
        </p:spPr>
        <p:txBody>
          <a:bodyPr wrap="square" anchor="t">
            <a:spAutoFit/>
          </a:bodyPr>
          <a:lstStyle/>
          <a:p>
            <a:pPr algn="l"/>
            <a:r>
              <a:rPr sz="780" b="1" i="0">
                <a:solidFill>
                  <a:srgbClr val="282728"/>
                </a:solidFill>
                <a:latin typeface="Aptos"/>
              </a:rPr>
              <a:t>Some, not all</a:t>
            </a:r>
          </a:p>
        </p:txBody>
      </p:sp>
      <p:sp>
        <p:nvSpPr>
          <p:cNvPr id="19" name="TextBox 18"/>
          <p:cNvSpPr txBox="1"/>
          <p:nvPr/>
        </p:nvSpPr>
        <p:spPr>
          <a:xfrm>
            <a:off x="2362200" y="4151376"/>
            <a:ext cx="1575816" cy="256032"/>
          </a:xfrm>
          <a:prstGeom prst="rect">
            <a:avLst/>
          </a:prstGeom>
          <a:noFill/>
        </p:spPr>
        <p:txBody>
          <a:bodyPr wrap="square" anchor="t">
            <a:spAutoFit/>
          </a:bodyPr>
          <a:lstStyle/>
          <a:p>
            <a:pPr algn="l"/>
            <a:r>
              <a:rPr sz="780" b="1" i="0">
                <a:solidFill>
                  <a:srgbClr val="ED8B00"/>
                </a:solidFill>
                <a:latin typeface="Aptos"/>
              </a:rPr>
              <a:t>→ Delete &amp; proceed</a:t>
            </a:r>
          </a:p>
        </p:txBody>
      </p:sp>
      <p:sp>
        <p:nvSpPr>
          <p:cNvPr id="20" name="Rounded Rectangle 19"/>
          <p:cNvSpPr/>
          <p:nvPr/>
        </p:nvSpPr>
        <p:spPr>
          <a:xfrm>
            <a:off x="4084320" y="3767328"/>
            <a:ext cx="1740408" cy="68580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084320" y="3767328"/>
            <a:ext cx="1740408" cy="45720"/>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75760" y="3877056"/>
            <a:ext cx="1575816" cy="256032"/>
          </a:xfrm>
          <a:prstGeom prst="rect">
            <a:avLst/>
          </a:prstGeom>
          <a:noFill/>
        </p:spPr>
        <p:txBody>
          <a:bodyPr wrap="square" anchor="t">
            <a:spAutoFit/>
          </a:bodyPr>
          <a:lstStyle/>
          <a:p>
            <a:pPr algn="l"/>
            <a:r>
              <a:rPr sz="780" b="1" i="0">
                <a:solidFill>
                  <a:srgbClr val="282728"/>
                </a:solidFill>
                <a:latin typeface="Aptos"/>
              </a:rPr>
              <a:t>None exist</a:t>
            </a:r>
          </a:p>
        </p:txBody>
      </p:sp>
      <p:sp>
        <p:nvSpPr>
          <p:cNvPr id="23" name="TextBox 22"/>
          <p:cNvSpPr txBox="1"/>
          <p:nvPr/>
        </p:nvSpPr>
        <p:spPr>
          <a:xfrm>
            <a:off x="4175760" y="4151376"/>
            <a:ext cx="1575816" cy="256032"/>
          </a:xfrm>
          <a:prstGeom prst="rect">
            <a:avLst/>
          </a:prstGeom>
          <a:noFill/>
        </p:spPr>
        <p:txBody>
          <a:bodyPr wrap="square" anchor="t">
            <a:spAutoFit/>
          </a:bodyPr>
          <a:lstStyle/>
          <a:p>
            <a:pPr algn="l"/>
            <a:r>
              <a:rPr sz="780" b="1" i="0">
                <a:solidFill>
                  <a:srgbClr val="26890D"/>
                </a:solidFill>
                <a:latin typeface="Aptos"/>
              </a:rPr>
              <a:t>→ Proceed (insert)</a:t>
            </a:r>
          </a:p>
        </p:txBody>
      </p:sp>
      <p:sp>
        <p:nvSpPr>
          <p:cNvPr id="24" name="TextBox 23"/>
          <p:cNvSpPr txBox="1"/>
          <p:nvPr/>
        </p:nvSpPr>
        <p:spPr>
          <a:xfrm>
            <a:off x="6172200" y="1005840"/>
            <a:ext cx="5440680" cy="274320"/>
          </a:xfrm>
          <a:prstGeom prst="rect">
            <a:avLst/>
          </a:prstGeom>
          <a:noFill/>
        </p:spPr>
        <p:txBody>
          <a:bodyPr wrap="square" anchor="t">
            <a:spAutoFit/>
          </a:bodyPr>
          <a:lstStyle/>
          <a:p>
            <a:pPr algn="l"/>
            <a:r>
              <a:rPr sz="850" b="0" i="0">
                <a:solidFill>
                  <a:srgbClr val="53565A"/>
                </a:solidFill>
                <a:latin typeface="Aptos"/>
              </a:rPr>
              <a:t>If a failure occurs during any H/C/I run, today's restart logic creates a direct conflict:</a:t>
            </a:r>
          </a:p>
        </p:txBody>
      </p:sp>
      <p:sp>
        <p:nvSpPr>
          <p:cNvPr id="25" name="Rounded Rectangle 24"/>
          <p:cNvSpPr/>
          <p:nvPr/>
        </p:nvSpPr>
        <p:spPr>
          <a:xfrm>
            <a:off x="6172200" y="1325880"/>
            <a:ext cx="5440680" cy="14173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72200" y="1325880"/>
            <a:ext cx="5440680" cy="292608"/>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900" b="1">
                <a:solidFill>
                  <a:srgbClr val="FFFFFF"/>
                </a:solidFill>
                <a:latin typeface="Aptos"/>
              </a:rPr>
              <a:t>For History / Catchup</a:t>
            </a:r>
          </a:p>
        </p:txBody>
      </p:sp>
      <p:sp>
        <p:nvSpPr>
          <p:cNvPr id="27" name="TextBox 26"/>
          <p:cNvSpPr txBox="1"/>
          <p:nvPr/>
        </p:nvSpPr>
        <p:spPr>
          <a:xfrm>
            <a:off x="6336792" y="1709928"/>
            <a:ext cx="5120640" cy="502920"/>
          </a:xfrm>
          <a:prstGeom prst="rect">
            <a:avLst/>
          </a:prstGeom>
          <a:noFill/>
        </p:spPr>
        <p:txBody>
          <a:bodyPr wrap="square" anchor="t">
            <a:spAutoFit/>
          </a:bodyPr>
          <a:lstStyle/>
          <a:p>
            <a:pPr algn="l"/>
            <a:r>
              <a:rPr sz="830" b="0" i="0">
                <a:solidFill>
                  <a:srgbClr val="282728"/>
                </a:solidFill>
                <a:latin typeface="Aptos"/>
              </a:rPr>
              <a:t>Flag = 'N' → Restart works, but loses ability to skip the window table load.</a:t>
            </a:r>
          </a:p>
        </p:txBody>
      </p:sp>
      <p:sp>
        <p:nvSpPr>
          <p:cNvPr id="28" name="TextBox 27"/>
          <p:cNvSpPr txBox="1"/>
          <p:nvPr/>
        </p:nvSpPr>
        <p:spPr>
          <a:xfrm>
            <a:off x="6336792" y="2221992"/>
            <a:ext cx="5120640" cy="502920"/>
          </a:xfrm>
          <a:prstGeom prst="rect">
            <a:avLst/>
          </a:prstGeom>
          <a:noFill/>
        </p:spPr>
        <p:txBody>
          <a:bodyPr wrap="square" anchor="t">
            <a:spAutoFit/>
          </a:bodyPr>
          <a:lstStyle/>
          <a:p>
            <a:pPr algn="l"/>
            <a:r>
              <a:rPr sz="830" b="0" i="0">
                <a:solidFill>
                  <a:srgbClr val="282728"/>
                </a:solidFill>
                <a:latin typeface="Aptos"/>
              </a:rPr>
              <a:t>Flag = 'H'/'C' → never enters restart step, so cleanup doesn't happen.</a:t>
            </a:r>
          </a:p>
        </p:txBody>
      </p:sp>
      <p:sp>
        <p:nvSpPr>
          <p:cNvPr id="29" name="Rounded Rectangle 28"/>
          <p:cNvSpPr/>
          <p:nvPr/>
        </p:nvSpPr>
        <p:spPr>
          <a:xfrm>
            <a:off x="6172200" y="2862072"/>
            <a:ext cx="5440680" cy="14173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172200" y="2862072"/>
            <a:ext cx="5440680" cy="292608"/>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900" b="1">
                <a:solidFill>
                  <a:srgbClr val="FFFFFF"/>
                </a:solidFill>
                <a:latin typeface="Aptos"/>
              </a:rPr>
              <a:t>For First-Time Incremental</a:t>
            </a:r>
          </a:p>
        </p:txBody>
      </p:sp>
      <p:sp>
        <p:nvSpPr>
          <p:cNvPr id="31" name="TextBox 30"/>
          <p:cNvSpPr txBox="1"/>
          <p:nvPr/>
        </p:nvSpPr>
        <p:spPr>
          <a:xfrm>
            <a:off x="6336792" y="3246120"/>
            <a:ext cx="5120640" cy="502920"/>
          </a:xfrm>
          <a:prstGeom prst="rect">
            <a:avLst/>
          </a:prstGeom>
          <a:noFill/>
        </p:spPr>
        <p:txBody>
          <a:bodyPr wrap="square" anchor="t">
            <a:spAutoFit/>
          </a:bodyPr>
          <a:lstStyle/>
          <a:p>
            <a:pPr algn="l"/>
            <a:r>
              <a:rPr sz="830" b="0" i="0">
                <a:solidFill>
                  <a:srgbClr val="282728"/>
                </a:solidFill>
                <a:latin typeface="Aptos"/>
              </a:rPr>
              <a:t>Flag = 'N' → Restart works, but loses the 'I'-specific sourcing start date in the window table.</a:t>
            </a:r>
          </a:p>
        </p:txBody>
      </p:sp>
      <p:sp>
        <p:nvSpPr>
          <p:cNvPr id="32" name="TextBox 31"/>
          <p:cNvSpPr txBox="1"/>
          <p:nvPr/>
        </p:nvSpPr>
        <p:spPr>
          <a:xfrm>
            <a:off x="6336792" y="3794760"/>
            <a:ext cx="5120640" cy="457200"/>
          </a:xfrm>
          <a:prstGeom prst="rect">
            <a:avLst/>
          </a:prstGeom>
          <a:noFill/>
        </p:spPr>
        <p:txBody>
          <a:bodyPr wrap="square" anchor="t">
            <a:spAutoFit/>
          </a:bodyPr>
          <a:lstStyle/>
          <a:p>
            <a:pPr algn="l"/>
            <a:r>
              <a:rPr sz="830" b="0" i="0">
                <a:solidFill>
                  <a:srgbClr val="282728"/>
                </a:solidFill>
                <a:latin typeface="Aptos"/>
              </a:rPr>
              <a:t>Flag = 'I' → never enters restart step, so cleanup doesn't happen.</a:t>
            </a:r>
          </a:p>
        </p:txBody>
      </p:sp>
      <p:sp>
        <p:nvSpPr>
          <p:cNvPr id="33" name="Rectangle 32"/>
          <p:cNvSpPr/>
          <p:nvPr/>
        </p:nvSpPr>
        <p:spPr>
          <a:xfrm>
            <a:off x="457200" y="5806440"/>
            <a:ext cx="11274552" cy="384048"/>
          </a:xfrm>
          <a:prstGeom prst="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85216" y="5843016"/>
            <a:ext cx="11018520" cy="310896"/>
          </a:xfrm>
          <a:prstGeom prst="rect">
            <a:avLst/>
          </a:prstGeom>
          <a:noFill/>
        </p:spPr>
        <p:txBody>
          <a:bodyPr wrap="square" anchor="ctr">
            <a:spAutoFit/>
          </a:bodyPr>
          <a:lstStyle/>
          <a:p>
            <a:r>
              <a:rPr sz="950" b="1">
                <a:solidFill>
                  <a:srgbClr val="FFFFFF"/>
                </a:solidFill>
                <a:latin typeface="Aptos"/>
              </a:rPr>
              <a:t>The core conflict: whichever flag value we pick, we lose either correct windowing/skip behavior or correct restart/cleanup behavior.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Option 1 Is Finalized: Dedicated HR / CR / IR Restart Flags</a:t>
            </a:r>
          </a:p>
        </p:txBody>
      </p:sp>
      <p:sp>
        <p:nvSpPr>
          <p:cNvPr id="3" name="Rounded Rectangle 2"/>
          <p:cNvSpPr/>
          <p:nvPr/>
        </p:nvSpPr>
        <p:spPr>
          <a:xfrm>
            <a:off x="457200" y="1417320"/>
            <a:ext cx="2724912" cy="4160520"/>
          </a:xfrm>
          <a:prstGeom prst="roundRect">
            <a:avLst/>
          </a:prstGeom>
          <a:solidFill>
            <a:srgbClr val="FFFFFF"/>
          </a:solidFill>
          <a:ln w="28575">
            <a:solidFill>
              <a:srgbClr val="046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2724912" cy="502920"/>
          </a:xfrm>
          <a:prstGeom prst="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90472"/>
            <a:ext cx="2505456" cy="365760"/>
          </a:xfrm>
          <a:prstGeom prst="rect">
            <a:avLst/>
          </a:prstGeom>
          <a:noFill/>
        </p:spPr>
        <p:txBody>
          <a:bodyPr wrap="square" anchor="t">
            <a:spAutoFit/>
          </a:bodyPr>
          <a:lstStyle/>
          <a:p>
            <a:pPr algn="l"/>
            <a:r>
              <a:rPr sz="1300" b="1" i="0">
                <a:solidFill>
                  <a:srgbClr val="FFFFFF"/>
                </a:solidFill>
                <a:latin typeface="Aptos"/>
              </a:rPr>
              <a:t>Option 1</a:t>
            </a:r>
          </a:p>
        </p:txBody>
      </p:sp>
      <p:sp>
        <p:nvSpPr>
          <p:cNvPr id="6" name="Rectangle 5"/>
          <p:cNvSpPr/>
          <p:nvPr/>
        </p:nvSpPr>
        <p:spPr>
          <a:xfrm>
            <a:off x="566928" y="2011680"/>
            <a:ext cx="2505456" cy="292608"/>
          </a:xfrm>
          <a:prstGeom prst="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lang="en-US" sz="800" b="1">
                <a:solidFill>
                  <a:srgbClr val="FFFFFF"/>
                </a:solidFill>
                <a:latin typeface="Aptos"/>
              </a:rPr>
              <a:t>FINALIZED</a:t>
            </a:r>
            <a:endParaRPr sz="800" b="1">
              <a:solidFill>
                <a:srgbClr val="046A38"/>
              </a:solidFill>
              <a:latin typeface="Aptos"/>
            </a:endParaRPr>
          </a:p>
        </p:txBody>
      </p:sp>
      <p:sp>
        <p:nvSpPr>
          <p:cNvPr id="7" name="TextBox 6"/>
          <p:cNvSpPr txBox="1"/>
          <p:nvPr/>
        </p:nvSpPr>
        <p:spPr>
          <a:xfrm>
            <a:off x="594360" y="2423160"/>
            <a:ext cx="2450592" cy="502920"/>
          </a:xfrm>
          <a:prstGeom prst="rect">
            <a:avLst/>
          </a:prstGeom>
          <a:noFill/>
        </p:spPr>
        <p:txBody>
          <a:bodyPr wrap="square" anchor="t">
            <a:spAutoFit/>
          </a:bodyPr>
          <a:lstStyle/>
          <a:p>
            <a:pPr algn="l"/>
            <a:r>
              <a:rPr sz="1200" b="1" i="0">
                <a:solidFill>
                  <a:srgbClr val="282728"/>
                </a:solidFill>
                <a:latin typeface="Aptos"/>
              </a:rPr>
              <a:t>Dedicated rerun flags</a:t>
            </a:r>
          </a:p>
        </p:txBody>
      </p:sp>
      <p:sp>
        <p:nvSpPr>
          <p:cNvPr id="8" name="TextBox 7"/>
          <p:cNvSpPr txBox="1"/>
          <p:nvPr/>
        </p:nvSpPr>
        <p:spPr>
          <a:xfrm>
            <a:off x="594360" y="2971800"/>
            <a:ext cx="2450592" cy="2468880"/>
          </a:xfrm>
          <a:prstGeom prst="rect">
            <a:avLst/>
          </a:prstGeom>
          <a:noFill/>
        </p:spPr>
        <p:txBody>
          <a:bodyPr wrap="square" anchor="t">
            <a:spAutoFit/>
          </a:bodyPr>
          <a:lstStyle/>
          <a:p>
            <a:pPr algn="l"/>
            <a:r>
              <a:rPr sz="1000" b="0" i="0">
                <a:solidFill>
                  <a:srgbClr val="282728"/>
                </a:solidFill>
                <a:latin typeface="Aptos"/>
              </a:rPr>
              <a:t>Introduce HR / CR / IR restart flags. Execution type resolves to Restart whenever the flag is in {N, HR, CR, IR}.</a:t>
            </a:r>
          </a:p>
        </p:txBody>
      </p:sp>
      <p:sp>
        <p:nvSpPr>
          <p:cNvPr id="9" name="Rounded Rectangle 8"/>
          <p:cNvSpPr/>
          <p:nvPr/>
        </p:nvSpPr>
        <p:spPr>
          <a:xfrm>
            <a:off x="3300984" y="1417320"/>
            <a:ext cx="2724912" cy="41605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00984" y="1417320"/>
            <a:ext cx="2724912" cy="502920"/>
          </a:xfrm>
          <a:prstGeom prst="rect">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10712" y="1490472"/>
            <a:ext cx="2505456" cy="365760"/>
          </a:xfrm>
          <a:prstGeom prst="rect">
            <a:avLst/>
          </a:prstGeom>
          <a:noFill/>
        </p:spPr>
        <p:txBody>
          <a:bodyPr wrap="square" anchor="t">
            <a:spAutoFit/>
          </a:bodyPr>
          <a:lstStyle/>
          <a:p>
            <a:pPr algn="l"/>
            <a:r>
              <a:rPr sz="1300" b="1" i="0">
                <a:solidFill>
                  <a:srgbClr val="FFFFFF"/>
                </a:solidFill>
                <a:latin typeface="Aptos"/>
              </a:rPr>
              <a:t>Option 2</a:t>
            </a:r>
          </a:p>
        </p:txBody>
      </p:sp>
      <p:sp>
        <p:nvSpPr>
          <p:cNvPr id="12" name="Rectangle 11"/>
          <p:cNvSpPr/>
          <p:nvPr/>
        </p:nvSpPr>
        <p:spPr>
          <a:xfrm>
            <a:off x="3410712" y="2011680"/>
            <a:ext cx="2505456" cy="2926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800" b="1">
                <a:solidFill>
                  <a:srgbClr val="53565A"/>
                </a:solidFill>
                <a:latin typeface="Aptos"/>
              </a:rPr>
              <a:t>Not selected</a:t>
            </a:r>
          </a:p>
        </p:txBody>
      </p:sp>
      <p:sp>
        <p:nvSpPr>
          <p:cNvPr id="13" name="TextBox 12"/>
          <p:cNvSpPr txBox="1"/>
          <p:nvPr/>
        </p:nvSpPr>
        <p:spPr>
          <a:xfrm>
            <a:off x="3438144" y="2423160"/>
            <a:ext cx="2450592" cy="502920"/>
          </a:xfrm>
          <a:prstGeom prst="rect">
            <a:avLst/>
          </a:prstGeom>
          <a:noFill/>
        </p:spPr>
        <p:txBody>
          <a:bodyPr wrap="square" anchor="t">
            <a:spAutoFit/>
          </a:bodyPr>
          <a:lstStyle/>
          <a:p>
            <a:pPr algn="l"/>
            <a:r>
              <a:rPr sz="1200" b="1" i="0">
                <a:solidFill>
                  <a:srgbClr val="282728"/>
                </a:solidFill>
                <a:latin typeface="Aptos"/>
              </a:rPr>
              <a:t>Manual runbook</a:t>
            </a:r>
          </a:p>
        </p:txBody>
      </p:sp>
      <p:sp>
        <p:nvSpPr>
          <p:cNvPr id="14" name="TextBox 13"/>
          <p:cNvSpPr txBox="1"/>
          <p:nvPr/>
        </p:nvSpPr>
        <p:spPr>
          <a:xfrm>
            <a:off x="3438144" y="2971800"/>
            <a:ext cx="2450592" cy="2468880"/>
          </a:xfrm>
          <a:prstGeom prst="rect">
            <a:avLst/>
          </a:prstGeom>
          <a:noFill/>
        </p:spPr>
        <p:txBody>
          <a:bodyPr wrap="square" anchor="t">
            <a:spAutoFit/>
          </a:bodyPr>
          <a:lstStyle/>
          <a:p>
            <a:pPr algn="l"/>
            <a:r>
              <a:rPr sz="1000" b="0" i="0">
                <a:solidFill>
                  <a:srgbClr val="282728"/>
                </a:solidFill>
                <a:latin typeface="Aptos"/>
              </a:rPr>
              <a:t>A 6-step manual runbook: analyze failure, tag job inactive, clean target/ABC tables, flip status, re-execute.</a:t>
            </a:r>
          </a:p>
        </p:txBody>
      </p:sp>
      <p:sp>
        <p:nvSpPr>
          <p:cNvPr id="15" name="Rounded Rectangle 14"/>
          <p:cNvSpPr/>
          <p:nvPr/>
        </p:nvSpPr>
        <p:spPr>
          <a:xfrm>
            <a:off x="6144768" y="1417320"/>
            <a:ext cx="2724912" cy="41605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44768" y="1417320"/>
            <a:ext cx="2724912" cy="502920"/>
          </a:xfrm>
          <a:prstGeom prst="rect">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54496" y="1490472"/>
            <a:ext cx="2505456" cy="365760"/>
          </a:xfrm>
          <a:prstGeom prst="rect">
            <a:avLst/>
          </a:prstGeom>
          <a:noFill/>
        </p:spPr>
        <p:txBody>
          <a:bodyPr wrap="square" anchor="t">
            <a:spAutoFit/>
          </a:bodyPr>
          <a:lstStyle/>
          <a:p>
            <a:pPr algn="l"/>
            <a:r>
              <a:rPr sz="1300" b="1" i="0">
                <a:solidFill>
                  <a:srgbClr val="FFFFFF"/>
                </a:solidFill>
                <a:latin typeface="Aptos"/>
              </a:rPr>
              <a:t>Option 3</a:t>
            </a:r>
          </a:p>
        </p:txBody>
      </p:sp>
      <p:sp>
        <p:nvSpPr>
          <p:cNvPr id="18" name="Rectangle 17"/>
          <p:cNvSpPr/>
          <p:nvPr/>
        </p:nvSpPr>
        <p:spPr>
          <a:xfrm>
            <a:off x="6254496" y="2011680"/>
            <a:ext cx="2505456" cy="2926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800" b="1">
                <a:solidFill>
                  <a:srgbClr val="53565A"/>
                </a:solidFill>
                <a:latin typeface="Aptos"/>
              </a:rPr>
              <a:t>Not selected</a:t>
            </a:r>
          </a:p>
        </p:txBody>
      </p:sp>
      <p:sp>
        <p:nvSpPr>
          <p:cNvPr id="19" name="TextBox 18"/>
          <p:cNvSpPr txBox="1"/>
          <p:nvPr/>
        </p:nvSpPr>
        <p:spPr>
          <a:xfrm>
            <a:off x="6281928" y="2423160"/>
            <a:ext cx="2450592" cy="502920"/>
          </a:xfrm>
          <a:prstGeom prst="rect">
            <a:avLst/>
          </a:prstGeom>
          <a:noFill/>
        </p:spPr>
        <p:txBody>
          <a:bodyPr wrap="square" anchor="t">
            <a:spAutoFit/>
          </a:bodyPr>
          <a:lstStyle/>
          <a:p>
            <a:pPr algn="l"/>
            <a:r>
              <a:rPr sz="1200" b="1" i="0">
                <a:solidFill>
                  <a:srgbClr val="282728"/>
                </a:solidFill>
                <a:latin typeface="Aptos"/>
              </a:rPr>
              <a:t>Collapse to 'N'</a:t>
            </a:r>
          </a:p>
        </p:txBody>
      </p:sp>
      <p:sp>
        <p:nvSpPr>
          <p:cNvPr id="20" name="TextBox 19"/>
          <p:cNvSpPr txBox="1"/>
          <p:nvPr/>
        </p:nvSpPr>
        <p:spPr>
          <a:xfrm>
            <a:off x="6281928" y="2971800"/>
            <a:ext cx="2450592" cy="2468880"/>
          </a:xfrm>
          <a:prstGeom prst="rect">
            <a:avLst/>
          </a:prstGeom>
          <a:noFill/>
        </p:spPr>
        <p:txBody>
          <a:bodyPr wrap="square" anchor="t">
            <a:spAutoFit/>
          </a:bodyPr>
          <a:lstStyle/>
          <a:p>
            <a:pPr algn="l"/>
            <a:r>
              <a:rPr sz="1000" b="0" i="0">
                <a:solidFill>
                  <a:srgbClr val="282728"/>
                </a:solidFill>
                <a:latin typeface="Aptos"/>
              </a:rPr>
              <a:t>Update rerun flags to 'N' across H/C/I — but this loses the ability to later tell which load type a run was.</a:t>
            </a:r>
          </a:p>
        </p:txBody>
      </p:sp>
      <p:sp>
        <p:nvSpPr>
          <p:cNvPr id="21" name="Rounded Rectangle 20"/>
          <p:cNvSpPr/>
          <p:nvPr/>
        </p:nvSpPr>
        <p:spPr>
          <a:xfrm>
            <a:off x="8988552" y="1417320"/>
            <a:ext cx="2724912" cy="41605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88552" y="1417320"/>
            <a:ext cx="2724912" cy="502920"/>
          </a:xfrm>
          <a:prstGeom prst="rect">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8280" y="1490472"/>
            <a:ext cx="2505456" cy="365760"/>
          </a:xfrm>
          <a:prstGeom prst="rect">
            <a:avLst/>
          </a:prstGeom>
          <a:noFill/>
        </p:spPr>
        <p:txBody>
          <a:bodyPr wrap="square" anchor="t">
            <a:spAutoFit/>
          </a:bodyPr>
          <a:lstStyle/>
          <a:p>
            <a:pPr algn="l"/>
            <a:r>
              <a:rPr sz="1300" b="1" i="0">
                <a:solidFill>
                  <a:srgbClr val="FFFFFF"/>
                </a:solidFill>
                <a:latin typeface="Aptos"/>
              </a:rPr>
              <a:t>Option 4</a:t>
            </a:r>
          </a:p>
        </p:txBody>
      </p:sp>
      <p:sp>
        <p:nvSpPr>
          <p:cNvPr id="24" name="Rectangle 23"/>
          <p:cNvSpPr/>
          <p:nvPr/>
        </p:nvSpPr>
        <p:spPr>
          <a:xfrm>
            <a:off x="9098280" y="2011680"/>
            <a:ext cx="2505456" cy="292608"/>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800" b="1">
                <a:solidFill>
                  <a:srgbClr val="53565A"/>
                </a:solidFill>
                <a:latin typeface="Aptos"/>
              </a:rPr>
              <a:t>Not selected</a:t>
            </a:r>
          </a:p>
        </p:txBody>
      </p:sp>
      <p:sp>
        <p:nvSpPr>
          <p:cNvPr id="25" name="TextBox 24"/>
          <p:cNvSpPr txBox="1"/>
          <p:nvPr/>
        </p:nvSpPr>
        <p:spPr>
          <a:xfrm>
            <a:off x="9125712" y="2423160"/>
            <a:ext cx="2450592" cy="502920"/>
          </a:xfrm>
          <a:prstGeom prst="rect">
            <a:avLst/>
          </a:prstGeom>
          <a:noFill/>
        </p:spPr>
        <p:txBody>
          <a:bodyPr wrap="square" anchor="t">
            <a:spAutoFit/>
          </a:bodyPr>
          <a:lstStyle/>
          <a:p>
            <a:pPr algn="l"/>
            <a:r>
              <a:rPr sz="1200" b="1" i="0">
                <a:solidFill>
                  <a:srgbClr val="282728"/>
                </a:solidFill>
                <a:latin typeface="Aptos"/>
              </a:rPr>
              <a:t>New batch status</a:t>
            </a:r>
          </a:p>
        </p:txBody>
      </p:sp>
      <p:sp>
        <p:nvSpPr>
          <p:cNvPr id="26" name="TextBox 25"/>
          <p:cNvSpPr txBox="1"/>
          <p:nvPr/>
        </p:nvSpPr>
        <p:spPr>
          <a:xfrm>
            <a:off x="9125712" y="2971800"/>
            <a:ext cx="2450592" cy="2468880"/>
          </a:xfrm>
          <a:prstGeom prst="rect">
            <a:avLst/>
          </a:prstGeom>
          <a:noFill/>
        </p:spPr>
        <p:txBody>
          <a:bodyPr wrap="square" anchor="t">
            <a:spAutoFit/>
          </a:bodyPr>
          <a:lstStyle/>
          <a:p>
            <a:pPr algn="l"/>
            <a:r>
              <a:rPr sz="1000" b="0" i="0">
                <a:solidFill>
                  <a:srgbClr val="282728"/>
                </a:solidFill>
                <a:latin typeface="Aptos"/>
              </a:rPr>
              <a:t>Use a different batch status value specifically for History and Catchup restarts.</a:t>
            </a:r>
          </a:p>
        </p:txBody>
      </p:sp>
      <p:sp>
        <p:nvSpPr>
          <p:cNvPr id="28" name="Rounded Rectangle 27"/>
          <p:cNvSpPr/>
          <p:nvPr/>
        </p:nvSpPr>
        <p:spPr>
          <a:xfrm>
            <a:off x="457200" y="5349240"/>
            <a:ext cx="11274552" cy="502920"/>
          </a:xfrm>
          <a:prstGeom prst="round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a:solidFill>
                  <a:srgbClr val="FFFFFF"/>
                </a:solidFill>
                <a:latin typeface="Aptos"/>
              </a:rPr>
              <a:t>Decision: Option 1 (dedicated HR / CR / IR restart flags) is finalized as the design approach for restarting History, Catchup &amp; First-Time Incremental loads.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Today's Restart Logic, and the Finalized Option 1 Fix</a:t>
            </a:r>
          </a:p>
        </p:txBody>
      </p:sp>
      <p:sp>
        <p:nvSpPr>
          <p:cNvPr id="3" name="TextBox 2"/>
          <p:cNvSpPr txBox="1"/>
          <p:nvPr/>
        </p:nvSpPr>
        <p:spPr>
          <a:xfrm>
            <a:off x="457200" y="1005840"/>
            <a:ext cx="5440680" cy="502920"/>
          </a:xfrm>
          <a:prstGeom prst="rect">
            <a:avLst/>
          </a:prstGeom>
          <a:noFill/>
        </p:spPr>
        <p:txBody>
          <a:bodyPr wrap="square" anchor="t">
            <a:spAutoFit/>
          </a:bodyPr>
          <a:lstStyle/>
          <a:p>
            <a:pPr algn="l"/>
            <a:r>
              <a:rPr sz="950" b="1" i="0">
                <a:solidFill>
                  <a:srgbClr val="046A38"/>
                </a:solidFill>
                <a:latin typeface="Aptos"/>
              </a:rPr>
              <a:t>Today: execution type is resolved from the rerun flag, then prior batch status.</a:t>
            </a:r>
          </a:p>
        </p:txBody>
      </p:sp>
      <p:sp>
        <p:nvSpPr>
          <p:cNvPr id="4" name="Rounded Rectangle 3"/>
          <p:cNvSpPr/>
          <p:nvPr/>
        </p:nvSpPr>
        <p:spPr>
          <a:xfrm>
            <a:off x="1554480" y="1508760"/>
            <a:ext cx="3246120" cy="384048"/>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50" b="1">
                <a:solidFill>
                  <a:srgbClr val="FFFFFF"/>
                </a:solidFill>
                <a:latin typeface="Aptos"/>
              </a:rPr>
              <a:t>Define Execution Type</a:t>
            </a:r>
          </a:p>
        </p:txBody>
      </p:sp>
      <p:sp>
        <p:nvSpPr>
          <p:cNvPr id="5" name="Down Arrow 4"/>
          <p:cNvSpPr/>
          <p:nvPr/>
        </p:nvSpPr>
        <p:spPr>
          <a:xfrm>
            <a:off x="3118104" y="1911096"/>
            <a:ext cx="164592" cy="118872"/>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iamond 5"/>
          <p:cNvSpPr/>
          <p:nvPr/>
        </p:nvSpPr>
        <p:spPr>
          <a:xfrm>
            <a:off x="960120" y="2075688"/>
            <a:ext cx="4434840" cy="530352"/>
          </a:xfrm>
          <a:prstGeom prst="diamond">
            <a:avLst/>
          </a:prstGeom>
          <a:solidFill>
            <a:srgbClr val="ED8B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50" b="1">
                <a:solidFill>
                  <a:srgbClr val="FFFFFF"/>
                </a:solidFill>
                <a:latin typeface="Aptos"/>
              </a:rPr>
              <a:t>Rerun flag = 'Z' or 'Y' ?</a:t>
            </a:r>
          </a:p>
        </p:txBody>
      </p:sp>
      <p:sp>
        <p:nvSpPr>
          <p:cNvPr id="7" name="TextBox 6"/>
          <p:cNvSpPr txBox="1"/>
          <p:nvPr/>
        </p:nvSpPr>
        <p:spPr>
          <a:xfrm>
            <a:off x="5440680" y="2167128"/>
            <a:ext cx="914400" cy="307777"/>
          </a:xfrm>
          <a:prstGeom prst="rect">
            <a:avLst/>
          </a:prstGeom>
          <a:noFill/>
        </p:spPr>
        <p:txBody>
          <a:bodyPr wrap="square" anchor="t">
            <a:spAutoFit/>
          </a:bodyPr>
          <a:lstStyle/>
          <a:p>
            <a:pPr algn="l"/>
            <a:r>
              <a:rPr sz="700" b="1" i="0">
                <a:solidFill>
                  <a:srgbClr val="0D8390"/>
                </a:solidFill>
                <a:latin typeface="Aptos"/>
              </a:rPr>
              <a:t>Yes →</a:t>
            </a:r>
            <a:r>
              <a:rPr lang="en-US" sz="700" b="1" i="0">
                <a:solidFill>
                  <a:srgbClr val="0D8390"/>
                </a:solidFill>
                <a:latin typeface="Aptos"/>
              </a:rPr>
              <a:t> </a:t>
            </a:r>
            <a:r>
              <a:rPr sz="700" b="1" i="0">
                <a:solidFill>
                  <a:srgbClr val="0D8390"/>
                </a:solidFill>
                <a:latin typeface="Aptos"/>
              </a:rPr>
              <a:t>Zone1/2</a:t>
            </a:r>
          </a:p>
          <a:p>
            <a:pPr algn="l"/>
            <a:r>
              <a:rPr sz="700" b="1" i="0">
                <a:solidFill>
                  <a:srgbClr val="0D8390"/>
                </a:solidFill>
                <a:latin typeface="Aptos"/>
              </a:rPr>
              <a:t>Rerun</a:t>
            </a:r>
          </a:p>
        </p:txBody>
      </p:sp>
      <p:sp>
        <p:nvSpPr>
          <p:cNvPr id="8" name="Down Arrow 7"/>
          <p:cNvSpPr/>
          <p:nvPr/>
        </p:nvSpPr>
        <p:spPr>
          <a:xfrm>
            <a:off x="3118104" y="2624328"/>
            <a:ext cx="164592" cy="118872"/>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37560" y="2624328"/>
            <a:ext cx="457200" cy="164592"/>
          </a:xfrm>
          <a:prstGeom prst="rect">
            <a:avLst/>
          </a:prstGeom>
          <a:noFill/>
        </p:spPr>
        <p:txBody>
          <a:bodyPr wrap="square" anchor="t">
            <a:spAutoFit/>
          </a:bodyPr>
          <a:lstStyle/>
          <a:p>
            <a:pPr algn="l"/>
            <a:r>
              <a:rPr sz="750" b="1" i="0">
                <a:solidFill>
                  <a:srgbClr val="0D8390"/>
                </a:solidFill>
                <a:latin typeface="Aptos"/>
              </a:rPr>
              <a:t>No</a:t>
            </a:r>
          </a:p>
        </p:txBody>
      </p:sp>
      <p:sp>
        <p:nvSpPr>
          <p:cNvPr id="10" name="Diamond 9"/>
          <p:cNvSpPr/>
          <p:nvPr/>
        </p:nvSpPr>
        <p:spPr>
          <a:xfrm>
            <a:off x="731520" y="2788920"/>
            <a:ext cx="4892040" cy="777240"/>
          </a:xfrm>
          <a:prstGeom prst="diamond">
            <a:avLst/>
          </a:prstGeom>
          <a:solidFill>
            <a:srgbClr val="ED8B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50" b="1">
                <a:solidFill>
                  <a:srgbClr val="FFFFFF"/>
                </a:solidFill>
                <a:latin typeface="Aptos"/>
              </a:rPr>
              <a:t>Previous batch status = Failed or Started ?</a:t>
            </a:r>
          </a:p>
          <a:p>
            <a:pPr algn="ctr"/>
            <a:r>
              <a:rPr sz="750" b="1">
                <a:solidFill>
                  <a:srgbClr val="FFFFFF"/>
                </a:solidFill>
                <a:latin typeface="Aptos"/>
              </a:rPr>
              <a:t>(Rerun flag can either be 'N','HR','CR' or 'IR')</a:t>
            </a:r>
          </a:p>
        </p:txBody>
      </p:sp>
      <p:sp>
        <p:nvSpPr>
          <p:cNvPr id="11" name="TextBox 10"/>
          <p:cNvSpPr txBox="1"/>
          <p:nvPr/>
        </p:nvSpPr>
        <p:spPr>
          <a:xfrm>
            <a:off x="5623560" y="3017520"/>
            <a:ext cx="1188720" cy="307777"/>
          </a:xfrm>
          <a:prstGeom prst="rect">
            <a:avLst/>
          </a:prstGeom>
          <a:noFill/>
        </p:spPr>
        <p:txBody>
          <a:bodyPr wrap="square" anchor="t">
            <a:spAutoFit/>
          </a:bodyPr>
          <a:lstStyle/>
          <a:p>
            <a:pPr algn="l"/>
            <a:r>
              <a:rPr sz="700" b="1" i="0">
                <a:solidFill>
                  <a:srgbClr val="0D8390"/>
                </a:solidFill>
                <a:latin typeface="Aptos"/>
              </a:rPr>
              <a:t>Yes →</a:t>
            </a:r>
            <a:r>
              <a:rPr lang="en-US" sz="700" b="1" i="0">
                <a:solidFill>
                  <a:srgbClr val="0D8390"/>
                </a:solidFill>
                <a:latin typeface="Aptos"/>
              </a:rPr>
              <a:t> </a:t>
            </a:r>
            <a:r>
              <a:rPr sz="700" b="1" i="0">
                <a:solidFill>
                  <a:srgbClr val="0D8390"/>
                </a:solidFill>
                <a:latin typeface="Aptos"/>
              </a:rPr>
              <a:t>RESTART</a:t>
            </a:r>
          </a:p>
          <a:p>
            <a:pPr algn="l"/>
            <a:r>
              <a:rPr sz="700" b="1" i="0">
                <a:solidFill>
                  <a:srgbClr val="0D8390"/>
                </a:solidFill>
                <a:latin typeface="Aptos"/>
              </a:rPr>
              <a:t>(Type 2</a:t>
            </a:r>
            <a:r>
              <a:rPr lang="en-US" sz="700" b="1" i="0">
                <a:solidFill>
                  <a:srgbClr val="0D8390"/>
                </a:solidFill>
                <a:latin typeface="Aptos"/>
              </a:rPr>
              <a:t> </a:t>
            </a:r>
            <a:r>
              <a:rPr sz="700" b="1" i="0">
                <a:solidFill>
                  <a:srgbClr val="0D8390"/>
                </a:solidFill>
                <a:latin typeface="Aptos"/>
              </a:rPr>
              <a:t>cleanup)</a:t>
            </a:r>
          </a:p>
        </p:txBody>
      </p:sp>
      <p:sp>
        <p:nvSpPr>
          <p:cNvPr id="12" name="Down Arrow 11"/>
          <p:cNvSpPr/>
          <p:nvPr/>
        </p:nvSpPr>
        <p:spPr>
          <a:xfrm>
            <a:off x="3118104" y="3584448"/>
            <a:ext cx="164592" cy="118872"/>
          </a:xfrm>
          <a:prstGeom prst="downArrow">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37560" y="3584448"/>
            <a:ext cx="457200" cy="164592"/>
          </a:xfrm>
          <a:prstGeom prst="rect">
            <a:avLst/>
          </a:prstGeom>
          <a:noFill/>
        </p:spPr>
        <p:txBody>
          <a:bodyPr wrap="square" anchor="t">
            <a:spAutoFit/>
          </a:bodyPr>
          <a:lstStyle/>
          <a:p>
            <a:pPr algn="l"/>
            <a:r>
              <a:rPr sz="750" b="1" i="0">
                <a:solidFill>
                  <a:srgbClr val="0D8390"/>
                </a:solidFill>
                <a:latin typeface="Aptos"/>
              </a:rPr>
              <a:t>No</a:t>
            </a:r>
          </a:p>
        </p:txBody>
      </p:sp>
      <p:sp>
        <p:nvSpPr>
          <p:cNvPr id="14" name="Rounded Rectangle 13"/>
          <p:cNvSpPr/>
          <p:nvPr/>
        </p:nvSpPr>
        <p:spPr>
          <a:xfrm>
            <a:off x="2148840" y="3749040"/>
            <a:ext cx="2103120" cy="365760"/>
          </a:xfrm>
          <a:prstGeom prst="roundRect">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50" b="1">
                <a:solidFill>
                  <a:srgbClr val="FFFFFF"/>
                </a:solidFill>
                <a:latin typeface="Aptos"/>
              </a:rPr>
              <a:t>Execution Type = NEW</a:t>
            </a:r>
          </a:p>
        </p:txBody>
      </p:sp>
      <p:sp>
        <p:nvSpPr>
          <p:cNvPr id="16" name="Rectangle 15"/>
          <p:cNvSpPr/>
          <p:nvPr/>
        </p:nvSpPr>
        <p:spPr>
          <a:xfrm>
            <a:off x="6583680" y="1005840"/>
            <a:ext cx="5029200" cy="342000"/>
          </a:xfrm>
          <a:prstGeom prst="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l"/>
            <a:r>
              <a:rPr sz="950" b="1">
                <a:solidFill>
                  <a:srgbClr val="FFFFFF"/>
                </a:solidFill>
                <a:latin typeface="Aptos"/>
              </a:rPr>
              <a:t>FINALIZED  |  Option 1 — Dedicated Rerun Flags</a:t>
            </a:r>
          </a:p>
        </p:txBody>
      </p:sp>
      <p:sp>
        <p:nvSpPr>
          <p:cNvPr id="17" name="TextBox 16"/>
          <p:cNvSpPr txBox="1"/>
          <p:nvPr/>
        </p:nvSpPr>
        <p:spPr>
          <a:xfrm>
            <a:off x="6583680" y="1389888"/>
            <a:ext cx="5029200" cy="507831"/>
          </a:xfrm>
          <a:prstGeom prst="rect">
            <a:avLst/>
          </a:prstGeom>
          <a:noFill/>
        </p:spPr>
        <p:txBody>
          <a:bodyPr wrap="square" anchor="t">
            <a:spAutoFit/>
          </a:bodyPr>
          <a:lstStyle/>
          <a:p>
            <a:pPr algn="l"/>
            <a:r>
              <a:rPr sz="900" b="0" i="0">
                <a:solidFill>
                  <a:srgbClr val="282728"/>
                </a:solidFill>
                <a:latin typeface="Aptos"/>
              </a:rPr>
              <a:t>Introduce HR / CR / IR restart flags for history, catch-up, and first-time-incremental restarts. Execution type resolves to Restart whenever the flag is in {N, HR, CR, IR}; the flag is passed as an in/out parameter so downstream steps can branch on it.</a:t>
            </a:r>
          </a:p>
        </p:txBody>
      </p:sp>
      <p:graphicFrame>
        <p:nvGraphicFramePr>
          <p:cNvPr id="18" name="Table 17"/>
          <p:cNvGraphicFramePr>
            <a:graphicFrameLocks noGrp="1"/>
          </p:cNvGraphicFramePr>
          <p:nvPr>
            <p:extLst>
              <p:ext uri="{D42A27DB-BD31-4B8C-83A1-F6EECF244321}">
                <p14:modId xmlns:p14="http://schemas.microsoft.com/office/powerpoint/2010/main" val="3031509855"/>
              </p:ext>
            </p:extLst>
          </p:nvPr>
        </p:nvGraphicFramePr>
        <p:xfrm>
          <a:off x="6583680" y="2331720"/>
          <a:ext cx="5029200" cy="1554480"/>
        </p:xfrm>
        <a:graphic>
          <a:graphicData uri="http://schemas.openxmlformats.org/drawingml/2006/table">
            <a:tbl>
              <a:tblPr firstRow="1" bandRow="1">
                <a:tableStyleId>{5C22544A-7EE6-4342-B048-85BDC9FD1C3A}</a:tableStyleId>
              </a:tblPr>
              <a:tblGrid>
                <a:gridCol w="1183341">
                  <a:extLst>
                    <a:ext uri="{9D8B030D-6E8A-4147-A177-3AD203B41FA5}">
                      <a16:colId xmlns:a16="http://schemas.microsoft.com/office/drawing/2014/main" val="20000"/>
                    </a:ext>
                  </a:extLst>
                </a:gridCol>
                <a:gridCol w="2408945">
                  <a:extLst>
                    <a:ext uri="{9D8B030D-6E8A-4147-A177-3AD203B41FA5}">
                      <a16:colId xmlns:a16="http://schemas.microsoft.com/office/drawing/2014/main" val="20001"/>
                    </a:ext>
                  </a:extLst>
                </a:gridCol>
                <a:gridCol w="1436914">
                  <a:extLst>
                    <a:ext uri="{9D8B030D-6E8A-4147-A177-3AD203B41FA5}">
                      <a16:colId xmlns:a16="http://schemas.microsoft.com/office/drawing/2014/main" val="20002"/>
                    </a:ext>
                  </a:extLst>
                </a:gridCol>
              </a:tblGrid>
              <a:tr h="310896">
                <a:tc>
                  <a:txBody>
                    <a:bodyPr/>
                    <a:lstStyle/>
                    <a:p>
                      <a:pPr algn="ctr">
                        <a:defRPr sz="850" b="1">
                          <a:solidFill>
                            <a:srgbClr val="FFFFFF"/>
                          </a:solidFill>
                          <a:latin typeface="Aptos"/>
                        </a:defRPr>
                      </a:pPr>
                      <a:r>
                        <a:rPr sz="850"/>
                        <a:t>Load flag</a:t>
                      </a:r>
                    </a:p>
                  </a:txBody>
                  <a:tcPr>
                    <a:solidFill>
                      <a:srgbClr val="046A38"/>
                    </a:solidFill>
                  </a:tcPr>
                </a:tc>
                <a:tc>
                  <a:txBody>
                    <a:bodyPr/>
                    <a:lstStyle/>
                    <a:p>
                      <a:pPr algn="ctr">
                        <a:defRPr sz="850" b="1">
                          <a:solidFill>
                            <a:srgbClr val="FFFFFF"/>
                          </a:solidFill>
                          <a:latin typeface="Aptos"/>
                        </a:defRPr>
                      </a:pPr>
                      <a:r>
                        <a:rPr sz="850"/>
                        <a:t>Execution type</a:t>
                      </a:r>
                    </a:p>
                  </a:txBody>
                  <a:tcPr>
                    <a:solidFill>
                      <a:srgbClr val="046A38"/>
                    </a:solidFill>
                  </a:tcPr>
                </a:tc>
                <a:tc>
                  <a:txBody>
                    <a:bodyPr/>
                    <a:lstStyle/>
                    <a:p>
                      <a:pPr algn="ctr">
                        <a:defRPr sz="850" b="1">
                          <a:solidFill>
                            <a:srgbClr val="FFFFFF"/>
                          </a:solidFill>
                          <a:latin typeface="Aptos"/>
                        </a:defRPr>
                      </a:pPr>
                      <a:r>
                        <a:rPr sz="850"/>
                        <a:t>Restart flag → Restart</a:t>
                      </a:r>
                    </a:p>
                  </a:txBody>
                  <a:tcPr>
                    <a:solidFill>
                      <a:srgbClr val="046A38"/>
                    </a:solidFill>
                  </a:tcPr>
                </a:tc>
                <a:extLst>
                  <a:ext uri="{0D108BD9-81ED-4DB2-BD59-A6C34878D82A}">
                    <a16:rowId xmlns:a16="http://schemas.microsoft.com/office/drawing/2014/main" val="10000"/>
                  </a:ext>
                </a:extLst>
              </a:tr>
              <a:tr h="310896">
                <a:tc>
                  <a:txBody>
                    <a:bodyPr/>
                    <a:lstStyle/>
                    <a:p>
                      <a:pPr algn="ctr">
                        <a:defRPr sz="850">
                          <a:solidFill>
                            <a:srgbClr val="282728"/>
                          </a:solidFill>
                          <a:latin typeface="Aptos"/>
                        </a:defRPr>
                      </a:pPr>
                      <a:r>
                        <a:rPr sz="850"/>
                        <a:t>H</a:t>
                      </a:r>
                    </a:p>
                  </a:txBody>
                  <a:tcPr>
                    <a:solidFill>
                      <a:srgbClr val="F1F6E4"/>
                    </a:solidFill>
                  </a:tcPr>
                </a:tc>
                <a:tc>
                  <a:txBody>
                    <a:bodyPr/>
                    <a:lstStyle/>
                    <a:p>
                      <a:pPr algn="ctr">
                        <a:defRPr sz="850">
                          <a:solidFill>
                            <a:srgbClr val="282728"/>
                          </a:solidFill>
                          <a:latin typeface="Aptos"/>
                        </a:defRPr>
                      </a:pPr>
                      <a:r>
                        <a:rPr lang="en-US" sz="850"/>
                        <a:t>History</a:t>
                      </a:r>
                      <a:endParaRPr sz="850"/>
                    </a:p>
                  </a:txBody>
                  <a:tcPr>
                    <a:solidFill>
                      <a:srgbClr val="F1F6E4"/>
                    </a:solidFill>
                  </a:tcPr>
                </a:tc>
                <a:tc>
                  <a:txBody>
                    <a:bodyPr/>
                    <a:lstStyle/>
                    <a:p>
                      <a:pPr algn="ctr">
                        <a:defRPr sz="850">
                          <a:solidFill>
                            <a:srgbClr val="282728"/>
                          </a:solidFill>
                          <a:latin typeface="Aptos"/>
                        </a:defRPr>
                      </a:pPr>
                      <a:r>
                        <a:rPr sz="850"/>
                        <a:t>HR</a:t>
                      </a:r>
                    </a:p>
                  </a:txBody>
                  <a:tcPr>
                    <a:solidFill>
                      <a:srgbClr val="F1F6E4"/>
                    </a:solidFill>
                  </a:tcPr>
                </a:tc>
                <a:extLst>
                  <a:ext uri="{0D108BD9-81ED-4DB2-BD59-A6C34878D82A}">
                    <a16:rowId xmlns:a16="http://schemas.microsoft.com/office/drawing/2014/main" val="10001"/>
                  </a:ext>
                </a:extLst>
              </a:tr>
              <a:tr h="310896">
                <a:tc>
                  <a:txBody>
                    <a:bodyPr/>
                    <a:lstStyle/>
                    <a:p>
                      <a:pPr algn="ctr">
                        <a:defRPr sz="850">
                          <a:solidFill>
                            <a:srgbClr val="282728"/>
                          </a:solidFill>
                          <a:latin typeface="Aptos"/>
                        </a:defRPr>
                      </a:pPr>
                      <a:r>
                        <a:rPr sz="850"/>
                        <a:t>C</a:t>
                      </a:r>
                    </a:p>
                  </a:txBody>
                  <a:tcPr>
                    <a:solidFill>
                      <a:srgbClr val="FFFFFF"/>
                    </a:solidFill>
                  </a:tcPr>
                </a:tc>
                <a:tc>
                  <a:txBody>
                    <a:bodyPr/>
                    <a:lstStyle/>
                    <a:p>
                      <a:pPr algn="ctr">
                        <a:defRPr sz="850">
                          <a:solidFill>
                            <a:srgbClr val="282728"/>
                          </a:solidFill>
                          <a:latin typeface="Aptos"/>
                        </a:defRPr>
                      </a:pPr>
                      <a:r>
                        <a:rPr lang="en-US" sz="850"/>
                        <a:t>Catchup</a:t>
                      </a:r>
                      <a:endParaRPr sz="850"/>
                    </a:p>
                  </a:txBody>
                  <a:tcPr>
                    <a:solidFill>
                      <a:srgbClr val="FFFFFF"/>
                    </a:solidFill>
                  </a:tcPr>
                </a:tc>
                <a:tc>
                  <a:txBody>
                    <a:bodyPr/>
                    <a:lstStyle/>
                    <a:p>
                      <a:pPr algn="ctr">
                        <a:defRPr sz="850">
                          <a:solidFill>
                            <a:srgbClr val="282728"/>
                          </a:solidFill>
                          <a:latin typeface="Aptos"/>
                        </a:defRPr>
                      </a:pPr>
                      <a:r>
                        <a:rPr sz="850"/>
                        <a:t>CR</a:t>
                      </a:r>
                    </a:p>
                  </a:txBody>
                  <a:tcPr>
                    <a:solidFill>
                      <a:srgbClr val="FFFFFF"/>
                    </a:solidFill>
                  </a:tcPr>
                </a:tc>
                <a:extLst>
                  <a:ext uri="{0D108BD9-81ED-4DB2-BD59-A6C34878D82A}">
                    <a16:rowId xmlns:a16="http://schemas.microsoft.com/office/drawing/2014/main" val="10002"/>
                  </a:ext>
                </a:extLst>
              </a:tr>
              <a:tr h="310896">
                <a:tc>
                  <a:txBody>
                    <a:bodyPr/>
                    <a:lstStyle/>
                    <a:p>
                      <a:pPr algn="ctr">
                        <a:defRPr sz="850">
                          <a:solidFill>
                            <a:srgbClr val="282728"/>
                          </a:solidFill>
                          <a:latin typeface="Aptos"/>
                        </a:defRPr>
                      </a:pPr>
                      <a:r>
                        <a:rPr sz="850"/>
                        <a:t>I</a:t>
                      </a:r>
                    </a:p>
                  </a:txBody>
                  <a:tcPr>
                    <a:solidFill>
                      <a:srgbClr val="F1F6E4"/>
                    </a:solidFill>
                  </a:tcPr>
                </a:tc>
                <a:tc>
                  <a:txBody>
                    <a:bodyPr/>
                    <a:lstStyle/>
                    <a:p>
                      <a:pPr algn="ctr">
                        <a:defRPr sz="850">
                          <a:solidFill>
                            <a:srgbClr val="282728"/>
                          </a:solidFill>
                          <a:latin typeface="Aptos"/>
                        </a:defRPr>
                      </a:pPr>
                      <a:r>
                        <a:rPr sz="850"/>
                        <a:t>Zone2_1st_incremental</a:t>
                      </a:r>
                    </a:p>
                  </a:txBody>
                  <a:tcPr>
                    <a:solidFill>
                      <a:srgbClr val="F1F6E4"/>
                    </a:solidFill>
                  </a:tcPr>
                </a:tc>
                <a:tc>
                  <a:txBody>
                    <a:bodyPr/>
                    <a:lstStyle/>
                    <a:p>
                      <a:pPr algn="ctr">
                        <a:defRPr sz="850">
                          <a:solidFill>
                            <a:srgbClr val="282728"/>
                          </a:solidFill>
                          <a:latin typeface="Aptos"/>
                        </a:defRPr>
                      </a:pPr>
                      <a:r>
                        <a:rPr sz="850"/>
                        <a:t>IR</a:t>
                      </a:r>
                    </a:p>
                  </a:txBody>
                  <a:tcPr>
                    <a:solidFill>
                      <a:srgbClr val="F1F6E4"/>
                    </a:solidFill>
                  </a:tcPr>
                </a:tc>
                <a:extLst>
                  <a:ext uri="{0D108BD9-81ED-4DB2-BD59-A6C34878D82A}">
                    <a16:rowId xmlns:a16="http://schemas.microsoft.com/office/drawing/2014/main" val="10003"/>
                  </a:ext>
                </a:extLst>
              </a:tr>
              <a:tr h="310896">
                <a:tc>
                  <a:txBody>
                    <a:bodyPr/>
                    <a:lstStyle/>
                    <a:p>
                      <a:pPr algn="ctr">
                        <a:defRPr sz="850">
                          <a:solidFill>
                            <a:srgbClr val="282728"/>
                          </a:solidFill>
                          <a:latin typeface="Aptos"/>
                        </a:defRPr>
                      </a:pPr>
                      <a:r>
                        <a:rPr sz="850"/>
                        <a:t>N/A</a:t>
                      </a:r>
                    </a:p>
                  </a:txBody>
                  <a:tcPr>
                    <a:solidFill>
                      <a:srgbClr val="FFFFFF"/>
                    </a:solidFill>
                  </a:tcPr>
                </a:tc>
                <a:tc>
                  <a:txBody>
                    <a:bodyPr/>
                    <a:lstStyle/>
                    <a:p>
                      <a:pPr algn="ctr">
                        <a:defRPr sz="850">
                          <a:solidFill>
                            <a:srgbClr val="282728"/>
                          </a:solidFill>
                          <a:latin typeface="Aptos"/>
                        </a:defRPr>
                      </a:pPr>
                      <a:r>
                        <a:rPr sz="850"/>
                        <a:t>—</a:t>
                      </a:r>
                    </a:p>
                  </a:txBody>
                  <a:tcPr>
                    <a:solidFill>
                      <a:srgbClr val="FFFFFF"/>
                    </a:solidFill>
                  </a:tcPr>
                </a:tc>
                <a:tc>
                  <a:txBody>
                    <a:bodyPr/>
                    <a:lstStyle/>
                    <a:p>
                      <a:pPr algn="ctr">
                        <a:defRPr sz="850">
                          <a:solidFill>
                            <a:srgbClr val="282728"/>
                          </a:solidFill>
                          <a:latin typeface="Aptos"/>
                        </a:defRPr>
                      </a:pPr>
                      <a:r>
                        <a:t>N</a:t>
                      </a:r>
                    </a:p>
                  </a:txBody>
                  <a:tcPr>
                    <a:solidFill>
                      <a:srgbClr val="FFFFFF"/>
                    </a:solidFill>
                  </a:tcPr>
                </a:tc>
                <a:extLst>
                  <a:ext uri="{0D108BD9-81ED-4DB2-BD59-A6C34878D82A}">
                    <a16:rowId xmlns:a16="http://schemas.microsoft.com/office/drawing/2014/main" val="10004"/>
                  </a:ext>
                </a:extLst>
              </a:tr>
            </a:tbl>
          </a:graphicData>
        </a:graphic>
      </p:graphicFrame>
      <p:sp>
        <p:nvSpPr>
          <p:cNvPr id="19" name="TextBox 18"/>
          <p:cNvSpPr txBox="1"/>
          <p:nvPr/>
        </p:nvSpPr>
        <p:spPr>
          <a:xfrm>
            <a:off x="6583680" y="4023360"/>
            <a:ext cx="5029200" cy="338554"/>
          </a:xfrm>
          <a:prstGeom prst="rect">
            <a:avLst/>
          </a:prstGeom>
          <a:noFill/>
        </p:spPr>
        <p:txBody>
          <a:bodyPr wrap="square" anchor="t">
            <a:spAutoFit/>
          </a:bodyPr>
          <a:lstStyle/>
          <a:p>
            <a:pPr algn="l"/>
            <a:r>
              <a:rPr sz="800" b="0" i="1">
                <a:solidFill>
                  <a:srgbClr val="53565A"/>
                </a:solidFill>
                <a:latin typeface="Aptos"/>
              </a:rPr>
              <a:t>Downstream impact: coordinated changes needed across four Informatica mappings and the pre-load workflow.</a:t>
            </a:r>
          </a:p>
        </p:txBody>
      </p:sp>
      <p:sp>
        <p:nvSpPr>
          <p:cNvPr id="20" name="Rectangle 19"/>
          <p:cNvSpPr/>
          <p:nvPr/>
        </p:nvSpPr>
        <p:spPr>
          <a:xfrm>
            <a:off x="457200" y="5806440"/>
            <a:ext cx="11274552" cy="384048"/>
          </a:xfrm>
          <a:prstGeom prst="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5216" y="5843016"/>
            <a:ext cx="11018520" cy="310896"/>
          </a:xfrm>
          <a:prstGeom prst="rect">
            <a:avLst/>
          </a:prstGeom>
          <a:noFill/>
        </p:spPr>
        <p:txBody>
          <a:bodyPr wrap="square" anchor="ctr">
            <a:spAutoFit/>
          </a:bodyPr>
          <a:lstStyle/>
          <a:p>
            <a:r>
              <a:rPr sz="950" b="1">
                <a:solidFill>
                  <a:srgbClr val="FFFFFF"/>
                </a:solidFill>
                <a:latin typeface="Aptos"/>
              </a:rPr>
              <a:t>Finalized decision: preserves load-type context through a restart while still routing correctly into the restart / cleanup path.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Option 1 Requires Changes Across Four Informatica Objects</a:t>
            </a:r>
          </a:p>
        </p:txBody>
      </p:sp>
      <p:sp>
        <p:nvSpPr>
          <p:cNvPr id="3" name="Rounded Rectangle 2"/>
          <p:cNvSpPr/>
          <p:nvPr/>
        </p:nvSpPr>
        <p:spPr>
          <a:xfrm>
            <a:off x="457200" y="1417320"/>
            <a:ext cx="11274552" cy="896112"/>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68096" y="1673352"/>
            <a:ext cx="384048" cy="384048"/>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1</a:t>
            </a:r>
          </a:p>
        </p:txBody>
      </p:sp>
      <p:sp>
        <p:nvSpPr>
          <p:cNvPr id="5" name="TextBox 4"/>
          <p:cNvSpPr txBox="1"/>
          <p:nvPr/>
        </p:nvSpPr>
        <p:spPr>
          <a:xfrm>
            <a:off x="1325880" y="1508760"/>
            <a:ext cx="10149840" cy="274320"/>
          </a:xfrm>
          <a:prstGeom prst="rect">
            <a:avLst/>
          </a:prstGeom>
          <a:noFill/>
        </p:spPr>
        <p:txBody>
          <a:bodyPr wrap="square" anchor="t">
            <a:spAutoFit/>
          </a:bodyPr>
          <a:lstStyle/>
          <a:p>
            <a:pPr algn="l"/>
            <a:r>
              <a:rPr sz="1050" b="1" i="0">
                <a:solidFill>
                  <a:srgbClr val="282728"/>
                </a:solidFill>
                <a:latin typeface="Consolas"/>
              </a:rPr>
              <a:t>m_abc_batch_run_stats_pre_load</a:t>
            </a:r>
          </a:p>
        </p:txBody>
      </p:sp>
      <p:sp>
        <p:nvSpPr>
          <p:cNvPr id="6" name="TextBox 5"/>
          <p:cNvSpPr txBox="1"/>
          <p:nvPr/>
        </p:nvSpPr>
        <p:spPr>
          <a:xfrm>
            <a:off x="1325880" y="1801368"/>
            <a:ext cx="10149840" cy="457200"/>
          </a:xfrm>
          <a:prstGeom prst="rect">
            <a:avLst/>
          </a:prstGeom>
          <a:noFill/>
        </p:spPr>
        <p:txBody>
          <a:bodyPr wrap="square" anchor="t">
            <a:spAutoFit/>
          </a:bodyPr>
          <a:lstStyle/>
          <a:p>
            <a:pPr algn="l"/>
            <a:r>
              <a:rPr sz="950" b="0" i="0">
                <a:solidFill>
                  <a:srgbClr val="53565A"/>
                </a:solidFill>
                <a:latin typeface="Aptos"/>
              </a:rPr>
              <a:t>Update o_ins_flag / o_execution_type expressions; add inout_param_batch_rerun_flag set from prev_batch_rerun_flag.</a:t>
            </a:r>
          </a:p>
        </p:txBody>
      </p:sp>
      <p:sp>
        <p:nvSpPr>
          <p:cNvPr id="7" name="Rounded Rectangle 6"/>
          <p:cNvSpPr/>
          <p:nvPr/>
        </p:nvSpPr>
        <p:spPr>
          <a:xfrm>
            <a:off x="457200" y="2404872"/>
            <a:ext cx="11274552" cy="896112"/>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68096" y="2660904"/>
            <a:ext cx="384048" cy="384048"/>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2</a:t>
            </a:r>
          </a:p>
        </p:txBody>
      </p:sp>
      <p:sp>
        <p:nvSpPr>
          <p:cNvPr id="9" name="TextBox 8"/>
          <p:cNvSpPr txBox="1"/>
          <p:nvPr/>
        </p:nvSpPr>
        <p:spPr>
          <a:xfrm>
            <a:off x="1325880" y="2496312"/>
            <a:ext cx="10149840" cy="274320"/>
          </a:xfrm>
          <a:prstGeom prst="rect">
            <a:avLst/>
          </a:prstGeom>
          <a:noFill/>
        </p:spPr>
        <p:txBody>
          <a:bodyPr wrap="square" anchor="t">
            <a:spAutoFit/>
          </a:bodyPr>
          <a:lstStyle/>
          <a:p>
            <a:pPr algn="l"/>
            <a:r>
              <a:rPr sz="1050" b="1" i="0">
                <a:solidFill>
                  <a:srgbClr val="282728"/>
                </a:solidFill>
                <a:latin typeface="Consolas"/>
              </a:rPr>
              <a:t>m_abc_job_run_stats_pre_load</a:t>
            </a:r>
          </a:p>
        </p:txBody>
      </p:sp>
      <p:sp>
        <p:nvSpPr>
          <p:cNvPr id="10" name="TextBox 9"/>
          <p:cNvSpPr txBox="1"/>
          <p:nvPr/>
        </p:nvSpPr>
        <p:spPr>
          <a:xfrm>
            <a:off x="1325880" y="2788920"/>
            <a:ext cx="10149840" cy="457200"/>
          </a:xfrm>
          <a:prstGeom prst="rect">
            <a:avLst/>
          </a:prstGeom>
          <a:noFill/>
        </p:spPr>
        <p:txBody>
          <a:bodyPr wrap="square" anchor="t">
            <a:spAutoFit/>
          </a:bodyPr>
          <a:lstStyle/>
          <a:p>
            <a:pPr algn="l"/>
            <a:r>
              <a:rPr sz="950" b="0" i="0">
                <a:solidFill>
                  <a:srgbClr val="53565A"/>
                </a:solidFill>
                <a:latin typeface="Aptos"/>
              </a:rPr>
              <a:t>Update the o_ins_flag expression in exp_column_values.</a:t>
            </a:r>
          </a:p>
        </p:txBody>
      </p:sp>
      <p:sp>
        <p:nvSpPr>
          <p:cNvPr id="11" name="Rounded Rectangle 10"/>
          <p:cNvSpPr/>
          <p:nvPr/>
        </p:nvSpPr>
        <p:spPr>
          <a:xfrm>
            <a:off x="457200" y="3392424"/>
            <a:ext cx="11274552" cy="896112"/>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68096" y="3648456"/>
            <a:ext cx="384048" cy="384048"/>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3</a:t>
            </a:r>
          </a:p>
        </p:txBody>
      </p:sp>
      <p:sp>
        <p:nvSpPr>
          <p:cNvPr id="13" name="TextBox 12"/>
          <p:cNvSpPr txBox="1"/>
          <p:nvPr/>
        </p:nvSpPr>
        <p:spPr>
          <a:xfrm>
            <a:off x="1325880" y="3483864"/>
            <a:ext cx="10149840" cy="274320"/>
          </a:xfrm>
          <a:prstGeom prst="rect">
            <a:avLst/>
          </a:prstGeom>
          <a:noFill/>
        </p:spPr>
        <p:txBody>
          <a:bodyPr wrap="square" anchor="t">
            <a:spAutoFit/>
          </a:bodyPr>
          <a:lstStyle/>
          <a:p>
            <a:pPr algn="l"/>
            <a:r>
              <a:rPr sz="1050" b="1" i="0">
                <a:solidFill>
                  <a:srgbClr val="282728"/>
                </a:solidFill>
                <a:latin typeface="Consolas"/>
              </a:rPr>
              <a:t>m_abc_etl_data_ingestion_newrun_restart_z1rerun</a:t>
            </a:r>
          </a:p>
        </p:txBody>
      </p:sp>
      <p:sp>
        <p:nvSpPr>
          <p:cNvPr id="14" name="TextBox 13"/>
          <p:cNvSpPr txBox="1"/>
          <p:nvPr/>
        </p:nvSpPr>
        <p:spPr>
          <a:xfrm>
            <a:off x="1325880" y="3776472"/>
            <a:ext cx="10149840" cy="457200"/>
          </a:xfrm>
          <a:prstGeom prst="rect">
            <a:avLst/>
          </a:prstGeom>
          <a:noFill/>
        </p:spPr>
        <p:txBody>
          <a:bodyPr wrap="square" anchor="t">
            <a:spAutoFit/>
          </a:bodyPr>
          <a:lstStyle/>
          <a:p>
            <a:pPr algn="l"/>
            <a:r>
              <a:rPr sz="950" b="0" i="0">
                <a:solidFill>
                  <a:srgbClr val="53565A"/>
                </a:solidFill>
                <a:latin typeface="Aptos"/>
              </a:rPr>
              <a:t>Add inout_param_execution_type &amp; inout_param_batch_rerun_flag; source sourcing_start_datetime from batch_sourcing_stats and update the sourcing_start_datetime_candidate expression.</a:t>
            </a:r>
          </a:p>
        </p:txBody>
      </p:sp>
      <p:sp>
        <p:nvSpPr>
          <p:cNvPr id="15" name="Rounded Rectangle 14"/>
          <p:cNvSpPr/>
          <p:nvPr/>
        </p:nvSpPr>
        <p:spPr>
          <a:xfrm>
            <a:off x="457200" y="4379976"/>
            <a:ext cx="11274552" cy="896112"/>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68096" y="4636008"/>
            <a:ext cx="384048" cy="384048"/>
          </a:xfrm>
          <a:prstGeom prst="ellipse">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4</a:t>
            </a:r>
          </a:p>
        </p:txBody>
      </p:sp>
      <p:sp>
        <p:nvSpPr>
          <p:cNvPr id="17" name="TextBox 16"/>
          <p:cNvSpPr txBox="1"/>
          <p:nvPr/>
        </p:nvSpPr>
        <p:spPr>
          <a:xfrm>
            <a:off x="1325880" y="4471416"/>
            <a:ext cx="10149840" cy="274320"/>
          </a:xfrm>
          <a:prstGeom prst="rect">
            <a:avLst/>
          </a:prstGeom>
          <a:noFill/>
        </p:spPr>
        <p:txBody>
          <a:bodyPr wrap="square" anchor="t">
            <a:spAutoFit/>
          </a:bodyPr>
          <a:lstStyle/>
          <a:p>
            <a:pPr algn="l"/>
            <a:r>
              <a:rPr sz="1050" b="1" i="0">
                <a:solidFill>
                  <a:srgbClr val="282728"/>
                </a:solidFill>
                <a:latin typeface="Consolas"/>
              </a:rPr>
              <a:t>tf_abc_job_pre_load</a:t>
            </a:r>
          </a:p>
        </p:txBody>
      </p:sp>
      <p:sp>
        <p:nvSpPr>
          <p:cNvPr id="18" name="TextBox 17"/>
          <p:cNvSpPr txBox="1"/>
          <p:nvPr/>
        </p:nvSpPr>
        <p:spPr>
          <a:xfrm>
            <a:off x="1325880" y="4764024"/>
            <a:ext cx="10149840" cy="457200"/>
          </a:xfrm>
          <a:prstGeom prst="rect">
            <a:avLst/>
          </a:prstGeom>
          <a:noFill/>
        </p:spPr>
        <p:txBody>
          <a:bodyPr wrap="square" anchor="t">
            <a:spAutoFit/>
          </a:bodyPr>
          <a:lstStyle/>
          <a:p>
            <a:pPr algn="l"/>
            <a:r>
              <a:rPr sz="950" b="0" i="0">
                <a:solidFill>
                  <a:srgbClr val="53565A"/>
                </a:solidFill>
                <a:latin typeface="Aptos"/>
              </a:rPr>
              <a:t>Add in_batch_rerun_flag input field; refresh dependent mappings; add a SKIP path (+ jump step) in dcsn_abc_execution_type.</a:t>
            </a:r>
          </a:p>
        </p:txBody>
      </p:sp>
      <p:sp>
        <p:nvSpPr>
          <p:cNvPr id="19" name="Rectangle 18"/>
          <p:cNvSpPr/>
          <p:nvPr/>
        </p:nvSpPr>
        <p:spPr>
          <a:xfrm>
            <a:off x="457200" y="5413248"/>
            <a:ext cx="11274552" cy="384048"/>
          </a:xfrm>
          <a:prstGeom prst="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5406667"/>
            <a:ext cx="10945368" cy="415498"/>
          </a:xfrm>
          <a:prstGeom prst="rect">
            <a:avLst/>
          </a:prstGeom>
          <a:noFill/>
        </p:spPr>
        <p:txBody>
          <a:bodyPr wrap="square" lIns="91440" tIns="45720" rIns="91440" bIns="45720" anchor="ctr">
            <a:spAutoFit/>
          </a:bodyPr>
          <a:lstStyle/>
          <a:p>
            <a:r>
              <a:rPr sz="1050" b="1" i="0">
                <a:solidFill>
                  <a:srgbClr val="FFFFFF"/>
                </a:solidFill>
                <a:latin typeface="Aptos"/>
              </a:rPr>
              <a:t>New approach direction</a:t>
            </a:r>
            <a:r>
              <a:rPr lang="en-US" sz="1050" b="1">
                <a:solidFill>
                  <a:srgbClr val="FFFFFF"/>
                </a:solidFill>
                <a:latin typeface="Aptos"/>
              </a:rPr>
              <a:t> for History/Catchup:</a:t>
            </a:r>
            <a:r>
              <a:rPr sz="1050" b="1" i="0">
                <a:solidFill>
                  <a:srgbClr val="FFFFFF"/>
                </a:solidFill>
                <a:latin typeface="Aptos"/>
              </a:rPr>
              <a:t> generate the ETL window from </a:t>
            </a:r>
            <a:r>
              <a:rPr sz="1050" b="1" i="0" err="1">
                <a:solidFill>
                  <a:srgbClr val="FFFFFF"/>
                </a:solidFill>
                <a:latin typeface="Aptos"/>
              </a:rPr>
              <a:t>batch_sourcing_stats</a:t>
            </a:r>
            <a:r>
              <a:rPr sz="1050" b="1" i="0">
                <a:solidFill>
                  <a:srgbClr val="FFFFFF"/>
                </a:solidFill>
                <a:latin typeface="Aptos"/>
              </a:rPr>
              <a:t> by default, drop source-table dependency checks, and use History / Catchup as the job run ID.</a:t>
            </a:r>
          </a:p>
        </p:txBody>
      </p:sp>
      <p:sp>
        <p:nvSpPr>
          <p:cNvPr id="21" name="TextBox 20"/>
          <p:cNvSpPr txBox="1"/>
          <p:nvPr/>
        </p:nvSpPr>
        <p:spPr>
          <a:xfrm>
            <a:off x="457200" y="6355080"/>
            <a:ext cx="11274552" cy="155448"/>
          </a:xfrm>
          <a:prstGeom prst="rect">
            <a:avLst/>
          </a:prstGeom>
          <a:noFill/>
        </p:spPr>
        <p:txBody>
          <a:bodyPr wrap="square" anchor="t">
            <a:spAutoFit/>
          </a:bodyPr>
          <a:lstStyle/>
          <a:p>
            <a:pPr algn="l"/>
            <a:r>
              <a:rPr sz="750" b="0" i="1">
                <a:solidFill>
                  <a:srgbClr val="53565A"/>
                </a:solidFill>
                <a:latin typeface="Aptos"/>
              </a:rPr>
              <a:t>Source: Zone 2 Open Challenges document — Code Changes / New Approach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Discussion</a:t>
            </a:r>
          </a:p>
        </p:txBody>
      </p:sp>
      <p:sp>
        <p:nvSpPr>
          <p:cNvPr id="3" name="Text Placeholder 2"/>
          <p:cNvSpPr>
            <a:spLocks noGrp="1"/>
          </p:cNvSpPr>
          <p:nvPr>
            <p:ph type="body" sz="quarter" idx="10"/>
          </p:nvPr>
        </p:nvSpPr>
        <p:spPr/>
        <p:txBody>
          <a:bodyPr/>
          <a:lstStyle/>
          <a:p>
            <a:r>
              <a:t>Thank you</a:t>
            </a:r>
          </a:p>
        </p:txBody>
      </p:sp>
      <p:sp>
        <p:nvSpPr>
          <p:cNvPr id="4" name="Picture Placeholder 3"/>
          <p:cNvSpPr>
            <a:spLocks noGrp="1"/>
          </p:cNvSpPr>
          <p:nvPr>
            <p:ph type="pic" sz="quarter" idx="11"/>
          </p:nvPr>
        </p:nvSpPr>
        <p:spPr/>
        <p:txBody>
          <a:bodyPr/>
          <a:lstStyle/>
          <a:p>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Custom 1">
      <a:dk1>
        <a:sysClr val="windowText" lastClr="000000"/>
      </a:dk1>
      <a:lt1>
        <a:sysClr val="window" lastClr="FFFFFF"/>
      </a:lt1>
      <a:dk2>
        <a:srgbClr val="222222"/>
      </a:dk2>
      <a:lt2>
        <a:srgbClr val="E6E6E6"/>
      </a:lt2>
      <a:accent1>
        <a:srgbClr val="86BC25"/>
      </a:accent1>
      <a:accent2>
        <a:srgbClr val="26890D"/>
      </a:accent2>
      <a:accent3>
        <a:srgbClr val="046A38"/>
      </a:accent3>
      <a:accent4>
        <a:srgbClr val="1C3D26"/>
      </a:accent4>
      <a:accent5>
        <a:srgbClr val="0DF200"/>
      </a:accent5>
      <a:accent6>
        <a:srgbClr val="F1F6E4"/>
      </a:accent6>
      <a:hlink>
        <a:srgbClr val="26890D"/>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5">
      <a:srgbClr val="009A44"/>
    </a:custClr>
    <a:custClr name="Green 4">
      <a:srgbClr val="43B02A"/>
    </a:custClr>
    <a:custClr name="Green 2">
      <a:srgbClr val="C4D600"/>
    </a:custClr>
    <a:custClr name="Green 1">
      <a:srgbClr val="E3E48D"/>
    </a:custClr>
    <a:custClr name="Teal 8">
      <a:srgbClr val="0D8390"/>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8">
      <a:srgbClr val="007CB0"/>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Bright Teal">
      <a:srgbClr val="3EFAC5"/>
    </a:custClr>
    <a:custClr name="Bright Blue">
      <a:srgbClr val="33F0FF"/>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917CC780-C041-4F84-B057-DE63A8CDEF25}" vid="{5A16EDA9-025E-49B0-B403-896FAE83D1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d354d54-adda-4a1e-a2c9-c23717d64d34">
      <Terms xmlns="http://schemas.microsoft.com/office/infopath/2007/PartnerControls"/>
    </lcf76f155ced4ddcb4097134ff3c332f>
    <TaxCatchAll xmlns="f1d4df2c-4daa-4dac-a6de-b38c68e5f42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2920E18170A1D4A98D318DABEA8406E" ma:contentTypeVersion="13" ma:contentTypeDescription="Create a new document." ma:contentTypeScope="" ma:versionID="67cce136bbdf858ab063bc23e3be9917">
  <xsd:schema xmlns:xsd="http://www.w3.org/2001/XMLSchema" xmlns:xs="http://www.w3.org/2001/XMLSchema" xmlns:p="http://schemas.microsoft.com/office/2006/metadata/properties" xmlns:ns2="3d354d54-adda-4a1e-a2c9-c23717d64d34" xmlns:ns3="f1d4df2c-4daa-4dac-a6de-b38c68e5f428" targetNamespace="http://schemas.microsoft.com/office/2006/metadata/properties" ma:root="true" ma:fieldsID="4585e4833fc726a1e0c52222cec8462c" ns2:_="" ns3:_="">
    <xsd:import namespace="3d354d54-adda-4a1e-a2c9-c23717d64d34"/>
    <xsd:import namespace="f1d4df2c-4daa-4dac-a6de-b38c68e5f42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354d54-adda-4a1e-a2c9-c23717d64d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1d4df2c-4daa-4dac-a6de-b38c68e5f42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cd2209e-2847-467c-b158-6796b0578e23}" ma:internalName="TaxCatchAll" ma:showField="CatchAllData" ma:web="f1d4df2c-4daa-4dac-a6de-b38c68e5f42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BF235D-5BAD-4A08-AEE0-5E29BE15689F}">
  <ds:schemaRefs>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http://www.w3.org/XML/1998/namespace"/>
    <ds:schemaRef ds:uri="http://schemas.microsoft.com/office/infopath/2007/PartnerControls"/>
    <ds:schemaRef ds:uri="http://purl.org/dc/terms/"/>
    <ds:schemaRef ds:uri="f1d4df2c-4daa-4dac-a6de-b38c68e5f428"/>
    <ds:schemaRef ds:uri="3d354d54-adda-4a1e-a2c9-c23717d64d34"/>
    <ds:schemaRef ds:uri="http://purl.org/dc/dcmitype/"/>
  </ds:schemaRefs>
</ds:datastoreItem>
</file>

<file path=customXml/itemProps2.xml><?xml version="1.0" encoding="utf-8"?>
<ds:datastoreItem xmlns:ds="http://schemas.openxmlformats.org/officeDocument/2006/customXml" ds:itemID="{66E6CC2D-2343-40C9-BF57-ACB940668AFF}">
  <ds:schemaRefs>
    <ds:schemaRef ds:uri="http://schemas.microsoft.com/sharepoint/v3/contenttype/forms"/>
  </ds:schemaRefs>
</ds:datastoreItem>
</file>

<file path=customXml/itemProps3.xml><?xml version="1.0" encoding="utf-8"?>
<ds:datastoreItem xmlns:ds="http://schemas.openxmlformats.org/officeDocument/2006/customXml" ds:itemID="{E13DD14F-F51C-41AB-8705-9201BE4BA060}">
  <ds:schemaRefs>
    <ds:schemaRef ds:uri="3d354d54-adda-4a1e-a2c9-c23717d64d34"/>
    <ds:schemaRef ds:uri="f1d4df2c-4daa-4dac-a6de-b38c68e5f42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Deloitte_Brand_Theme_102224</Template>
  <TotalTime>0</TotalTime>
  <Words>2123</Words>
  <Application>Microsoft Office PowerPoint</Application>
  <PresentationFormat>Widescreen</PresentationFormat>
  <Paragraphs>290</Paragraphs>
  <Slides>15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Aptos</vt:lpstr>
      <vt:lpstr>Arial</vt:lpstr>
      <vt:lpstr>Consolas</vt:lpstr>
      <vt:lpstr>Open Sans</vt:lpstr>
      <vt:lpstr>Verdana</vt:lpstr>
      <vt:lpstr>Deloitte_Brand_Theme</vt:lpstr>
      <vt:lpstr>think-cell Slide</vt:lpstr>
      <vt:lpstr>Zone 2 One-Time Loads</vt:lpstr>
      <vt:lpstr>Agenda</vt:lpstr>
      <vt:lpstr>Part 1 Design Approach for One-Time Loads</vt:lpstr>
      <vt:lpstr>In a Standard Automated Run, Four Steps Execute in Sequence</vt:lpstr>
      <vt:lpstr>Historical Load Backfills a Defined Historical Period Outside the Normal Cadence</vt:lpstr>
      <vt:lpstr>Catchup Load Closes a Gap Window Missed by a Delayed or Failed History Run</vt:lpstr>
      <vt:lpstr>First-Time Incremental Transitions a Source Into the Regular Incremental Cadence</vt:lpstr>
      <vt:lpstr>The Three Load Types Share a Pattern but Diverge on Windowing and IDs</vt:lpstr>
      <vt:lpstr>Two Assumptions Govern Mapping and ID Reuse Across Load Types</vt:lpstr>
      <vt:lpstr>Part 2 Open Challenge: Restart Mechanism for One-Time Loads</vt:lpstr>
      <vt:lpstr>Current Design, and the Core Conflict It Creates</vt:lpstr>
      <vt:lpstr>Option 1 Is Finalized: Dedicated HR / CR / IR Restart Flags</vt:lpstr>
      <vt:lpstr>Today's Restart Logic, and the Finalized Option 1 Fix</vt:lpstr>
      <vt:lpstr>Option 1 Requires Changes Across Four Informatica Objects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16x9 Onscreen PPT</dc:title>
  <dc:creator/>
  <cp:lastModifiedBy/>
  <cp:revision>1</cp:revision>
  <dcterms:created xsi:type="dcterms:W3CDTF">2020-04-09T19:50:51Z</dcterms:created>
  <dcterms:modified xsi:type="dcterms:W3CDTF">2026-10-14T10:18:02Z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2021-04-05T20:58:38Z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9ab57f92-f9f5-4e1c-bb56-f04159416863</vt:lpwstr>
  </property>
  <property fmtid="{D5CDD505-2E9C-101B-9397-08002B2CF9AE}" pid="8" name="MSIP_Label_ea60d57e-af5b-4752-ac57-3e4f28ca11dc_ContentBits">
    <vt:lpwstr>0</vt:lpwstr>
  </property>
  <property fmtid="{D5CDD505-2E9C-101B-9397-08002B2CF9AE}" pid="9" name="ContentTypeId">
    <vt:lpwstr>0x01010002920E18170A1D4A98D318DABEA8406E</vt:lpwstr>
  </property>
  <property fmtid="{D5CDD505-2E9C-101B-9397-08002B2CF9AE}" pid="10" name="MediaServiceImageTags">
    <vt:lpwstr/>
  </property>
</Properties>
</file>